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1" r:id="rId18"/>
    <p:sldId id="278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94A14-DEA4-43D1-6AE0-680207CD8132}" v="2309" dt="2026-05-18T14:59:02.734"/>
    <p1510:client id="{604FCC6F-3D47-A295-75EC-19558837CE6F}" v="195" dt="2026-05-18T15:24:24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0F2340"/>
                </a:solidFill>
                <a:latin typeface="Malgun Gothic"/>
              </a:rPr>
              <a:t>공공조달 수요 기반</a:t>
            </a:r>
            <a:br/>
            <a:r>
              <a:rPr sz="3800" b="1">
                <a:solidFill>
                  <a:srgbClr val="0F2340"/>
                </a:solidFill>
                <a:latin typeface="Malgun Gothic"/>
              </a:rPr>
              <a:t>창업 입지·물류 거점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나라장터 입찰공고 100,083건으로 지역별 공공수요를 해석하는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1645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조달청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657600"/>
            <a:ext cx="1645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입지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657600"/>
            <a:ext cx="164592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AI 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657600"/>
            <a:ext cx="164592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050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거점 </a:t>
            </a:r>
            <a:r>
              <a:rPr lang="ko-KR" alt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분석</a:t>
            </a:r>
            <a:endParaRPr lang="ko-KR" altLang="en-US" sz="1050" b="1">
              <a:solidFill>
                <a:srgbClr val="FFFFFF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창업자는 공공기관 수요를 보지 못한다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급식·식자재 납품 창업 페르소나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조달청 데이터와 결합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공공수요·경쟁·소비층·생존율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데모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55724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64748B"/>
                </a:solidFill>
                <a:latin typeface="Malgun Gothic"/>
              </a:rPr>
              <a:t>부산 → 해운대구 → 동래구 비교</a:t>
            </a:r>
            <a:r>
              <a:rPr lang="ko-KR" sz="1600" dirty="0">
                <a:solidFill>
                  <a:srgbClr val="64748B"/>
                </a:solidFill>
                <a:latin typeface="Malgun Gothic"/>
                <a:ea typeface="Malgun Gothic"/>
              </a:rPr>
              <a:t> 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</a:rPr>
              <a:t>→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물류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거점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비교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맑은 고딕"/>
              </a:rPr>
              <a:t> 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→ AI 해석</a:t>
            </a:r>
            <a:endParaRPr lang="ko-KR" sz="1600" b="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비즈니스 모델과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POC → 상담 보조 도구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2AA8B7C-D943-A39E-61EA-83F9044AAE65}"/>
              </a:ext>
            </a:extLst>
          </p:cNvPr>
          <p:cNvSpPr/>
          <p:nvPr/>
        </p:nvSpPr>
        <p:spPr>
          <a:xfrm>
            <a:off x="640080" y="2539139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12655C4-29ED-5CBA-860B-E62D038DEF5D}"/>
              </a:ext>
            </a:extLst>
          </p:cNvPr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1939D29-A045-21CA-00B7-2DCD91A42D78}"/>
              </a:ext>
            </a:extLst>
          </p:cNvPr>
          <p:cNvSpPr/>
          <p:nvPr/>
        </p:nvSpPr>
        <p:spPr>
          <a:xfrm>
            <a:off x="4480560" y="2539139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660C44B-2DC3-FF71-C991-FEFFAB39EF07}"/>
              </a:ext>
            </a:extLst>
          </p:cNvPr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A534E09E-103F-27EC-445F-B91ABE6ED8A9}"/>
              </a:ext>
            </a:extLst>
          </p:cNvPr>
          <p:cNvSpPr/>
          <p:nvPr/>
        </p:nvSpPr>
        <p:spPr>
          <a:xfrm>
            <a:off x="8138160" y="2539139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8295FE01-A563-315F-D4D7-8262E6FFE2E8}"/>
              </a:ext>
            </a:extLst>
          </p:cNvPr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창업자는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>
                <a:solidFill>
                  <a:srgbClr val="0F2340"/>
                </a:solidFill>
                <a:latin typeface="Malgun Gothic"/>
              </a:rPr>
              <a:t>상권을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br>
              <a:rPr dirty="0"/>
            </a:b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필요로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하는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것은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보지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못합니다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현장에서 본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예측이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틀리면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재고·이동·운영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비용이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손실로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이어집니다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기존 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예비창업자는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유동인구와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sz="1600">
                <a:solidFill>
                  <a:srgbClr val="0F172A"/>
                </a:solidFill>
                <a:latin typeface="Malgun Gothic"/>
              </a:rPr>
              <a:t>정보를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보지만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데이터는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활용하지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못합니다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프로젝트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입찰공고를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신호로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보면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입지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사전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검토에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활용할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않을까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lang="ko-KR" altLang="en-US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시장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진입을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앞둔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사람에게</a:t>
            </a:r>
            <a:r>
              <a:rPr lang="ko-KR" sz="2500" b="1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지역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선택의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근거를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제공합니다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539139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41247" y="2703731"/>
            <a:ext cx="33375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0F2340"/>
                </a:solidFill>
                <a:latin typeface="Malgun Gothic"/>
              </a:rPr>
              <a:t>①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예비창업자</a:t>
            </a:r>
            <a:endParaRPr lang="ko-KR" altLang="en-US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3163979"/>
            <a:ext cx="3337560" cy="19791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급식·식자재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납품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창업을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고민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중이지만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지역부터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진입해야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할지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감에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의존하고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있음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공공수요·경쟁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비교로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후보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압축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2539139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81728" y="2703731"/>
            <a:ext cx="31546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② B2G 납품업체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163979"/>
            <a:ext cx="3154679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신규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영업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확장해야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하지만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내부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데이터가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건수·경쟁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구조로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우선순위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설정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2539139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39328" y="2703731"/>
            <a:ext cx="31089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③ 창업 상담기관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63979"/>
            <a:ext cx="3108960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시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설명할</a:t>
            </a:r>
            <a:endParaRPr lang="ko-KR" altLang="en-US">
              <a:cs typeface="Calibri"/>
            </a:endParaRPr>
          </a:p>
          <a:p>
            <a:r>
              <a:rPr sz="1600" b="0">
                <a:solidFill>
                  <a:srgbClr val="0F172A"/>
                </a:solidFill>
                <a:latin typeface="Malgun Gothic"/>
              </a:rPr>
              <a:t>근거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자료가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자료로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93A8975D-CA70-9253-C06B-5A8026E1B399}"/>
              </a:ext>
            </a:extLst>
          </p:cNvPr>
          <p:cNvSpPr/>
          <p:nvPr/>
        </p:nvSpPr>
        <p:spPr>
          <a:xfrm>
            <a:off x="8750730" y="2329035"/>
            <a:ext cx="253578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err="1">
                <a:solidFill>
                  <a:srgbClr val="0F2340"/>
                </a:solidFill>
                <a:latin typeface="Malgun Gothic"/>
              </a:rPr>
              <a:t>나라장터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입찰공고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100,083건을 </a:t>
            </a:r>
            <a:r>
              <a:rPr lang="ko-KR" altLang="en-US" sz="2500" b="1">
                <a:solidFill>
                  <a:srgbClr val="0F2340"/>
                </a:solidFill>
                <a:latin typeface="Malgun Gothic"/>
                <a:ea typeface="Malgun Gothic"/>
              </a:rPr>
              <a:t>분석하여,</a:t>
            </a:r>
            <a:br>
              <a:rPr sz="2500" dirty="0"/>
            </a:br>
            <a:r>
              <a:rPr sz="2500" b="1">
                <a:solidFill>
                  <a:srgbClr val="0F2340"/>
                </a:solidFill>
                <a:latin typeface="Malgun Gothic"/>
              </a:rPr>
              <a:t>창업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판단을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돕는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서비스입니다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100,083건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입찰공고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최근 2년 수집·분석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7653" y="234188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17개 시도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전국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광역 단위 전체</a:t>
            </a:r>
            <a:endParaRPr lang="ko-KR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92386" y="2349356"/>
            <a:ext cx="2118839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4628" y="2651760"/>
            <a:ext cx="254508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5종 AI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보조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수치를 자연어로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88FE9-DF63-D48B-E4C0-26A247E2A0B1}"/>
              </a:ext>
            </a:extLst>
          </p:cNvPr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2800" b="1">
                <a:solidFill>
                  <a:srgbClr val="1D4ED8"/>
                </a:solidFill>
                <a:latin typeface="Malgun Gothic"/>
              </a:rPr>
              <a:t>220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개</a:t>
            </a:r>
            <a:r>
              <a:rPr lang="en-US" sz="2800" b="1">
                <a:solidFill>
                  <a:srgbClr val="1D4ED8"/>
                </a:solidFill>
                <a:latin typeface="Malgun Gothic"/>
              </a:rPr>
              <a:t> 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지역</a:t>
            </a:r>
            <a:endParaRPr lang="ko-KR" altLang="en-US" sz="2800" b="1">
              <a:solidFill>
                <a:srgbClr val="1D4ED8"/>
              </a:solidFill>
              <a:latin typeface="Malgun Gothic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653F72-7C8D-7CF6-2268-DEF52AA664B6}"/>
              </a:ext>
            </a:extLst>
          </p:cNvPr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시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군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0C20CE-7FE7-3201-C4B3-4DE6B14EFC70}"/>
              </a:ext>
            </a:extLst>
          </p:cNvPr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세부 지역 분석</a:t>
            </a:r>
            <a:endParaRPr lang="ko-KR" altLang="en-US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왜 조달청 데이터인가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입찰공고는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예산을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편성해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endParaRPr lang="ko-KR" altLang="en-US" sz="2500" b="1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구매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의사를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공표한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신호입니다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32007" y="2333445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9960" y="2362200"/>
            <a:ext cx="83312" cy="343408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상권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err="1">
                <a:solidFill>
                  <a:srgbClr val="0F2340"/>
                </a:solidFill>
                <a:latin typeface="Malgun Gothic"/>
              </a:rPr>
              <a:t>데이터</a:t>
            </a:r>
            <a:endParaRPr lang="ko-KR" altLang="en-US" b="1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1288" y="2987040"/>
            <a:ext cx="443484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소비자가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것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같다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추정에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가깝습니다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흐름을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데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강점이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7800" y="2341880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36360" y="2362200"/>
            <a:ext cx="83312" cy="3434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입찰공고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87040"/>
            <a:ext cx="4434840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공공기관이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것이다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”라고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/>
          </a:p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공표한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신호입니다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차이를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볼 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434AE-0D44-6429-AA8F-09A02A355E5D}"/>
              </a:ext>
            </a:extLst>
          </p:cNvPr>
          <p:cNvSpPr txBox="1"/>
          <p:nvPr/>
        </p:nvSpPr>
        <p:spPr>
          <a:xfrm>
            <a:off x="1029207" y="522935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BEFORE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6B91C-7C09-6196-D218-00FF27CEC436}"/>
              </a:ext>
            </a:extLst>
          </p:cNvPr>
          <p:cNvSpPr txBox="1"/>
          <p:nvPr/>
        </p:nvSpPr>
        <p:spPr>
          <a:xfrm>
            <a:off x="6535926" y="519887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AFTER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6B4905-16DF-109C-2A8C-3DDCB58C21DA}"/>
              </a:ext>
            </a:extLst>
          </p:cNvPr>
          <p:cNvSpPr/>
          <p:nvPr/>
        </p:nvSpPr>
        <p:spPr>
          <a:xfrm>
            <a:off x="1910080" y="4739640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데이터 결합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공공수요 하나만으로는 입지를 판단하기 어렵습니다.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조달청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어떤 품목이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얼마나 발주되는가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9659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행안부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지역 인구 규모와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소비층 구성</a:t>
            </a:r>
            <a:endParaRPr lang="ko-KR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409944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9944" y="1965960"/>
            <a:ext cx="73152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소상공인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점포 수와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경쟁 포화도</a:t>
            </a:r>
            <a:endParaRPr lang="ko-KR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317736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965960"/>
            <a:ext cx="73152" cy="19202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KOSIS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생존율과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진입 리스크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70DF8D-2EB7-6AFA-3447-6907EB85BB25}"/>
              </a:ext>
            </a:extLst>
          </p:cNvPr>
          <p:cNvSpPr txBox="1"/>
          <p:nvPr/>
        </p:nvSpPr>
        <p:spPr>
          <a:xfrm>
            <a:off x="0" y="5004990"/>
            <a:ext cx="1219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   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4개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결합해야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기회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위험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구분할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수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있습니다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5B82A0A7-7BE2-63DE-A685-EAE216333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0560" y="4861560"/>
            <a:ext cx="68072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핵심 분석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사용자는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지역을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고르고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5가지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질문에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공공수요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이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실제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7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소비층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맞는가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1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경쟁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이미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경쟁이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과열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되어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않은가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6200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지역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다른가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5239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af-ZA" b="1">
                <a:solidFill>
                  <a:srgbClr val="0F2340"/>
                </a:solidFill>
                <a:latin typeface="Malgun Gothic"/>
                <a:ea typeface="맑은 고딕"/>
              </a:rPr>
              <a:t>물류 거점</a:t>
            </a:r>
            <a:endParaRPr lang="ko-KR" altLang="af-ZA" b="1">
              <a:solidFill>
                <a:srgbClr val="0F234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이 지역이 </a:t>
            </a:r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solidFill>
                  <a:srgbClr val="0F172A"/>
                </a:solidFill>
                <a:latin typeface="Malgun Gothic"/>
                <a:ea typeface="Malgun Gothic"/>
              </a:rPr>
              <a:t>거점 후보</a:t>
            </a: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가 될 수 있는가?</a:t>
            </a:r>
            <a:endParaRPr lang="ko-KR" sz="1600" b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24956D8E-61FF-BBD7-BCB9-FA1C76DC53F4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1 — 전국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5C7D3-CFD6-D2B2-06B4-D42BBC4AB695}"/>
              </a:ext>
            </a:extLst>
          </p:cNvPr>
          <p:cNvSpPr txBox="1"/>
          <p:nvPr/>
        </p:nvSpPr>
        <p:spPr>
          <a:xfrm>
            <a:off x="0" y="6047815"/>
            <a:ext cx="1219200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전국 </a:t>
            </a:r>
            <a:r>
              <a:rPr lang="en-US" altLang="ko-KR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17</a:t>
            </a:r>
            <a:r>
              <a:rPr lang="ko-KR" altLang="en-US" sz="1400" i="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개 </a:t>
            </a:r>
            <a:r>
              <a:rPr lang="ko-KR" altLang="en-US" sz="14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시도 </a:t>
            </a:r>
            <a:r>
              <a:rPr lang="ko-KR" altLang="en-US" sz="1400" b="1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보정점수</a:t>
            </a:r>
            <a:r>
              <a:rPr lang="ko-KR" altLang="en-US" sz="14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분포 </a:t>
            </a:r>
            <a:endParaRPr lang="ko-KR" altLang="en-US" sz="14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ko-KR" altLang="en-US" sz="14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부산에서 입지를 찾는 상황으로 따라가겠습니다</a:t>
            </a:r>
            <a:r>
              <a:rPr lang="en-US" altLang="ko-KR" sz="1400" i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.</a:t>
            </a:r>
            <a:endParaRPr lang="ko-KR" altLang="en-US" sz="14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그림 15" descr="텍스트, 지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1EFD47-0B42-C708-F3CB-A31ADA30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" t="-300" r="45" b="2083"/>
          <a:stretch>
            <a:fillRect/>
          </a:stretch>
        </p:blipFill>
        <p:spPr>
          <a:xfrm>
            <a:off x="502920" y="974344"/>
            <a:ext cx="11257288" cy="4914958"/>
          </a:xfrm>
          <a:prstGeom prst="rect">
            <a:avLst/>
          </a:prstGeom>
        </p:spPr>
      </p:pic>
      <p:pic>
        <p:nvPicPr>
          <p:cNvPr id="17" name="그림 1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56E988-5850-743B-3AD5-4E3B2C1F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3515360"/>
            <a:ext cx="1840230" cy="293624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ECE2F3-D98E-16D8-60D4-01A8D8C4BDA1}"/>
              </a:ext>
            </a:extLst>
          </p:cNvPr>
          <p:cNvSpPr/>
          <p:nvPr/>
        </p:nvSpPr>
        <p:spPr>
          <a:xfrm>
            <a:off x="822960" y="4180840"/>
            <a:ext cx="1838960" cy="42672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2 — 부산 진입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① 부산 선택 후 자치구 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② 해운대구 선택 후 상세 지표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BF852E1-DB45-FF72-4034-50BE902901D1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050280"/>
            <a:ext cx="10972800" cy="5940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dirty="0" err="1">
                <a:solidFill>
                  <a:schemeClr val="tx2"/>
                </a:solidFill>
                <a:latin typeface="Malgun Gothic"/>
              </a:rPr>
              <a:t>부산을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chemeClr val="tx2"/>
                </a:solidFill>
                <a:latin typeface="Malgun Gothic"/>
              </a:rPr>
              <a:t>자치구별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chemeClr val="tx2"/>
                </a:solidFill>
                <a:latin typeface="Malgun Gothic"/>
              </a:rPr>
              <a:t>수요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가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Malgun Gothic"/>
              </a:rPr>
              <a:t>나뉘고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, </a:t>
            </a:r>
            <a:endParaRPr lang="ko-KR" altLang="en-US" sz="1400">
              <a:solidFill>
                <a:schemeClr val="tx2"/>
              </a:solidFill>
              <a:latin typeface="Malgun Gothic"/>
              <a:ea typeface="맑은 고딕"/>
            </a:endParaRPr>
          </a:p>
          <a:p>
            <a:pPr algn="ctr"/>
            <a:r>
              <a:rPr sz="1400" b="1">
                <a:solidFill>
                  <a:schemeClr val="tx2"/>
                </a:solidFill>
                <a:latin typeface="Malgun Gothic"/>
              </a:rPr>
              <a:t>특정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구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를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상세</a:t>
            </a:r>
            <a:r>
              <a:rPr sz="14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b="1" err="1">
                <a:solidFill>
                  <a:schemeClr val="tx2"/>
                </a:solidFill>
                <a:latin typeface="Malgun Gothic"/>
              </a:rPr>
              <a:t>지표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로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400" err="1">
                <a:solidFill>
                  <a:schemeClr val="tx2"/>
                </a:solidFill>
                <a:latin typeface="Malgun Gothic"/>
              </a:rPr>
              <a:t>이어집니다</a:t>
            </a:r>
            <a:r>
              <a:rPr sz="1400" dirty="0">
                <a:solidFill>
                  <a:schemeClr val="tx2"/>
                </a:solidFill>
                <a:latin typeface="Malgun Gothic"/>
              </a:rPr>
              <a:t>.</a:t>
            </a:r>
            <a:endParaRPr lang="ko-KR" altLang="en-US" sz="1400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  <p:pic>
        <p:nvPicPr>
          <p:cNvPr id="15" name="그림 1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1D65B-907F-7E54-4DC6-D609D3EC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" r="1449" b="21407"/>
          <a:stretch>
            <a:fillRect/>
          </a:stretch>
        </p:blipFill>
        <p:spPr>
          <a:xfrm>
            <a:off x="487680" y="1298825"/>
            <a:ext cx="5733876" cy="3142483"/>
          </a:xfrm>
          <a:prstGeom prst="rect">
            <a:avLst/>
          </a:prstGeom>
        </p:spPr>
      </p:pic>
      <p:pic>
        <p:nvPicPr>
          <p:cNvPr id="16" name="그림 1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C112CD-59BD-AEF3-14B8-DB1698E9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" t="86" r="46" b="21613"/>
          <a:stretch>
            <a:fillRect/>
          </a:stretch>
        </p:blipFill>
        <p:spPr>
          <a:xfrm>
            <a:off x="6614160" y="1302512"/>
            <a:ext cx="4993652" cy="3032433"/>
          </a:xfrm>
          <a:prstGeom prst="rect">
            <a:avLst/>
          </a:prstGeom>
        </p:spPr>
      </p:pic>
      <p:pic>
        <p:nvPicPr>
          <p:cNvPr id="18" name="그림 1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5145B-9680-EE86-A9B5-7566DBD4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93" r="-247" b="-1042"/>
          <a:stretch>
            <a:fillRect/>
          </a:stretch>
        </p:blipFill>
        <p:spPr>
          <a:xfrm>
            <a:off x="499110" y="4440555"/>
            <a:ext cx="5599454" cy="1211021"/>
          </a:xfrm>
          <a:prstGeom prst="rect">
            <a:avLst/>
          </a:prstGeom>
        </p:spPr>
      </p:pic>
      <p:pic>
        <p:nvPicPr>
          <p:cNvPr id="19" name="그림 18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5D62D-5E25-457E-072D-C5B95B91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502" y="4344035"/>
            <a:ext cx="5258435" cy="121793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24A42D-30A4-01F8-CF1D-F135649E7C79}"/>
              </a:ext>
            </a:extLst>
          </p:cNvPr>
          <p:cNvSpPr/>
          <p:nvPr/>
        </p:nvSpPr>
        <p:spPr>
          <a:xfrm>
            <a:off x="6124956" y="314604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FAE3A322-FF7D-E7C4-0E46-A5AD13551EEF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3 — 해운대구 품목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9_지역분석_해운대구_급식식자재.png"/>
          <p:cNvPicPr>
            <a:picLocks noChangeAspect="1"/>
          </p:cNvPicPr>
          <p:nvPr/>
        </p:nvPicPr>
        <p:blipFill>
          <a:blip r:embed="rId2"/>
          <a:srcRect l="89" r="357" b="9725"/>
          <a:stretch>
            <a:fillRect/>
          </a:stretch>
        </p:blipFill>
        <p:spPr>
          <a:xfrm>
            <a:off x="502920" y="1129991"/>
            <a:ext cx="11262387" cy="461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95040" y="6223000"/>
            <a:ext cx="51917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해운대구 </a:t>
            </a:r>
            <a:r>
              <a:rPr 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급식</a:t>
            </a:r>
            <a:r>
              <a:rPr lang="en-US" alt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식자재</a:t>
            </a:r>
            <a:r>
              <a:rPr lang="ko-KR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— 공고 </a:t>
            </a:r>
            <a:r>
              <a:rPr lang="en-US" alt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62</a:t>
            </a:r>
            <a:r>
              <a:rPr 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건</a:t>
            </a:r>
            <a:r>
              <a:rPr lang="ko-KR" alt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alt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14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총 발주금액 </a:t>
            </a:r>
            <a:r>
              <a:rPr 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약 </a:t>
            </a:r>
            <a:r>
              <a:rPr lang="en-US" alt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21</a:t>
            </a:r>
            <a:r>
              <a:rPr lang="ko-KR" sz="14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억 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4 — 자치구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1_자치구비교_해운대vs동래_AI해석.png"/>
          <p:cNvPicPr>
            <a:picLocks noChangeAspect="1"/>
          </p:cNvPicPr>
          <p:nvPr/>
        </p:nvPicPr>
        <p:blipFill>
          <a:blip r:embed="rId2"/>
          <a:srcRect l="-24" r="590" b="204"/>
          <a:stretch>
            <a:fillRect/>
          </a:stretch>
        </p:blipFill>
        <p:spPr>
          <a:xfrm>
            <a:off x="502920" y="1153160"/>
            <a:ext cx="11267335" cy="4739654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CCE2605-F770-6B73-DB96-8350BFA59B35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BE175-6FEC-1BD3-BA51-ED02A6368E1F}"/>
              </a:ext>
            </a:extLst>
          </p:cNvPr>
          <p:cNvSpPr txBox="1"/>
          <p:nvPr/>
        </p:nvSpPr>
        <p:spPr>
          <a:xfrm>
            <a:off x="3495040" y="6223000"/>
            <a:ext cx="51917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altLang="ko-KR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같은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부산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, </a:t>
            </a:r>
            <a:r>
              <a:rPr lang="en-US" altLang="ko-KR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가까운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두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지역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ㅡ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수요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구조는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완전히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다릅니다</a:t>
            </a:r>
            <a:r>
              <a:rPr lang="en-US" altLang="ko-KR" sz="14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altLang="ko-KR" sz="1400" b="1" dirty="0">
              <a:solidFill>
                <a:schemeClr val="tx2"/>
              </a:solidFill>
              <a:latin typeface="Malgun Gothic"/>
              <a:ea typeface="Malgun Gothic"/>
              <a:cs typeface="Calibri"/>
            </a:endParaRPr>
          </a:p>
          <a:p>
            <a:pPr algn="ctr"/>
            <a:endParaRPr lang="en-US" altLang="ko-KR" sz="1400" b="1" dirty="0">
              <a:solidFill>
                <a:schemeClr val="tx2"/>
              </a:solidFill>
              <a:latin typeface="Malgun Gothic"/>
              <a:ea typeface="Malgun Gothic"/>
              <a:cs typeface="+mn-lt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96D1D8-0725-751A-9605-09C56F5581AF}"/>
              </a:ext>
            </a:extLst>
          </p:cNvPr>
          <p:cNvSpPr/>
          <p:nvPr/>
        </p:nvSpPr>
        <p:spPr>
          <a:xfrm>
            <a:off x="833120" y="4790440"/>
            <a:ext cx="1584960" cy="3657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 b="1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5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 — </a:t>
            </a:r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</a:rPr>
              <a:t>물류 거점 </a:t>
            </a:r>
            <a:r>
              <a:rPr lang="ko-KR" altLang="en-US" sz="2400" b="1">
                <a:solidFill>
                  <a:srgbClr val="0F2340"/>
                </a:solidFill>
                <a:latin typeface="Malgun Gothic"/>
                <a:ea typeface="Malgun Gothic"/>
              </a:rPr>
              <a:t>분석</a:t>
            </a:r>
            <a:endParaRPr lang="ko-KR" sz="24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6222752"/>
            <a:ext cx="51917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수요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분포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기반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1·2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·3</a:t>
            </a:r>
            <a:r>
              <a:rPr lang="ko-KR" alt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티어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거점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후보를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자동으로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제안합니다</a:t>
            </a:r>
            <a:r>
              <a:rPr lang="en-US" altLang="ko-KR" sz="1400" dirty="0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Malgun Gothic"/>
              <a:ea typeface="Malgun Gothic"/>
              <a:cs typeface="Calibri"/>
            </a:endParaRPr>
          </a:p>
        </p:txBody>
      </p:sp>
      <p:pic>
        <p:nvPicPr>
          <p:cNvPr id="3" name="그림 2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1DA31-585A-65D5-113F-E0E62458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r="382" b="25100"/>
          <a:stretch>
            <a:fillRect/>
          </a:stretch>
        </p:blipFill>
        <p:spPr>
          <a:xfrm>
            <a:off x="1431073" y="1216887"/>
            <a:ext cx="9351034" cy="282799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1119A5-9006-2B59-0703-8DACA4A2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15" y="4041899"/>
            <a:ext cx="10705172" cy="193371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25945D-0A23-7882-2FEE-5C099BEC6351}"/>
              </a:ext>
            </a:extLst>
          </p:cNvPr>
          <p:cNvSpPr/>
          <p:nvPr/>
        </p:nvSpPr>
        <p:spPr>
          <a:xfrm>
            <a:off x="740193" y="4037733"/>
            <a:ext cx="2765130" cy="89544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9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dirty="0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6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— AI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해석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결과</a:t>
            </a:r>
            <a:endParaRPr lang="ko-KR" altLang="en-US" sz="2400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0c_AI경쟁구조해석_진입검토.png"/>
          <p:cNvPicPr>
            <a:picLocks noChangeAspect="1"/>
          </p:cNvPicPr>
          <p:nvPr/>
        </p:nvPicPr>
        <p:blipFill>
          <a:blip r:embed="rId2"/>
          <a:srcRect l="90" t="1168" r="541"/>
          <a:stretch>
            <a:fillRect/>
          </a:stretch>
        </p:blipFill>
        <p:spPr>
          <a:xfrm>
            <a:off x="502920" y="1252750"/>
            <a:ext cx="11201444" cy="4367752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6111240"/>
            <a:ext cx="51917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AI </a:t>
            </a:r>
            <a:r>
              <a:rPr lang="en-US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해석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은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최종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판단이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아니라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수치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지표를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읽기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쉬운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문장으로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endParaRPr lang="ko-KR" altLang="en-US" sz="1400" dirty="0">
              <a:solidFill>
                <a:schemeClr val="tx2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pPr algn="ctr"/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바꾸는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보조</a:t>
            </a:r>
            <a:r>
              <a:rPr lang="en-US" sz="14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sz="1400" b="1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기능</a:t>
            </a:r>
            <a:r>
              <a:rPr lang="en-US" sz="1400" dirty="0" err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입니다</a:t>
            </a:r>
            <a:r>
              <a:rPr lang="en-US" sz="14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.</a:t>
            </a:r>
            <a:endParaRPr lang="ko-KR" sz="1400" dirty="0">
              <a:solidFill>
                <a:schemeClr val="tx2"/>
              </a:solidFill>
              <a:ea typeface="맑은 고딕"/>
              <a:cs typeface="Calibri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C91CF0-18CE-02F1-DB67-4EAB556D9CF7}"/>
              </a:ext>
            </a:extLst>
          </p:cNvPr>
          <p:cNvSpPr/>
          <p:nvPr/>
        </p:nvSpPr>
        <p:spPr>
          <a:xfrm>
            <a:off x="902753" y="4759093"/>
            <a:ext cx="10588330" cy="85480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0B1DA32-5BBC-64B1-DCE2-EA2927ACD040}"/>
              </a:ext>
            </a:extLst>
          </p:cNvPr>
          <p:cNvSpPr/>
          <p:nvPr/>
        </p:nvSpPr>
        <p:spPr>
          <a:xfrm>
            <a:off x="902752" y="1609493"/>
            <a:ext cx="6910410" cy="101736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937123AA-AA7C-82C2-0625-2B9485C490A3}"/>
              </a:ext>
            </a:extLst>
          </p:cNvPr>
          <p:cNvSpPr/>
          <p:nvPr/>
        </p:nvSpPr>
        <p:spPr>
          <a:xfrm>
            <a:off x="777367" y="5274310"/>
            <a:ext cx="457771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41D2EFC5-8473-96DF-6AC2-6F7449BB400A}"/>
              </a:ext>
            </a:extLst>
          </p:cNvPr>
          <p:cNvSpPr/>
          <p:nvPr/>
        </p:nvSpPr>
        <p:spPr>
          <a:xfrm>
            <a:off x="6844791" y="5274309"/>
            <a:ext cx="463486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AI 해석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정량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AI 해석 문장</a:t>
            </a:r>
          </a:p>
        </p:txBody>
      </p:sp>
      <p:pic>
        <p:nvPicPr>
          <p:cNvPr id="9" name="Picture 8" descr="S09_지역분석_해운대구_급식식자재.png"/>
          <p:cNvPicPr>
            <a:picLocks noChangeAspect="1"/>
          </p:cNvPicPr>
          <p:nvPr/>
        </p:nvPicPr>
        <p:blipFill>
          <a:blip r:embed="rId2"/>
          <a:srcRect l="183" b="10044"/>
          <a:stretch>
            <a:fillRect/>
          </a:stretch>
        </p:blipFill>
        <p:spPr>
          <a:xfrm>
            <a:off x="502920" y="1900016"/>
            <a:ext cx="5400055" cy="2212773"/>
          </a:xfrm>
          <a:prstGeom prst="rect">
            <a:avLst/>
          </a:prstGeom>
        </p:spPr>
      </p:pic>
      <p:pic>
        <p:nvPicPr>
          <p:cNvPr id="11" name="Picture 10" descr="S10c_AI경쟁구조해석_진입검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72" y="2018917"/>
            <a:ext cx="5552440" cy="20977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7080"/>
            <a:ext cx="10698480" cy="384048"/>
          </a:xfrm>
          <a:prstGeom prst="rect">
            <a:avLst/>
          </a:prstGeom>
          <a:solidFill>
            <a:srgbClr val="1D4ED8"/>
          </a:solidFill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AI는 판단하지 않습니다. 데이터를 사람이 읽을 수 있는 언어로 번역합니다.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1D9A619-32D6-59C3-F0B2-2546F3003975}"/>
              </a:ext>
            </a:extLst>
          </p:cNvPr>
          <p:cNvSpPr/>
          <p:nvPr/>
        </p:nvSpPr>
        <p:spPr>
          <a:xfrm>
            <a:off x="5870956" y="287172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01970F-EC64-61A0-3F79-1CD8D057FC98}"/>
              </a:ext>
            </a:extLst>
          </p:cNvPr>
          <p:cNvSpPr txBox="1"/>
          <p:nvPr/>
        </p:nvSpPr>
        <p:spPr>
          <a:xfrm>
            <a:off x="780415" y="5273040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하는 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618B5-52A1-E57F-FE42-0DD5036D513F}"/>
              </a:ext>
            </a:extLst>
          </p:cNvPr>
          <p:cNvSpPr txBox="1"/>
          <p:nvPr/>
        </p:nvSpPr>
        <p:spPr>
          <a:xfrm>
            <a:off x="6847839" y="5273039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하지 않는 것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BDC17F-E9C5-F89D-AF99-C698B158D2F2}"/>
              </a:ext>
            </a:extLst>
          </p:cNvPr>
          <p:cNvSpPr txBox="1"/>
          <p:nvPr/>
        </p:nvSpPr>
        <p:spPr>
          <a:xfrm>
            <a:off x="780414" y="5806439"/>
            <a:ext cx="4572635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       점수</a:t>
            </a:r>
            <a:r>
              <a:rPr lang="en-US" altLang="ko-KR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·</a:t>
            </a:r>
            <a:r>
              <a:rPr lang="ko-KR" altLang="en-US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건수</a:t>
            </a:r>
            <a:r>
              <a:rPr lang="en-US" altLang="ko-KR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·</a:t>
            </a:r>
            <a:r>
              <a:rPr lang="ko-KR" altLang="en-US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비율을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설명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40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문장으로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변환</a:t>
            </a:r>
            <a:endParaRPr lang="ko-KR" sz="1400" dirty="0">
              <a:ea typeface="맑은 고딕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FCCAF3-C0DA-1707-3F61-BE50B21C5473}"/>
              </a:ext>
            </a:extLst>
          </p:cNvPr>
          <p:cNvSpPr txBox="1"/>
          <p:nvPr/>
        </p:nvSpPr>
        <p:spPr>
          <a:xfrm>
            <a:off x="6847839" y="5806439"/>
            <a:ext cx="4572635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창업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성공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예측</a:t>
            </a:r>
            <a:r>
              <a:rPr lang="en-US" altLang="ko-KR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, </a:t>
            </a:r>
            <a:r>
              <a:rPr lang="ko-KR" altLang="en-US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입지</a:t>
            </a:r>
            <a:r>
              <a:rPr lang="en-US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400" dirty="0">
                <a:solidFill>
                  <a:srgbClr val="0F172A"/>
                </a:solidFill>
                <a:latin typeface="Malgun Gothic"/>
                <a:ea typeface="Malgun Gothic"/>
                <a:cs typeface="Calibri"/>
              </a:rPr>
              <a:t>확정</a:t>
            </a:r>
            <a:endParaRPr lang="ko-KR" sz="1400" dirty="0">
              <a:ea typeface="맑은 고딕"/>
              <a:cs typeface="Calibri"/>
            </a:endParaRPr>
          </a:p>
        </p:txBody>
      </p:sp>
      <p:pic>
        <p:nvPicPr>
          <p:cNvPr id="35" name="그래픽 34" descr="확인 표시 단색으로 채워진">
            <a:extLst>
              <a:ext uri="{FF2B5EF4-FFF2-40B4-BE49-F238E27FC236}">
                <a16:creationId xmlns:a16="http://schemas.microsoft.com/office/drawing/2014/main" id="{FEFA3E59-197A-76D0-B226-25DA5BF12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5372100"/>
            <a:ext cx="781050" cy="800100"/>
          </a:xfrm>
          <a:prstGeom prst="rect">
            <a:avLst/>
          </a:prstGeom>
        </p:spPr>
      </p:pic>
      <p:pic>
        <p:nvPicPr>
          <p:cNvPr id="36" name="그래픽 35" descr="닫기 단색으로 채워진">
            <a:extLst>
              <a:ext uri="{FF2B5EF4-FFF2-40B4-BE49-F238E27FC236}">
                <a16:creationId xmlns:a16="http://schemas.microsoft.com/office/drawing/2014/main" id="{AB33FD7B-442A-BD52-9CD9-C93DD5CDA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5438775"/>
            <a:ext cx="771525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현재는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무료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데모로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POC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단계입니다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246120" cy="24231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73152" cy="2423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B2C 무료 데모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예비창업자가 직접 지역·품목 탐색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246120" cy="24231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103120"/>
            <a:ext cx="73152" cy="242316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B2B 상담 도구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창업 지원기관·상담사가 지역 수요 리포트 활용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46120" cy="24231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73152" cy="24231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플랫폼 연계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납품업체 영업 거점·지자체 정책 자료로 확대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402D46-D6BB-53A0-D47A-5EA3A6C9BA7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479F2-30E5-31D5-A0BB-212067B255F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핵심 수익화 방향은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창업 상담기관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및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소상공인 지원센터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대상의</a:t>
            </a:r>
            <a:endParaRPr lang="ko-KR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상담 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보조 리포트/도구입니다.</a:t>
            </a:r>
            <a:endParaRPr lang="ko-K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기대 효과와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>
                <a:solidFill>
                  <a:srgbClr val="0F2340"/>
                </a:solidFill>
                <a:latin typeface="Malgun Gothic"/>
              </a:rPr>
              <a:t>이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관점의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참고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자료이며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endParaRPr lang="ko-KR" altLang="en-US" sz="2500" b="1" dirty="0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성공을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예측하지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않습니다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95500"/>
            <a:ext cx="73152" cy="2743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공공조달 시장 진입 전 지역·품목 수요를 사전 검토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4개 공공데이터 결합으로 다각도 분석 제공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상담 현장에서 지역별 수요 리포트로 활용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095500"/>
            <a:ext cx="73152" cy="274320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dirty="0" err="1">
                <a:solidFill>
                  <a:srgbClr val="0F2340"/>
                </a:solidFill>
                <a:latin typeface="Malgun Gothic"/>
              </a:rPr>
              <a:t>현재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공공조달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B2G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관점만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반영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실사용자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피드백은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필요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서비스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내에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한계를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명시해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과해석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방지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5561496-4D27-73E0-945D-812B74467CC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67F20-CDC0-DC15-4240-1BB30D782D2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감에 의존한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입지 선택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 기반 사전 검토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로 바꾸는</a:t>
            </a:r>
            <a:endParaRPr lang="ko-KR" altLang="en-US" sz="2000" dirty="0">
              <a:solidFill>
                <a:schemeClr val="bg1"/>
              </a:solidFill>
              <a:latin typeface="Malgun Gothic"/>
              <a:ea typeface="Malgun Gothic"/>
              <a:cs typeface="Courier New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첫 걸음입니다.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005B3-7596-656F-994D-5DACC9D6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27E4C0-C08A-ED69-90DB-79B2489FDC57}"/>
              </a:ext>
            </a:extLst>
          </p:cNvPr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D851A-2471-F8FB-98E9-7628690E843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45B8D-BC32-5C58-0D90-7774ADBB2BE1}"/>
              </a:ext>
            </a:extLst>
          </p:cNvPr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BC9DE-A93D-4101-2E78-8A1004CE460E}"/>
              </a:ext>
            </a:extLst>
          </p:cNvPr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기반</a:t>
            </a:r>
            <a:br>
              <a:rPr sz="1100" dirty="0"/>
            </a:br>
            <a:r>
              <a:rPr sz="24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분석</a:t>
            </a:r>
            <a:endParaRPr lang="ko-KR" altLang="en-US" sz="28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CEEDE-5EFB-9489-F756-12D336763018}"/>
              </a:ext>
            </a:extLst>
          </p:cNvPr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6600" b="1">
                <a:solidFill>
                  <a:srgbClr val="0F172A"/>
                </a:solidFill>
                <a:latin typeface="Malgun Gothic"/>
                <a:ea typeface="Malgun Gothic"/>
              </a:rPr>
              <a:t>감사합니다.</a:t>
            </a:r>
            <a:endParaRPr lang="ko-KR" sz="6600">
              <a:ea typeface="맑은 고딕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22964C-D164-0E77-CBC9-99EAC5BE7BA1}"/>
              </a:ext>
            </a:extLst>
          </p:cNvPr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CA912-CAB4-8F79-3149-5D161F90F48E}"/>
              </a:ext>
            </a:extLst>
          </p:cNvPr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4BD7E-15CD-F065-236B-1F39F6311B20}"/>
              </a:ext>
            </a:extLst>
          </p:cNvPr>
          <p:cNvSpPr txBox="1"/>
          <p:nvPr/>
        </p:nvSpPr>
        <p:spPr>
          <a:xfrm>
            <a:off x="1273561" y="6344113"/>
            <a:ext cx="53228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sz="1400" dirty="0">
                <a:ea typeface="+mn-lt"/>
                <a:cs typeface="+mn-lt"/>
              </a:rPr>
              <a:t>https://github.com/mosejong/procurement-logistics-ai</a:t>
            </a:r>
            <a:endParaRPr lang="ko-KR" sz="1400">
              <a:ea typeface="맑은 고딕"/>
              <a:cs typeface="Calibri"/>
            </a:endParaRPr>
          </a:p>
        </p:txBody>
      </p:sp>
      <p:pic>
        <p:nvPicPr>
          <p:cNvPr id="19" name="그림 18" descr="패턴, 사각형, 그래픽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CB6D27-99B8-5A8D-34C1-E993C7F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17" y="3317488"/>
            <a:ext cx="2518318" cy="2518318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4BCFE37-F8B1-7C7C-7855-A4C80A8B65B3}"/>
              </a:ext>
            </a:extLst>
          </p:cNvPr>
          <p:cNvSpPr/>
          <p:nvPr/>
        </p:nvSpPr>
        <p:spPr>
          <a:xfrm>
            <a:off x="5829820" y="3818587"/>
            <a:ext cx="2725433" cy="1664802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C3164-68E5-CDA8-B186-EB7CAB3AD792}"/>
              </a:ext>
            </a:extLst>
          </p:cNvPr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>
                <a:ea typeface="맑은 고딕"/>
                <a:cs typeface="Calibri"/>
              </a:rPr>
              <a:t>라이브 데모</a:t>
            </a:r>
            <a:endParaRPr lang="ko-KR" sz="2400" b="1">
              <a:ea typeface="맑은 고딕"/>
              <a:cs typeface="Calibri"/>
            </a:endParaRPr>
          </a:p>
          <a:p>
            <a:r>
              <a:rPr lang="ko-KR" altLang="en-US" sz="2400" b="1">
                <a:ea typeface="맑은 고딕"/>
                <a:cs typeface="Calibri"/>
              </a:rPr>
              <a:t>바로가기</a:t>
            </a:r>
            <a:endParaRPr lang="ko-KR" altLang="en-US" b="1" dirty="0">
              <a:ea typeface="맑은 고딕"/>
              <a:cs typeface="Calibri"/>
            </a:endParaRPr>
          </a:p>
        </p:txBody>
      </p:sp>
      <p:pic>
        <p:nvPicPr>
          <p:cNvPr id="22" name="그림 21" descr="로고, 텍스트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4788-0B9D-E926-C005-363147A0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t="17087" r="26515" b="16667"/>
          <a:stretch>
            <a:fillRect/>
          </a:stretch>
        </p:blipFill>
        <p:spPr>
          <a:xfrm>
            <a:off x="688202" y="6257021"/>
            <a:ext cx="542584" cy="4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65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9601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1">
                <a:solidFill>
                  <a:srgbClr val="0F2340"/>
                </a:solidFill>
                <a:latin typeface="Malgun Gothic"/>
              </a:rPr>
              <a:t>부록: 예상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37360"/>
            <a:ext cx="960120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심사 기준 5개에 맞춘 질문과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1460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기술성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251460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분류 모델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공공데이터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310896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4개 API 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독창성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70332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나라장터/상권분석과 차별점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발전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29768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B2G 이후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효과성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92040"/>
            <a:ext cx="7498079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Malgun Gothic"/>
              </a:rPr>
              <a:t>사용자 피드백 계획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Q1. 기술성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ML 분류 모델 정확도 98.6%의 검증 방법은?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ML 분류 모델 정확도 98.6%의 검증 방법은?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공고명 86,991건으로 학습하고 홀드아웃 테스트셋으로 측정했습니다. TF-IDF + Logistic Regression을 사용했고, 신뢰도 기준 미달 공고는 기타/미분류로 남겨 과신뢰를 방지했습니다.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Q2. 공공데이터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조달청 외 나머지 데이터는 어떻게 수집했나요?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조달청 외 나머지 데이터는 어떻게 수집했나요?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4개 기관 모두 공공 API 기반으로 결합했습니다. 현재는 수집 후 정적 파일로 운영하며, 파이프라인은 CLI 명령으로 재실행 가능하게 구성했습니다.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Q3. 독창성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기존 나라장터 검색·상권 분석과 차별점은?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기존 나라장터 검색·상권 분석과 차별점은?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나라장터는 개별 공고 조회 도구입니다. 이 서비스는 100,083건을 지역별 수요 신호로 해석합니다. 기존 상권 분석은 민간 소비 추정 기반이고, 본 서비스는 공공기관의 발주 데이터를 활용합니다.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Q4. 발전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향후 어떻게 확장할 계획인가요?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향후 어떻게 확장할 계획인가요?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단기적으로 수집 범위와 분류 정확도를 개선하고, 중기적으로 민간 상권 데이터와 결합해 B2C 수요와 B2G 수요를 함께 볼 수 있는 구조를 검토합니다.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Q5. 효과성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98755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algun Gothic"/>
              </a:rPr>
              <a:t>실제 사용자 피드백이 있나요?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0F2340"/>
                </a:solidFill>
                <a:latin typeface="Malgun Gothic"/>
              </a:rPr>
              <a:t>실제 사용자 피드백이 있나요?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61320" cy="310896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496312"/>
            <a:ext cx="10241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>
                <a:solidFill>
                  <a:srgbClr val="0F2340"/>
                </a:solidFill>
                <a:latin typeface="Malgun Gothic"/>
              </a:rPr>
              <a:t>답변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34639"/>
            <a:ext cx="10241280" cy="2514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algun Gothic"/>
              </a:rPr>
              <a:t>현재는 라이브 데모 공개 단계로 체계적 피드백은 수집 전입니다. 후보 지역 압축 시간과 상담 자료 준비 시간 단축을 효과 측정 기준으로 잡고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3784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Q&amp;A에서는 과장보다 “현재 수준 + 보완 계획”을 명확하게 답합니다.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83D2A0-913A-443A-9CF6-9609FB9E9D1D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24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648</cp:revision>
  <dcterms:created xsi:type="dcterms:W3CDTF">2013-01-27T09:14:16Z</dcterms:created>
  <dcterms:modified xsi:type="dcterms:W3CDTF">2026-05-18T15:24:46Z</dcterms:modified>
  <cp:category/>
</cp:coreProperties>
</file>