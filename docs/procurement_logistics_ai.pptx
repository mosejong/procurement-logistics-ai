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9" r:id="rId14"/>
    <p:sldId id="268" r:id="rId15"/>
    <p:sldId id="269" r:id="rId16"/>
    <p:sldId id="270" r:id="rId17"/>
    <p:sldId id="271" r:id="rId18"/>
    <p:sldId id="278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194A14-DEA4-43D1-6AE0-680207CD8132}" v="2309" dt="2026-05-18T14:59:02.734"/>
    <p1510:client id="{604FCC6F-3D47-A295-75EC-19558837CE6F}" v="200" dt="2026-05-18T15:26:39.3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solidFill>
              <a:srgbClr val="F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2026 공공조달데이터·AI 활용 창업경진대회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881360" cy="1143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800" b="1">
                <a:solidFill>
                  <a:srgbClr val="0F2340"/>
                </a:solidFill>
                <a:latin typeface="Malgun Gothic"/>
              </a:rPr>
              <a:t>공공조달 수요 기반</a:t>
            </a:r>
            <a:br/>
            <a:r>
              <a:rPr sz="3800" b="1">
                <a:solidFill>
                  <a:srgbClr val="0F2340"/>
                </a:solidFill>
                <a:latin typeface="Malgun Gothic"/>
              </a:rPr>
              <a:t>창업 입지·물류 거점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788920"/>
            <a:ext cx="987552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나라장터 입찰공고 100,083건으로 지역별 공공수요를 해석하는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657600"/>
            <a:ext cx="1645920" cy="38404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713232" y="3753612"/>
            <a:ext cx="1645920" cy="21698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조달청 데이터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87752" y="3657600"/>
            <a:ext cx="1645920" cy="384048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2587752" y="3753612"/>
            <a:ext cx="1645920" cy="21698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입지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657600"/>
            <a:ext cx="1645920" cy="384048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4462272" y="3753612"/>
            <a:ext cx="1645920" cy="21698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AI 해석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36792" y="3657600"/>
            <a:ext cx="1645920" cy="384048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6336792" y="3753612"/>
            <a:ext cx="1645920" cy="21698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sz="1050" b="1" err="1">
                <a:solidFill>
                  <a:srgbClr val="FFFFFF"/>
                </a:solidFill>
                <a:latin typeface="Malgun Gothic"/>
                <a:ea typeface="Malgun Gothic"/>
                <a:cs typeface="+mn-lt"/>
              </a:rPr>
              <a:t>물류</a:t>
            </a:r>
            <a:r>
              <a:rPr lang="en-US" sz="1050" b="1" dirty="0">
                <a:solidFill>
                  <a:srgbClr val="FFFFFF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050" b="1">
                <a:solidFill>
                  <a:srgbClr val="FFFFFF"/>
                </a:solidFill>
                <a:latin typeface="Malgun Gothic"/>
                <a:ea typeface="Malgun Gothic"/>
                <a:cs typeface="+mn-lt"/>
              </a:rPr>
              <a:t>거점 </a:t>
            </a:r>
            <a:r>
              <a:rPr lang="ko-KR" altLang="en-US" sz="1050" b="1">
                <a:solidFill>
                  <a:srgbClr val="FFFFFF"/>
                </a:solidFill>
                <a:latin typeface="Malgun Gothic"/>
                <a:ea typeface="Malgun Gothic"/>
                <a:cs typeface="+mn-lt"/>
              </a:rPr>
              <a:t>분석</a:t>
            </a:r>
            <a:endParaRPr lang="ko-KR" altLang="en-US" sz="1050" b="1">
              <a:solidFill>
                <a:srgbClr val="FFFFFF"/>
              </a:solidFill>
              <a:latin typeface="Malgun Gothic"/>
              <a:ea typeface="Malgun Gothic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45720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>
                <a:solidFill>
                  <a:srgbClr val="0F2340"/>
                </a:solidFill>
                <a:latin typeface="Malgun Gothic"/>
              </a:rPr>
              <a:t>발표자  모세종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989320"/>
            <a:ext cx="32918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Malgun Gothic"/>
              </a:rPr>
              <a:t>발표 10분 + Q&amp;A 5분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68680" y="1417320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868680" y="1527048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399032"/>
            <a:ext cx="3108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0F2340"/>
                </a:solidFill>
                <a:latin typeface="Malgun Gothic"/>
              </a:rPr>
              <a:t>문제 정의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793116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Malgun Gothic"/>
              </a:rPr>
              <a:t>창업자는 공공기관 수요를 보지 못한다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304856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868680" y="2414584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286568"/>
            <a:ext cx="3108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0F2340"/>
                </a:solidFill>
                <a:latin typeface="Malgun Gothic"/>
              </a:rPr>
              <a:t>서비스 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680652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Malgun Gothic"/>
              </a:rPr>
              <a:t>급식·식자재 납품 창업 페르소나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3192392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68680" y="3302120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194424"/>
            <a:ext cx="375920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0F2340"/>
                </a:solidFill>
                <a:latin typeface="Malgun Gothic"/>
              </a:rPr>
              <a:t>조달청 데이터와 결합 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68188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Malgun Gothic"/>
              </a:rPr>
              <a:t>공공수요·경쟁·소비층·생존율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4079928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868680" y="4189656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061640"/>
            <a:ext cx="3108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0F2340"/>
                </a:solidFill>
                <a:latin typeface="Malgun Gothic"/>
              </a:rPr>
              <a:t>데모 흐름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455724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600" b="0" dirty="0">
                <a:solidFill>
                  <a:srgbClr val="64748B"/>
                </a:solidFill>
                <a:latin typeface="Malgun Gothic"/>
              </a:rPr>
              <a:t>부산 → 해운대구 → 동래구 비교</a:t>
            </a:r>
            <a:r>
              <a:rPr lang="ko-KR" sz="1600" dirty="0">
                <a:solidFill>
                  <a:srgbClr val="64748B"/>
                </a:solidFill>
                <a:latin typeface="Malgun Gothic"/>
                <a:ea typeface="Malgun Gothic"/>
              </a:rPr>
              <a:t> </a:t>
            </a:r>
            <a:r>
              <a:rPr lang="en-US" sz="1600">
                <a:solidFill>
                  <a:srgbClr val="64748B"/>
                </a:solidFill>
                <a:latin typeface="Malgun Gothic"/>
                <a:ea typeface="Malgun Gothic"/>
              </a:rPr>
              <a:t>→</a:t>
            </a:r>
            <a:r>
              <a:rPr lang="en-US" sz="16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lang="ko-KR" altLang="en-US" sz="1600">
                <a:solidFill>
                  <a:srgbClr val="64748B"/>
                </a:solidFill>
                <a:latin typeface="Malgun Gothic"/>
                <a:ea typeface="Malgun Gothic"/>
              </a:rPr>
              <a:t>물류</a:t>
            </a:r>
            <a:r>
              <a:rPr lang="en-US" sz="1600" dirty="0">
                <a:solidFill>
                  <a:srgbClr val="64748B"/>
                </a:solidFill>
                <a:latin typeface="Malgun Gothic"/>
              </a:rPr>
              <a:t> </a:t>
            </a:r>
            <a:r>
              <a:rPr lang="ko-KR" altLang="en-US" sz="1600">
                <a:solidFill>
                  <a:srgbClr val="64748B"/>
                </a:solidFill>
                <a:latin typeface="Malgun Gothic"/>
                <a:ea typeface="Malgun Gothic"/>
              </a:rPr>
              <a:t>거점</a:t>
            </a:r>
            <a:r>
              <a:rPr lang="en-US" sz="1600" dirty="0">
                <a:solidFill>
                  <a:srgbClr val="64748B"/>
                </a:solidFill>
                <a:latin typeface="Malgun Gothic"/>
                <a:ea typeface="Malgun Gothic"/>
              </a:rPr>
              <a:t> </a:t>
            </a:r>
            <a:r>
              <a:rPr lang="ko-KR" altLang="en-US" sz="1600">
                <a:solidFill>
                  <a:srgbClr val="64748B"/>
                </a:solidFill>
                <a:latin typeface="Malgun Gothic"/>
                <a:ea typeface="Malgun Gothic"/>
              </a:rPr>
              <a:t>비교</a:t>
            </a:r>
            <a:r>
              <a:rPr lang="ko-KR" altLang="en-US" sz="1600" dirty="0">
                <a:solidFill>
                  <a:srgbClr val="64748B"/>
                </a:solidFill>
                <a:latin typeface="Malgun Gothic"/>
                <a:ea typeface="맑은 고딕"/>
              </a:rPr>
              <a:t> </a:t>
            </a:r>
            <a:r>
              <a:rPr sz="1600" b="0" dirty="0">
                <a:solidFill>
                  <a:srgbClr val="64748B"/>
                </a:solidFill>
                <a:latin typeface="Malgun Gothic"/>
              </a:rPr>
              <a:t>→ AI 해석</a:t>
            </a:r>
            <a:endParaRPr lang="ko-KR" sz="1600" b="0" dirty="0">
              <a:solidFill>
                <a:srgbClr val="64748B"/>
              </a:solidFill>
              <a:latin typeface="Malgun Gothic"/>
              <a:ea typeface="Malgun Gothic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868680" y="4967464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868680" y="5077192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49176"/>
            <a:ext cx="3108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0F2340"/>
                </a:solidFill>
                <a:latin typeface="Malgun Gothic"/>
              </a:rPr>
              <a:t>비즈니스 모델과 한계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343260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Malgun Gothic"/>
              </a:rPr>
              <a:t>POC → 상담 보조 도구 확장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6">
            <a:extLst>
              <a:ext uri="{FF2B5EF4-FFF2-40B4-BE49-F238E27FC236}">
                <a16:creationId xmlns:a16="http://schemas.microsoft.com/office/drawing/2014/main" id="{42AA8B7C-D943-A39E-61EA-83F9044AAE65}"/>
              </a:ext>
            </a:extLst>
          </p:cNvPr>
          <p:cNvSpPr/>
          <p:nvPr/>
        </p:nvSpPr>
        <p:spPr>
          <a:xfrm>
            <a:off x="640080" y="2539139"/>
            <a:ext cx="365760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E12655C4-29ED-5CBA-860B-E62D038DEF5D}"/>
              </a:ext>
            </a:extLst>
          </p:cNvPr>
          <p:cNvSpPr/>
          <p:nvPr/>
        </p:nvSpPr>
        <p:spPr>
          <a:xfrm>
            <a:off x="640080" y="2539139"/>
            <a:ext cx="73152" cy="29718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ounded Rectangle 10">
            <a:extLst>
              <a:ext uri="{FF2B5EF4-FFF2-40B4-BE49-F238E27FC236}">
                <a16:creationId xmlns:a16="http://schemas.microsoft.com/office/drawing/2014/main" id="{31939D29-A045-21CA-00B7-2DCD91A42D78}"/>
              </a:ext>
            </a:extLst>
          </p:cNvPr>
          <p:cNvSpPr/>
          <p:nvPr/>
        </p:nvSpPr>
        <p:spPr>
          <a:xfrm>
            <a:off x="4480560" y="2539139"/>
            <a:ext cx="347472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Rectangle 11">
            <a:extLst>
              <a:ext uri="{FF2B5EF4-FFF2-40B4-BE49-F238E27FC236}">
                <a16:creationId xmlns:a16="http://schemas.microsoft.com/office/drawing/2014/main" id="{6660C44B-2DC3-FF71-C991-FEFFAB39EF07}"/>
              </a:ext>
            </a:extLst>
          </p:cNvPr>
          <p:cNvSpPr/>
          <p:nvPr/>
        </p:nvSpPr>
        <p:spPr>
          <a:xfrm>
            <a:off x="4480560" y="2539139"/>
            <a:ext cx="73152" cy="297180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ounded Rectangle 14">
            <a:extLst>
              <a:ext uri="{FF2B5EF4-FFF2-40B4-BE49-F238E27FC236}">
                <a16:creationId xmlns:a16="http://schemas.microsoft.com/office/drawing/2014/main" id="{A534E09E-103F-27EC-445F-B91ABE6ED8A9}"/>
              </a:ext>
            </a:extLst>
          </p:cNvPr>
          <p:cNvSpPr/>
          <p:nvPr/>
        </p:nvSpPr>
        <p:spPr>
          <a:xfrm>
            <a:off x="8138160" y="2539139"/>
            <a:ext cx="342900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Rectangle 15">
            <a:extLst>
              <a:ext uri="{FF2B5EF4-FFF2-40B4-BE49-F238E27FC236}">
                <a16:creationId xmlns:a16="http://schemas.microsoft.com/office/drawing/2014/main" id="{8295FE01-A563-315F-D4D7-8262E6FFE2E8}"/>
              </a:ext>
            </a:extLst>
          </p:cNvPr>
          <p:cNvSpPr/>
          <p:nvPr/>
        </p:nvSpPr>
        <p:spPr>
          <a:xfrm>
            <a:off x="8138160" y="2539139"/>
            <a:ext cx="73152" cy="297180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10698480" cy="82484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 dirty="0" err="1">
                <a:solidFill>
                  <a:srgbClr val="0F2340"/>
                </a:solidFill>
                <a:latin typeface="Malgun Gothic"/>
              </a:rPr>
              <a:t>창업자는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lang="ko-KR" sz="2500" b="1" dirty="0">
                <a:solidFill>
                  <a:srgbClr val="0F2340"/>
                </a:solidFill>
                <a:latin typeface="Malgun Gothic"/>
              </a:rPr>
              <a:t>상권을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봅니다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br>
              <a:rPr dirty="0"/>
            </a:br>
            <a:r>
              <a:rPr sz="2500" b="1" dirty="0" err="1">
                <a:solidFill>
                  <a:srgbClr val="0F2340"/>
                </a:solidFill>
                <a:latin typeface="Malgun Gothic"/>
              </a:rPr>
              <a:t>공공기관이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필요로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하는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것은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보지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못합니다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197" y="2691075"/>
            <a:ext cx="306324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현장에서 본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197" y="3184386"/>
            <a:ext cx="3063240" cy="112319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예측이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틀리면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재고·이동·운영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비용이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dirty="0">
              <a:solidFill>
                <a:srgbClr val="000000"/>
              </a:solidFill>
              <a:latin typeface="Calibri"/>
              <a:cs typeface="Calibri"/>
            </a:endParaRPr>
          </a:p>
          <a:p>
            <a:pPr algn="l"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바로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손실로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이어집니다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.</a:t>
            </a:r>
            <a:endParaRPr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87668" y="2691075"/>
            <a:ext cx="306324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기존 판단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7668" y="3184386"/>
            <a:ext cx="3063240" cy="149252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예비창업자는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 err="1">
                <a:solidFill>
                  <a:srgbClr val="0F172A"/>
                </a:solidFill>
                <a:latin typeface="Malgun Gothic"/>
              </a:rPr>
              <a:t>유동인구와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상권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lang="ko-KR" sz="1600">
                <a:solidFill>
                  <a:srgbClr val="0F172A"/>
                </a:solidFill>
                <a:latin typeface="Malgun Gothic"/>
              </a:rPr>
              <a:t>정보를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보지만</a:t>
            </a:r>
            <a:endParaRPr lang="ko-KR" dirty="0">
              <a:solidFill>
                <a:srgbClr val="000000"/>
              </a:solidFill>
              <a:latin typeface="Calibri"/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공공수요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데이터는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>
              <a:solidFill>
                <a:srgbClr val="000000"/>
              </a:solidFill>
              <a:latin typeface="Calibri"/>
              <a:cs typeface="Calibri"/>
            </a:endParaRPr>
          </a:p>
          <a:p>
            <a:pPr algn="l">
              <a:lnSpc>
                <a:spcPct val="150000"/>
              </a:lnSpc>
            </a:pPr>
            <a:r>
              <a:rPr sz="1600" b="0" dirty="0">
                <a:solidFill>
                  <a:srgbClr val="0F172A"/>
                </a:solidFill>
                <a:latin typeface="Malgun Gothic"/>
              </a:rPr>
              <a:t>잘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활용하지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못합니다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.</a:t>
            </a:r>
            <a:endParaRPr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39328" y="2691074"/>
            <a:ext cx="306324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프로젝트 질문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184385"/>
            <a:ext cx="3063240" cy="112319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err="1">
                <a:solidFill>
                  <a:srgbClr val="0F172A"/>
                </a:solidFill>
                <a:latin typeface="Malgun Gothic"/>
              </a:rPr>
              <a:t>입찰공고를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신호로</a:t>
            </a:r>
            <a:endParaRPr lang="ko-KR" altLang="en-US">
              <a:solidFill>
                <a:srgbClr val="000000"/>
              </a:solidFill>
              <a:latin typeface="Calibri"/>
              <a:ea typeface="맑은 고딕" panose="020B0503020000020004" pitchFamily="34" charset="-127"/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보면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창업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입지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사전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검토에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활용할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수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있지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않을까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?</a:t>
            </a:r>
            <a:endParaRPr lang="ko-KR" altLang="en-US">
              <a:ea typeface="맑은 고딕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서비스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98480" cy="44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500" b="1" dirty="0" err="1">
                <a:solidFill>
                  <a:srgbClr val="0F2340"/>
                </a:solidFill>
                <a:latin typeface="Malgun Gothic"/>
              </a:rPr>
              <a:t>공공조달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시장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진입을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앞둔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lang="ko-KR" sz="2500" b="1" dirty="0" err="1">
                <a:solidFill>
                  <a:srgbClr val="0F2340"/>
                </a:solidFill>
                <a:latin typeface="Malgun Gothic"/>
                <a:ea typeface="Malgun Gothic"/>
              </a:rPr>
              <a:t>사람에게</a:t>
            </a:r>
            <a:r>
              <a:rPr lang="ko-KR" sz="2500" b="1" dirty="0">
                <a:solidFill>
                  <a:srgbClr val="0F2340"/>
                </a:solidFill>
                <a:latin typeface="Malgun Gothic"/>
                <a:ea typeface="Malgun Gothic"/>
              </a:rPr>
              <a:t> </a:t>
            </a:r>
            <a:r>
              <a:rPr lang="ko-KR" sz="2500" b="1" dirty="0" err="1">
                <a:solidFill>
                  <a:srgbClr val="0F2340"/>
                </a:solidFill>
                <a:latin typeface="Malgun Gothic"/>
                <a:ea typeface="Malgun Gothic"/>
              </a:rPr>
              <a:t>지역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선택의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근거를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제공합니다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sz="2500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2539139"/>
            <a:ext cx="365760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640080" y="2539139"/>
            <a:ext cx="73152" cy="29718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841247" y="2703731"/>
            <a:ext cx="333756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 dirty="0">
                <a:solidFill>
                  <a:srgbClr val="0F2340"/>
                </a:solidFill>
                <a:latin typeface="Malgun Gothic"/>
              </a:rPr>
              <a:t>① </a:t>
            </a:r>
            <a:r>
              <a:rPr b="1" dirty="0" err="1">
                <a:solidFill>
                  <a:srgbClr val="0F2340"/>
                </a:solidFill>
                <a:latin typeface="Malgun Gothic"/>
              </a:rPr>
              <a:t>예비창업자</a:t>
            </a:r>
            <a:endParaRPr lang="ko-KR" altLang="en-US" b="1" dirty="0" err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1247" y="3163979"/>
            <a:ext cx="3337560" cy="19791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급식·식자재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납품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창업을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고민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중이지만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어느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지역부터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sz="1600" dirty="0" err="1">
              <a:solidFill>
                <a:srgbClr val="0F172A"/>
              </a:solidFill>
              <a:latin typeface="Malgun Gothic"/>
            </a:endParaRPr>
          </a:p>
          <a:p>
            <a:r>
              <a:rPr sz="1600" b="0" err="1">
                <a:solidFill>
                  <a:srgbClr val="0F172A"/>
                </a:solidFill>
                <a:latin typeface="Malgun Gothic"/>
              </a:rPr>
              <a:t>진입해야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할지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감에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의존하고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있음</a:t>
            </a:r>
            <a:br>
              <a:rPr sz="2400" dirty="0"/>
            </a:br>
            <a:br>
              <a:rPr sz="2400" dirty="0"/>
            </a:br>
            <a:r>
              <a:rPr sz="1600" b="0" dirty="0">
                <a:solidFill>
                  <a:srgbClr val="0F172A"/>
                </a:solidFill>
                <a:latin typeface="Malgun Gothic"/>
              </a:rPr>
              <a:t>→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공공수요·경쟁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구조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sz="1600">
              <a:solidFill>
                <a:srgbClr val="0F172A"/>
              </a:solidFill>
              <a:latin typeface="Malgun Gothic"/>
            </a:endParaRPr>
          </a:p>
          <a:p>
            <a:pPr>
              <a:lnSpc>
                <a:spcPct val="150000"/>
              </a:lnSpc>
            </a:pPr>
            <a:r>
              <a:rPr lang="ko-KR" sz="1600" dirty="0">
                <a:solidFill>
                  <a:srgbClr val="0F172A"/>
                </a:solidFill>
                <a:latin typeface="Malgun Gothic"/>
                <a:ea typeface="맑은 고딕"/>
              </a:rPr>
              <a:t> 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비교로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후보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압축</a:t>
            </a:r>
            <a:endParaRPr sz="1600" b="0" dirty="0">
              <a:solidFill>
                <a:srgbClr val="0F172A"/>
              </a:solidFill>
              <a:latin typeface="Malgun Gothic"/>
              <a:ea typeface="Malgun Gothi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80560" y="2539139"/>
            <a:ext cx="347472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Rectangle 11"/>
          <p:cNvSpPr/>
          <p:nvPr/>
        </p:nvSpPr>
        <p:spPr>
          <a:xfrm>
            <a:off x="4480560" y="2539139"/>
            <a:ext cx="73152" cy="297180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681728" y="2703731"/>
            <a:ext cx="31546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② B2G 납품업체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163979"/>
            <a:ext cx="3154679" cy="1609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신규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영업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확장해야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r>
              <a:rPr sz="1600" b="0" err="1">
                <a:solidFill>
                  <a:srgbClr val="0F172A"/>
                </a:solidFill>
                <a:latin typeface="Malgun Gothic"/>
              </a:rPr>
              <a:t>하지만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내부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데이터가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부족함</a:t>
            </a:r>
            <a:br>
              <a:rPr sz="2400" dirty="0"/>
            </a:br>
            <a:br>
              <a:rPr sz="2400" dirty="0"/>
            </a:br>
            <a:r>
              <a:rPr sz="1600" b="0" dirty="0">
                <a:solidFill>
                  <a:srgbClr val="0F172A"/>
                </a:solidFill>
                <a:latin typeface="Malgun Gothic"/>
              </a:rPr>
              <a:t>→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공고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건수·경쟁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구조로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sz="1600" dirty="0" err="1">
              <a:solidFill>
                <a:srgbClr val="0F172A"/>
              </a:solidFill>
              <a:latin typeface="Malgun Gothic"/>
            </a:endParaRPr>
          </a:p>
          <a:p>
            <a:pPr>
              <a:lnSpc>
                <a:spcPct val="150000"/>
              </a:lnSpc>
            </a:pPr>
            <a:r>
              <a:rPr lang="ko-KR" sz="1600" dirty="0">
                <a:solidFill>
                  <a:srgbClr val="0F172A"/>
                </a:solidFill>
                <a:latin typeface="Malgun Gothic"/>
                <a:ea typeface="맑은 고딕"/>
              </a:rPr>
              <a:t> 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우선순위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설정</a:t>
            </a:r>
            <a:endParaRPr sz="1600" b="0" dirty="0">
              <a:solidFill>
                <a:srgbClr val="0F172A"/>
              </a:solidFill>
              <a:latin typeface="Malgun Gothic"/>
              <a:ea typeface="Malgun Gothi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38160" y="2539139"/>
            <a:ext cx="342900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Rectangle 15"/>
          <p:cNvSpPr/>
          <p:nvPr/>
        </p:nvSpPr>
        <p:spPr>
          <a:xfrm>
            <a:off x="8138160" y="2539139"/>
            <a:ext cx="73152" cy="297180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8339328" y="2703731"/>
            <a:ext cx="310896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③ 창업 상담기관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163979"/>
            <a:ext cx="3108960" cy="1609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err="1">
                <a:solidFill>
                  <a:srgbClr val="0F172A"/>
                </a:solidFill>
                <a:latin typeface="Malgun Gothic"/>
              </a:rPr>
              <a:t>상담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시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수요를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설명할</a:t>
            </a:r>
            <a:endParaRPr lang="ko-KR" altLang="en-US">
              <a:cs typeface="Calibri"/>
            </a:endParaRPr>
          </a:p>
          <a:p>
            <a:r>
              <a:rPr sz="1600" b="0">
                <a:solidFill>
                  <a:srgbClr val="0F172A"/>
                </a:solidFill>
                <a:latin typeface="Malgun Gothic"/>
              </a:rPr>
              <a:t>근거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자료가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부족함</a:t>
            </a:r>
            <a:br>
              <a:rPr sz="2400" dirty="0"/>
            </a:br>
            <a:br>
              <a:rPr sz="2400" dirty="0"/>
            </a:br>
            <a:r>
              <a:rPr sz="1600" b="0" dirty="0">
                <a:solidFill>
                  <a:srgbClr val="0F172A"/>
                </a:solidFill>
                <a:latin typeface="Malgun Gothic"/>
              </a:rPr>
              <a:t>→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리포트를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sz="1600" dirty="0" err="1">
              <a:solidFill>
                <a:srgbClr val="0F172A"/>
              </a:solidFill>
              <a:latin typeface="Malgun Gothic"/>
            </a:endParaRPr>
          </a:p>
          <a:p>
            <a:pPr>
              <a:lnSpc>
                <a:spcPct val="150000"/>
              </a:lnSpc>
            </a:pPr>
            <a:r>
              <a:rPr lang="ko-KR" sz="1600" dirty="0">
                <a:solidFill>
                  <a:srgbClr val="0F172A"/>
                </a:solidFill>
                <a:latin typeface="Malgun Gothic"/>
                <a:ea typeface="맑은 고딕"/>
              </a:rPr>
              <a:t> 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상담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보조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자료로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활용</a:t>
            </a:r>
            <a:endParaRPr sz="1600" b="0" dirty="0">
              <a:solidFill>
                <a:srgbClr val="0F172A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14">
            <a:extLst>
              <a:ext uri="{FF2B5EF4-FFF2-40B4-BE49-F238E27FC236}">
                <a16:creationId xmlns:a16="http://schemas.microsoft.com/office/drawing/2014/main" id="{93A8975D-CA70-9253-C06B-5A8026E1B399}"/>
              </a:ext>
            </a:extLst>
          </p:cNvPr>
          <p:cNvSpPr/>
          <p:nvPr/>
        </p:nvSpPr>
        <p:spPr>
          <a:xfrm>
            <a:off x="8750730" y="2329035"/>
            <a:ext cx="2535782" cy="3554536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프로젝트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07040" cy="82484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 err="1">
                <a:solidFill>
                  <a:srgbClr val="0F2340"/>
                </a:solidFill>
                <a:latin typeface="Malgun Gothic"/>
              </a:rPr>
              <a:t>나라장터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입찰공고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100,083건을 </a:t>
            </a:r>
            <a:r>
              <a:rPr lang="ko-KR" altLang="en-US" sz="2500" b="1">
                <a:solidFill>
                  <a:srgbClr val="0F2340"/>
                </a:solidFill>
                <a:latin typeface="Malgun Gothic"/>
                <a:ea typeface="Malgun Gothic"/>
              </a:rPr>
              <a:t>분석하여,</a:t>
            </a:r>
            <a:br>
              <a:rPr sz="2500" dirty="0"/>
            </a:br>
            <a:r>
              <a:rPr sz="2500" b="1">
                <a:solidFill>
                  <a:srgbClr val="0F2340"/>
                </a:solidFill>
                <a:latin typeface="Malgun Gothic"/>
              </a:rPr>
              <a:t>창업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입지·물류</a:t>
            </a:r>
            <a:r>
              <a:rPr sz="2500" b="1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거점</a:t>
            </a:r>
            <a:r>
              <a:rPr sz="2500" b="1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판단을</a:t>
            </a:r>
            <a:r>
              <a:rPr sz="2500" b="1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돕는</a:t>
            </a:r>
            <a:r>
              <a:rPr sz="2500" b="1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서비스입니다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altLang="en-US" sz="2500" b="1" dirty="0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104462" cy="3554536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7839" y="2651760"/>
            <a:ext cx="212852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Malgun Gothic"/>
              </a:rPr>
              <a:t>100,083건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839" y="3878967"/>
            <a:ext cx="212852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>
                <a:solidFill>
                  <a:srgbClr val="0F2340"/>
                </a:solidFill>
                <a:latin typeface="Malgun Gothic"/>
              </a:rPr>
              <a:t>입찰공고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839" y="5026616"/>
            <a:ext cx="212852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algun Gothic"/>
              </a:rPr>
              <a:t>최근 2년 수집·분석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7653" y="2341880"/>
            <a:ext cx="2104462" cy="3554536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30880" y="2651760"/>
            <a:ext cx="211836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Malgun Gothic"/>
              </a:rPr>
              <a:t>17개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0880" y="3878967"/>
            <a:ext cx="21183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>
                <a:solidFill>
                  <a:srgbClr val="0F2340"/>
                </a:solidFill>
                <a:latin typeface="Malgun Gothic"/>
              </a:rPr>
              <a:t>전국 범위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0880" y="5026616"/>
            <a:ext cx="211836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1400">
                <a:solidFill>
                  <a:srgbClr val="64748B"/>
                </a:solidFill>
                <a:latin typeface="Malgun Gothic"/>
                <a:ea typeface="Malgun Gothic"/>
              </a:rPr>
              <a:t>광역 단위 전체</a:t>
            </a:r>
            <a:endParaRPr lang="ko-KR" sz="1400" dirty="0">
              <a:solidFill>
                <a:srgbClr val="64748B"/>
              </a:solidFill>
              <a:latin typeface="Malgun Gothic"/>
              <a:ea typeface="Malgun Gothi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92386" y="2349356"/>
            <a:ext cx="2118839" cy="3554536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64628" y="2651760"/>
            <a:ext cx="254508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Malgun Gothic"/>
              </a:rPr>
              <a:t>5종 AI 해석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4628" y="3878967"/>
            <a:ext cx="254508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>
                <a:solidFill>
                  <a:srgbClr val="0F2340"/>
                </a:solidFill>
                <a:latin typeface="Malgun Gothic"/>
              </a:rPr>
              <a:t>보조 설명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4628" y="5026616"/>
            <a:ext cx="254508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algun Gothic"/>
              </a:rPr>
              <a:t>수치를 자연어로 변환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288FE9-DF63-D48B-E4C0-26A247E2A0B1}"/>
              </a:ext>
            </a:extLst>
          </p:cNvPr>
          <p:cNvSpPr txBox="1"/>
          <p:nvPr/>
        </p:nvSpPr>
        <p:spPr>
          <a:xfrm>
            <a:off x="6004751" y="2661919"/>
            <a:ext cx="210820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sz="2800" b="1">
                <a:solidFill>
                  <a:srgbClr val="1D4ED8"/>
                </a:solidFill>
                <a:latin typeface="Malgun Gothic"/>
              </a:rPr>
              <a:t>220</a:t>
            </a:r>
            <a:r>
              <a:rPr lang="ko-KR" altLang="en-US" sz="2800" b="1">
                <a:solidFill>
                  <a:srgbClr val="1D4ED8"/>
                </a:solidFill>
                <a:latin typeface="Malgun Gothic"/>
                <a:ea typeface="Malgun Gothic"/>
              </a:rPr>
              <a:t>개</a:t>
            </a:r>
            <a:r>
              <a:rPr lang="en-US" sz="2800" b="1">
                <a:solidFill>
                  <a:srgbClr val="1D4ED8"/>
                </a:solidFill>
                <a:latin typeface="Malgun Gothic"/>
              </a:rPr>
              <a:t> </a:t>
            </a:r>
            <a:r>
              <a:rPr lang="ko-KR" altLang="en-US" sz="2800" b="1">
                <a:solidFill>
                  <a:srgbClr val="1D4ED8"/>
                </a:solidFill>
                <a:latin typeface="Malgun Gothic"/>
                <a:ea typeface="Malgun Gothic"/>
              </a:rPr>
              <a:t>지역</a:t>
            </a:r>
            <a:endParaRPr lang="ko-KR" altLang="en-US" sz="2800" b="1">
              <a:solidFill>
                <a:srgbClr val="1D4ED8"/>
              </a:solidFill>
              <a:latin typeface="Malgun Gothic"/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653F72-7C8D-7CF6-2268-DEF52AA664B6}"/>
              </a:ext>
            </a:extLst>
          </p:cNvPr>
          <p:cNvSpPr txBox="1"/>
          <p:nvPr/>
        </p:nvSpPr>
        <p:spPr>
          <a:xfrm>
            <a:off x="6004751" y="3889126"/>
            <a:ext cx="210820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2000" b="1">
                <a:solidFill>
                  <a:srgbClr val="0F2340"/>
                </a:solidFill>
                <a:latin typeface="Malgun Gothic"/>
                <a:ea typeface="Malgun Gothic"/>
              </a:rPr>
              <a:t>시</a:t>
            </a:r>
            <a:r>
              <a:rPr lang="ko-KR" sz="2000" b="1">
                <a:solidFill>
                  <a:srgbClr val="0F2340"/>
                </a:solidFill>
                <a:latin typeface="Malgun Gothic"/>
                <a:ea typeface="Malgun Gothic"/>
              </a:rPr>
              <a:t>·</a:t>
            </a:r>
            <a:r>
              <a:rPr lang="ko-KR" altLang="en-US" sz="2000" b="1">
                <a:solidFill>
                  <a:srgbClr val="0F2340"/>
                </a:solidFill>
                <a:latin typeface="Malgun Gothic"/>
                <a:ea typeface="Malgun Gothic"/>
              </a:rPr>
              <a:t>군</a:t>
            </a:r>
            <a:r>
              <a:rPr lang="ko-KR" sz="2000" b="1">
                <a:solidFill>
                  <a:srgbClr val="0F2340"/>
                </a:solidFill>
                <a:latin typeface="Malgun Gothic"/>
                <a:ea typeface="Malgun Gothic"/>
              </a:rPr>
              <a:t>·</a:t>
            </a:r>
            <a:r>
              <a:rPr lang="ko-KR" altLang="en-US" sz="2000" b="1">
                <a:solidFill>
                  <a:srgbClr val="0F2340"/>
                </a:solidFill>
                <a:latin typeface="Malgun Gothic"/>
                <a:ea typeface="Malgun Gothic"/>
              </a:rPr>
              <a:t>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0C20CE-7FE7-3201-C4B3-4DE6B14EFC70}"/>
              </a:ext>
            </a:extLst>
          </p:cNvPr>
          <p:cNvSpPr txBox="1"/>
          <p:nvPr/>
        </p:nvSpPr>
        <p:spPr>
          <a:xfrm>
            <a:off x="6004751" y="5036775"/>
            <a:ext cx="210820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1400">
                <a:solidFill>
                  <a:srgbClr val="64748B"/>
                </a:solidFill>
                <a:latin typeface="Malgun Gothic"/>
                <a:ea typeface="Malgun Gothic"/>
              </a:rPr>
              <a:t>세부 지역 분석</a:t>
            </a:r>
            <a:endParaRPr lang="ko-KR" altLang="en-US" sz="1400" dirty="0">
              <a:solidFill>
                <a:srgbClr val="64748B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왜 조달청 데이터인가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07040" cy="82484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500" b="1" dirty="0" err="1">
                <a:solidFill>
                  <a:srgbClr val="0F2340"/>
                </a:solidFill>
                <a:latin typeface="Malgun Gothic"/>
              </a:rPr>
              <a:t>입찰공고는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공공기관이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예산을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편성해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endParaRPr lang="ko-KR" altLang="en-US" sz="2500" b="1">
              <a:solidFill>
                <a:srgbClr val="0F2340"/>
              </a:solidFill>
              <a:latin typeface="Malgun Gothic"/>
            </a:endParaRPr>
          </a:p>
          <a:p>
            <a:pPr algn="l"/>
            <a:r>
              <a:rPr sz="2500" b="1">
                <a:solidFill>
                  <a:srgbClr val="0F2340"/>
                </a:solidFill>
                <a:latin typeface="Malgun Gothic"/>
              </a:rPr>
              <a:t>구매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의사를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공표한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수요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신호입니다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altLang="en-US" sz="2500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32007" y="2333445"/>
            <a:ext cx="4754880" cy="34544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49960" y="2362200"/>
            <a:ext cx="83312" cy="3434080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1288" y="2526792"/>
            <a:ext cx="443484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상권</a:t>
            </a:r>
            <a:r>
              <a:rPr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b="1" err="1">
                <a:solidFill>
                  <a:srgbClr val="0F2340"/>
                </a:solidFill>
                <a:latin typeface="Malgun Gothic"/>
              </a:rPr>
              <a:t>데이터</a:t>
            </a:r>
            <a:endParaRPr lang="ko-KR" altLang="en-US" b="1" err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61288" y="2987040"/>
            <a:ext cx="4434840" cy="91717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 dirty="0" err="1">
                <a:solidFill>
                  <a:srgbClr val="0F172A"/>
                </a:solidFill>
                <a:latin typeface="Malgun Gothic"/>
              </a:rPr>
              <a:t>소비자가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“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살 것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같다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”는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추정에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가깝습니다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.</a:t>
            </a:r>
            <a:br>
              <a:rPr sz="2400" dirty="0"/>
            </a:br>
            <a:br>
              <a:rPr sz="2400" dirty="0"/>
            </a:br>
            <a:r>
              <a:rPr sz="1600" b="0" dirty="0" err="1">
                <a:solidFill>
                  <a:srgbClr val="0F172A"/>
                </a:solidFill>
                <a:latin typeface="Malgun Gothic"/>
              </a:rPr>
              <a:t>민간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소비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흐름을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보는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데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강점이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있습니다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7800" y="2341880"/>
            <a:ext cx="4754880" cy="34544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36360" y="2362200"/>
            <a:ext cx="83312" cy="34340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47688" y="2526792"/>
            <a:ext cx="443484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입찰공고 데이터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987040"/>
            <a:ext cx="4434840" cy="116339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600" b="0" dirty="0" err="1">
                <a:solidFill>
                  <a:srgbClr val="0F172A"/>
                </a:solidFill>
                <a:latin typeface="Malgun Gothic"/>
              </a:rPr>
              <a:t>공공기관이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“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살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것이다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”라고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/>
          </a:p>
          <a:p>
            <a:pPr algn="l"/>
            <a:r>
              <a:rPr sz="1600" b="0" dirty="0" err="1">
                <a:solidFill>
                  <a:srgbClr val="0F172A"/>
                </a:solidFill>
                <a:latin typeface="Malgun Gothic"/>
              </a:rPr>
              <a:t>공표한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신호입니다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.</a:t>
            </a:r>
            <a:br>
              <a:rPr sz="2400" dirty="0"/>
            </a:br>
            <a:br>
              <a:rPr sz="2400" dirty="0"/>
            </a:b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발주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품목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차이를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볼 수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있습니다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.</a:t>
            </a:r>
            <a:endParaRPr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E434AE-0D44-6429-AA8F-09A02A355E5D}"/>
              </a:ext>
            </a:extLst>
          </p:cNvPr>
          <p:cNvSpPr txBox="1"/>
          <p:nvPr/>
        </p:nvSpPr>
        <p:spPr>
          <a:xfrm>
            <a:off x="1029207" y="5229352"/>
            <a:ext cx="47498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b="1">
                <a:solidFill>
                  <a:srgbClr val="0F2340"/>
                </a:solidFill>
                <a:latin typeface="Malgun Gothic"/>
                <a:ea typeface="Malgun Gothic"/>
              </a:rPr>
              <a:t>- BEFORE -</a:t>
            </a:r>
            <a:endParaRPr lang="ko-KR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B6B91C-7C09-6196-D218-00FF27CEC436}"/>
              </a:ext>
            </a:extLst>
          </p:cNvPr>
          <p:cNvSpPr txBox="1"/>
          <p:nvPr/>
        </p:nvSpPr>
        <p:spPr>
          <a:xfrm>
            <a:off x="6535926" y="5198872"/>
            <a:ext cx="47498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b="1">
                <a:solidFill>
                  <a:srgbClr val="0F2340"/>
                </a:solidFill>
                <a:latin typeface="Malgun Gothic"/>
                <a:ea typeface="Malgun Gothic"/>
              </a:rPr>
              <a:t>- AFTER -</a:t>
            </a:r>
            <a:endParaRPr lang="ko-KR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CF6B4905-16DF-109C-2A8C-3DDCB58C21DA}"/>
              </a:ext>
            </a:extLst>
          </p:cNvPr>
          <p:cNvSpPr/>
          <p:nvPr/>
        </p:nvSpPr>
        <p:spPr>
          <a:xfrm>
            <a:off x="1910080" y="4739640"/>
            <a:ext cx="8290560" cy="9144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데이터 결합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98480" cy="44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>
                <a:solidFill>
                  <a:srgbClr val="0F2340"/>
                </a:solidFill>
                <a:latin typeface="Malgun Gothic"/>
              </a:rPr>
              <a:t>공공수요 하나만으로는 입지를 판단하기 어렵습니다.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2606040" cy="19202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965960"/>
            <a:ext cx="73152" cy="19202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2130552"/>
            <a:ext cx="22860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800" b="1">
                <a:solidFill>
                  <a:srgbClr val="0F2340"/>
                </a:solidFill>
                <a:latin typeface="Malgun Gothic"/>
              </a:rPr>
              <a:t>조달청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40000"/>
            <a:ext cx="2286000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어떤 품목이</a:t>
            </a:r>
            <a:br>
              <a:rPr sz="16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얼마나 발주되는가</a:t>
            </a:r>
            <a:endParaRPr lang="ko-KR" altLang="en-US"/>
          </a:p>
        </p:txBody>
      </p:sp>
      <p:sp>
        <p:nvSpPr>
          <p:cNvPr id="11" name="Rounded Rectangle 10"/>
          <p:cNvSpPr/>
          <p:nvPr/>
        </p:nvSpPr>
        <p:spPr>
          <a:xfrm>
            <a:off x="3502152" y="1965960"/>
            <a:ext cx="2606040" cy="19202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02152" y="1965960"/>
            <a:ext cx="73152" cy="192024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3320" y="2130552"/>
            <a:ext cx="22860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800" b="1">
                <a:solidFill>
                  <a:srgbClr val="0F2340"/>
                </a:solidFill>
                <a:latin typeface="Malgun Gothic"/>
              </a:rPr>
              <a:t>행안부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540000"/>
            <a:ext cx="2286000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지역 인구 규모와</a:t>
            </a:r>
            <a:br>
              <a:rPr sz="16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소비층 구성</a:t>
            </a:r>
            <a:endParaRPr lang="ko-KR" altLang="en-US"/>
          </a:p>
        </p:txBody>
      </p:sp>
      <p:sp>
        <p:nvSpPr>
          <p:cNvPr id="15" name="Rounded Rectangle 14"/>
          <p:cNvSpPr/>
          <p:nvPr/>
        </p:nvSpPr>
        <p:spPr>
          <a:xfrm>
            <a:off x="6409944" y="1965960"/>
            <a:ext cx="2606040" cy="19202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9944" y="1965960"/>
            <a:ext cx="73152" cy="19202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11112" y="2130552"/>
            <a:ext cx="22860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800" b="1">
                <a:solidFill>
                  <a:srgbClr val="0F2340"/>
                </a:solidFill>
                <a:latin typeface="Malgun Gothic"/>
              </a:rPr>
              <a:t>소상공인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540000"/>
            <a:ext cx="2286000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업종별 점포 수와</a:t>
            </a:r>
            <a:br>
              <a:rPr sz="16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경쟁 포화도</a:t>
            </a:r>
            <a:endParaRPr lang="ko-KR" altLang="en-US"/>
          </a:p>
        </p:txBody>
      </p:sp>
      <p:sp>
        <p:nvSpPr>
          <p:cNvPr id="19" name="Rounded Rectangle 18"/>
          <p:cNvSpPr/>
          <p:nvPr/>
        </p:nvSpPr>
        <p:spPr>
          <a:xfrm>
            <a:off x="9317736" y="1965960"/>
            <a:ext cx="2606040" cy="19202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317736" y="1965960"/>
            <a:ext cx="73152" cy="192024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18904" y="2130552"/>
            <a:ext cx="22860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800" b="1">
                <a:solidFill>
                  <a:srgbClr val="0F2340"/>
                </a:solidFill>
                <a:latin typeface="Malgun Gothic"/>
              </a:rPr>
              <a:t>KOSIS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8904" y="2540000"/>
            <a:ext cx="2286000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업종별 생존율과</a:t>
            </a:r>
            <a:br>
              <a:rPr sz="16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진입 리스크</a:t>
            </a:r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70DF8D-2EB7-6AFA-3447-6907EB85BB25}"/>
              </a:ext>
            </a:extLst>
          </p:cNvPr>
          <p:cNvSpPr txBox="1"/>
          <p:nvPr/>
        </p:nvSpPr>
        <p:spPr>
          <a:xfrm>
            <a:off x="0" y="5004990"/>
            <a:ext cx="121920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     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4개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기관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데이터를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결합해야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b="1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기회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와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b="1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위험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을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구분할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수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있습니다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.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5B82A0A7-7BE2-63DE-A685-EAE216333E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40560" y="4861560"/>
            <a:ext cx="680720" cy="66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핵심 분석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15568"/>
            <a:ext cx="10607040" cy="44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 dirty="0" err="1">
                <a:solidFill>
                  <a:srgbClr val="0F2340"/>
                </a:solidFill>
                <a:latin typeface="Malgun Gothic"/>
              </a:rPr>
              <a:t>사용자는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지역을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고르고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,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서비스는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5가지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질문에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답합니다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246120" cy="18440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73152" cy="18440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0391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공공수요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499359"/>
            <a:ext cx="2926079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>
                <a:solidFill>
                  <a:srgbClr val="0F172A"/>
                </a:solidFill>
                <a:latin typeface="Malgun Gothic"/>
              </a:rPr>
              <a:t>이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 algn="l">
              <a:lnSpc>
                <a:spcPct val="150000"/>
              </a:lnSpc>
            </a:pPr>
            <a:r>
              <a:rPr sz="1600" b="1" dirty="0" err="1">
                <a:solidFill>
                  <a:srgbClr val="0F172A"/>
                </a:solidFill>
                <a:latin typeface="Malgun Gothic"/>
              </a:rPr>
              <a:t>실제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발주</a:t>
            </a:r>
            <a:r>
              <a:rPr sz="1600" b="1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있는가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?</a:t>
            </a:r>
            <a:endParaRPr dirty="0">
              <a:ea typeface="Calibri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26279" y="1874519"/>
            <a:ext cx="3246120" cy="18440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6279" y="1874519"/>
            <a:ext cx="73152" cy="184404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7" y="20391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소비층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7" y="2499359"/>
            <a:ext cx="2926079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품목과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인구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 algn="l">
              <a:lnSpc>
                <a:spcPct val="150000"/>
              </a:lnSpc>
            </a:pPr>
            <a:r>
              <a:rPr sz="1600" b="1" dirty="0" err="1">
                <a:solidFill>
                  <a:srgbClr val="0F172A"/>
                </a:solidFill>
                <a:latin typeface="Malgun Gothic"/>
              </a:rPr>
              <a:t>구조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맞는가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?</a:t>
            </a:r>
            <a:endParaRPr dirty="0">
              <a:ea typeface="Calibri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75319" y="1874519"/>
            <a:ext cx="3246120" cy="18440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5319" y="1874519"/>
            <a:ext cx="73152" cy="18440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6488" y="20391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경쟁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2499359"/>
            <a:ext cx="2926079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이미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경쟁이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>
              <a:cs typeface="Calibri"/>
            </a:endParaRPr>
          </a:p>
          <a:p>
            <a:pPr algn="l">
              <a:lnSpc>
                <a:spcPct val="150000"/>
              </a:lnSpc>
            </a:pPr>
            <a:r>
              <a:rPr sz="1600" b="1" dirty="0" err="1">
                <a:solidFill>
                  <a:srgbClr val="0F172A"/>
                </a:solidFill>
                <a:latin typeface="Malgun Gothic"/>
              </a:rPr>
              <a:t>과열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되어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있지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않은가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?</a:t>
            </a:r>
            <a:endParaRPr>
              <a:ea typeface="Calibri"/>
              <a:cs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616200" y="4216400"/>
            <a:ext cx="3246120" cy="18440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16200" y="4216400"/>
            <a:ext cx="73152" cy="184404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17368" y="438099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지역 비교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7368" y="4841239"/>
            <a:ext cx="2926079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인근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Malgun Gothic"/>
              </a:rPr>
              <a:t>구조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 algn="l"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어떻게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다른가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?</a:t>
            </a:r>
            <a:endParaRPr dirty="0">
              <a:ea typeface="Calibri"/>
              <a:cs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365239" y="4216400"/>
            <a:ext cx="3246120" cy="18440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65239" y="4216400"/>
            <a:ext cx="73152" cy="1844040"/>
          </a:xfrm>
          <a:prstGeom prst="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6407" y="438099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af-ZA" b="1">
                <a:solidFill>
                  <a:srgbClr val="0F2340"/>
                </a:solidFill>
                <a:latin typeface="Malgun Gothic"/>
                <a:ea typeface="맑은 고딕"/>
              </a:rPr>
              <a:t>물류 거점</a:t>
            </a:r>
            <a:endParaRPr lang="ko-KR" altLang="af-ZA" b="1">
              <a:solidFill>
                <a:srgbClr val="0F2340"/>
              </a:solidFill>
              <a:latin typeface="맑은 고딕"/>
              <a:ea typeface="맑은 고딕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6407" y="4841239"/>
            <a:ext cx="2926079" cy="74642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>
                <a:solidFill>
                  <a:srgbClr val="0F172A"/>
                </a:solidFill>
                <a:latin typeface="Malgun Gothic"/>
                <a:ea typeface="Malgun Gothic"/>
              </a:rPr>
              <a:t>이 지역이 </a:t>
            </a:r>
            <a:endParaRPr lang="ko-KR" sz="1600" dirty="0">
              <a:solidFill>
                <a:srgbClr val="0F172A"/>
              </a:solidFill>
              <a:latin typeface="Malgun Gothic"/>
              <a:ea typeface="Malgun Gothic"/>
            </a:endParaRPr>
          </a:p>
          <a:p>
            <a:pPr>
              <a:lnSpc>
                <a:spcPct val="150000"/>
              </a:lnSpc>
            </a:pPr>
            <a:r>
              <a:rPr lang="ko-KR" altLang="en-US" sz="1600" b="1">
                <a:solidFill>
                  <a:srgbClr val="0F172A"/>
                </a:solidFill>
                <a:latin typeface="Malgun Gothic"/>
                <a:ea typeface="Malgun Gothic"/>
              </a:rPr>
              <a:t>거점 후보</a:t>
            </a:r>
            <a:r>
              <a:rPr lang="ko-KR" altLang="en-US" sz="1600">
                <a:solidFill>
                  <a:srgbClr val="0F172A"/>
                </a:solidFill>
                <a:latin typeface="Malgun Gothic"/>
                <a:ea typeface="Malgun Gothic"/>
              </a:rPr>
              <a:t>가 될 수 있는가?</a:t>
            </a:r>
            <a:endParaRPr lang="ko-KR" sz="1600" b="0">
              <a:solidFill>
                <a:srgbClr val="0F172A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0">
            <a:extLst>
              <a:ext uri="{FF2B5EF4-FFF2-40B4-BE49-F238E27FC236}">
                <a16:creationId xmlns:a16="http://schemas.microsoft.com/office/drawing/2014/main" id="{24956D8E-61FF-BBD7-BCB9-FA1C76DC53F4}"/>
              </a:ext>
            </a:extLst>
          </p:cNvPr>
          <p:cNvSpPr/>
          <p:nvPr/>
        </p:nvSpPr>
        <p:spPr>
          <a:xfrm>
            <a:off x="3491992" y="5979160"/>
            <a:ext cx="5196840" cy="7518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데모 1 — 전국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E5C7D3-CFD6-D2B2-06B4-D42BBC4AB695}"/>
              </a:ext>
            </a:extLst>
          </p:cNvPr>
          <p:cNvSpPr txBox="1"/>
          <p:nvPr/>
        </p:nvSpPr>
        <p:spPr>
          <a:xfrm>
            <a:off x="0" y="6047815"/>
            <a:ext cx="12192000" cy="6309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>
                <a:solidFill>
                  <a:schemeClr val="tx2"/>
                </a:solidFill>
                <a:latin typeface="Calibri"/>
                <a:ea typeface="Malgun Gothic"/>
                <a:cs typeface="Calibri"/>
              </a:rPr>
              <a:t>전국 </a:t>
            </a:r>
            <a:r>
              <a:rPr lang="en-US" altLang="ko-KR" sz="1400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17</a:t>
            </a:r>
            <a:r>
              <a:rPr lang="ko-KR" altLang="en-US" sz="1400" i="0">
                <a:solidFill>
                  <a:schemeClr val="tx2"/>
                </a:solidFill>
                <a:latin typeface="Calibri"/>
                <a:ea typeface="Malgun Gothic"/>
                <a:cs typeface="Calibri"/>
              </a:rPr>
              <a:t>개 </a:t>
            </a:r>
            <a:r>
              <a:rPr lang="ko-KR" altLang="en-US" sz="1400">
                <a:solidFill>
                  <a:schemeClr val="tx2"/>
                </a:solidFill>
                <a:latin typeface="Calibri"/>
                <a:ea typeface="Malgun Gothic"/>
                <a:cs typeface="Calibri"/>
              </a:rPr>
              <a:t>시도 </a:t>
            </a:r>
            <a:r>
              <a:rPr lang="ko-KR" altLang="en-US" sz="1400" b="1">
                <a:solidFill>
                  <a:schemeClr val="tx2"/>
                </a:solidFill>
                <a:latin typeface="Calibri"/>
                <a:ea typeface="Malgun Gothic"/>
                <a:cs typeface="Calibri"/>
              </a:rPr>
              <a:t>보정점수</a:t>
            </a:r>
            <a:r>
              <a:rPr lang="ko-KR" altLang="en-US" sz="1400">
                <a:solidFill>
                  <a:schemeClr val="tx2"/>
                </a:solidFill>
                <a:latin typeface="Calibri"/>
                <a:ea typeface="Malgun Gothic"/>
                <a:cs typeface="Calibri"/>
              </a:rPr>
              <a:t> 분포 </a:t>
            </a:r>
            <a:endParaRPr lang="ko-KR" altLang="en-US" sz="1400">
              <a:solidFill>
                <a:schemeClr val="tx2"/>
              </a:solidFill>
              <a:latin typeface="Calibri"/>
              <a:ea typeface="Calibri"/>
              <a:cs typeface="Calibri"/>
            </a:endParaRPr>
          </a:p>
          <a:p>
            <a:pPr algn="ctr"/>
            <a:r>
              <a:rPr lang="ko-KR" altLang="en-US" sz="1400">
                <a:solidFill>
                  <a:schemeClr val="tx2"/>
                </a:solidFill>
                <a:latin typeface="Calibri"/>
                <a:ea typeface="Malgun Gothic"/>
                <a:cs typeface="Calibri"/>
              </a:rPr>
              <a:t> 부산에서 입지를 찾는 상황으로 따라가겠습니다</a:t>
            </a:r>
            <a:r>
              <a:rPr lang="en-US" altLang="ko-KR" sz="1400" i="0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.</a:t>
            </a:r>
            <a:endParaRPr lang="ko-KR" altLang="en-US" sz="1400">
              <a:solidFill>
                <a:schemeClr val="tx2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" name="그림 15" descr="텍스트, 지도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1EFD47-0B42-C708-F3CB-A31ADA3011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" t="-300" r="45" b="2083"/>
          <a:stretch>
            <a:fillRect/>
          </a:stretch>
        </p:blipFill>
        <p:spPr>
          <a:xfrm>
            <a:off x="502920" y="974344"/>
            <a:ext cx="11257288" cy="4914958"/>
          </a:xfrm>
          <a:prstGeom prst="rect">
            <a:avLst/>
          </a:prstGeom>
        </p:spPr>
      </p:pic>
      <p:pic>
        <p:nvPicPr>
          <p:cNvPr id="17" name="그림 16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56E988-5850-743B-3AD5-4E3B2C1FB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25" y="3515360"/>
            <a:ext cx="1840230" cy="2936240"/>
          </a:xfrm>
          <a:prstGeom prst="rect">
            <a:avLst/>
          </a:prstGeom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EECE2F3-D98E-16D8-60D4-01A8D8C4BDA1}"/>
              </a:ext>
            </a:extLst>
          </p:cNvPr>
          <p:cNvSpPr/>
          <p:nvPr/>
        </p:nvSpPr>
        <p:spPr>
          <a:xfrm>
            <a:off x="822960" y="4180840"/>
            <a:ext cx="1838960" cy="426720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데모 2 — 부산 진입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78992"/>
            <a:ext cx="539496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① 부산 선택 후 자치구 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78992"/>
            <a:ext cx="539496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② 해운대구 선택 후 상세 지표</a:t>
            </a:r>
          </a:p>
        </p:txBody>
      </p:sp>
      <p:sp>
        <p:nvSpPr>
          <p:cNvPr id="14" name="Rounded Rectangle 10">
            <a:extLst>
              <a:ext uri="{FF2B5EF4-FFF2-40B4-BE49-F238E27FC236}">
                <a16:creationId xmlns:a16="http://schemas.microsoft.com/office/drawing/2014/main" id="{EBF852E1-DB45-FF72-4034-50BE902901D1}"/>
              </a:ext>
            </a:extLst>
          </p:cNvPr>
          <p:cNvSpPr/>
          <p:nvPr/>
        </p:nvSpPr>
        <p:spPr>
          <a:xfrm>
            <a:off x="3491992" y="5979160"/>
            <a:ext cx="5196840" cy="7518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050280"/>
            <a:ext cx="10972800" cy="5940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dirty="0" err="1">
                <a:solidFill>
                  <a:schemeClr val="tx2"/>
                </a:solidFill>
                <a:latin typeface="Malgun Gothic"/>
              </a:rPr>
              <a:t>부산을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dirty="0" err="1">
                <a:solidFill>
                  <a:schemeClr val="tx2"/>
                </a:solidFill>
                <a:latin typeface="Malgun Gothic"/>
              </a:rPr>
              <a:t>선택하면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chemeClr val="tx2"/>
                </a:solidFill>
                <a:latin typeface="Malgun Gothic"/>
              </a:rPr>
              <a:t>자치구별</a:t>
            </a:r>
            <a:r>
              <a:rPr sz="1400" b="1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chemeClr val="tx2"/>
                </a:solidFill>
                <a:latin typeface="Malgun Gothic"/>
              </a:rPr>
              <a:t>수요</a:t>
            </a:r>
            <a:r>
              <a:rPr sz="1400" dirty="0" err="1">
                <a:solidFill>
                  <a:schemeClr val="tx2"/>
                </a:solidFill>
                <a:latin typeface="Malgun Gothic"/>
              </a:rPr>
              <a:t>가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dirty="0" err="1">
                <a:solidFill>
                  <a:schemeClr val="tx2"/>
                </a:solidFill>
                <a:latin typeface="Malgun Gothic"/>
              </a:rPr>
              <a:t>나뉘고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, </a:t>
            </a:r>
            <a:endParaRPr lang="ko-KR" altLang="en-US" sz="1400">
              <a:solidFill>
                <a:schemeClr val="tx2"/>
              </a:solidFill>
              <a:latin typeface="Malgun Gothic"/>
              <a:ea typeface="맑은 고딕"/>
            </a:endParaRPr>
          </a:p>
          <a:p>
            <a:pPr algn="ctr"/>
            <a:r>
              <a:rPr sz="1400" b="1">
                <a:solidFill>
                  <a:schemeClr val="tx2"/>
                </a:solidFill>
                <a:latin typeface="Malgun Gothic"/>
              </a:rPr>
              <a:t>특정</a:t>
            </a:r>
            <a:r>
              <a:rPr sz="1400" b="1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err="1">
                <a:solidFill>
                  <a:schemeClr val="tx2"/>
                </a:solidFill>
                <a:latin typeface="Malgun Gothic"/>
              </a:rPr>
              <a:t>구</a:t>
            </a:r>
            <a:r>
              <a:rPr sz="1400" err="1">
                <a:solidFill>
                  <a:schemeClr val="tx2"/>
                </a:solidFill>
                <a:latin typeface="Malgun Gothic"/>
              </a:rPr>
              <a:t>를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err="1">
                <a:solidFill>
                  <a:schemeClr val="tx2"/>
                </a:solidFill>
                <a:latin typeface="Malgun Gothic"/>
              </a:rPr>
              <a:t>선택하면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err="1">
                <a:solidFill>
                  <a:schemeClr val="tx2"/>
                </a:solidFill>
                <a:latin typeface="Malgun Gothic"/>
              </a:rPr>
              <a:t>상세</a:t>
            </a:r>
            <a:r>
              <a:rPr sz="1400" b="1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err="1">
                <a:solidFill>
                  <a:schemeClr val="tx2"/>
                </a:solidFill>
                <a:latin typeface="Malgun Gothic"/>
              </a:rPr>
              <a:t>지표</a:t>
            </a:r>
            <a:r>
              <a:rPr sz="1400" err="1">
                <a:solidFill>
                  <a:schemeClr val="tx2"/>
                </a:solidFill>
                <a:latin typeface="Malgun Gothic"/>
              </a:rPr>
              <a:t>로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err="1">
                <a:solidFill>
                  <a:schemeClr val="tx2"/>
                </a:solidFill>
                <a:latin typeface="Malgun Gothic"/>
              </a:rPr>
              <a:t>이어집니다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.</a:t>
            </a:r>
            <a:endParaRPr lang="ko-KR" altLang="en-US" sz="1400">
              <a:solidFill>
                <a:schemeClr val="tx2"/>
              </a:solidFill>
              <a:latin typeface="Malgun Gothic"/>
              <a:ea typeface="Malgun Gothic"/>
            </a:endParaRPr>
          </a:p>
        </p:txBody>
      </p:sp>
      <p:pic>
        <p:nvPicPr>
          <p:cNvPr id="15" name="그림 14" descr="텍스트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F1D65B-907F-7E54-4DC6-D609D3EC1F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76" r="1449" b="21407"/>
          <a:stretch>
            <a:fillRect/>
          </a:stretch>
        </p:blipFill>
        <p:spPr>
          <a:xfrm>
            <a:off x="487680" y="1298825"/>
            <a:ext cx="5733876" cy="3142483"/>
          </a:xfrm>
          <a:prstGeom prst="rect">
            <a:avLst/>
          </a:prstGeom>
        </p:spPr>
      </p:pic>
      <p:pic>
        <p:nvPicPr>
          <p:cNvPr id="16" name="그림 15" descr="텍스트, 스크린샷, 도표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9C112CD-59BD-AEF3-14B8-DB1698E910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" t="86" r="46" b="21613"/>
          <a:stretch>
            <a:fillRect/>
          </a:stretch>
        </p:blipFill>
        <p:spPr>
          <a:xfrm>
            <a:off x="6614160" y="1302512"/>
            <a:ext cx="4993652" cy="3032433"/>
          </a:xfrm>
          <a:prstGeom prst="rect">
            <a:avLst/>
          </a:prstGeom>
        </p:spPr>
      </p:pic>
      <p:pic>
        <p:nvPicPr>
          <p:cNvPr id="18" name="그림 17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75145B-9680-EE86-A9B5-7566DBD466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493" r="-247" b="-1042"/>
          <a:stretch>
            <a:fillRect/>
          </a:stretch>
        </p:blipFill>
        <p:spPr>
          <a:xfrm>
            <a:off x="499110" y="4440555"/>
            <a:ext cx="5599454" cy="1211021"/>
          </a:xfrm>
          <a:prstGeom prst="rect">
            <a:avLst/>
          </a:prstGeom>
        </p:spPr>
      </p:pic>
      <p:pic>
        <p:nvPicPr>
          <p:cNvPr id="19" name="그림 18" descr="텍스트, 스크린샷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25D62D-5E25-457E-072D-C5B95B91B3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3502" y="4344035"/>
            <a:ext cx="5258435" cy="1217930"/>
          </a:xfrm>
          <a:prstGeom prst="rect">
            <a:avLst/>
          </a:prstGeom>
        </p:spPr>
      </p:pic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C524A42D-30A4-01F8-CF1D-F135649E7C79}"/>
              </a:ext>
            </a:extLst>
          </p:cNvPr>
          <p:cNvSpPr/>
          <p:nvPr/>
        </p:nvSpPr>
        <p:spPr>
          <a:xfrm>
            <a:off x="6124956" y="3146044"/>
            <a:ext cx="470408" cy="565912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10">
            <a:extLst>
              <a:ext uri="{FF2B5EF4-FFF2-40B4-BE49-F238E27FC236}">
                <a16:creationId xmlns:a16="http://schemas.microsoft.com/office/drawing/2014/main" id="{FAE3A322-FF7D-E7C4-0E46-A5AD13551EEF}"/>
              </a:ext>
            </a:extLst>
          </p:cNvPr>
          <p:cNvSpPr/>
          <p:nvPr/>
        </p:nvSpPr>
        <p:spPr>
          <a:xfrm>
            <a:off x="3491992" y="5979160"/>
            <a:ext cx="5196840" cy="7518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데모 3 — 해운대구 품목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09_지역분석_해운대구_급식식자재.png"/>
          <p:cNvPicPr>
            <a:picLocks noChangeAspect="1"/>
          </p:cNvPicPr>
          <p:nvPr/>
        </p:nvPicPr>
        <p:blipFill>
          <a:blip r:embed="rId2"/>
          <a:srcRect l="89" r="357" b="9725"/>
          <a:stretch>
            <a:fillRect/>
          </a:stretch>
        </p:blipFill>
        <p:spPr>
          <a:xfrm>
            <a:off x="502920" y="1129991"/>
            <a:ext cx="11262387" cy="461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95040" y="6223000"/>
            <a:ext cx="519176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sz="140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해운대구 </a:t>
            </a:r>
            <a:r>
              <a:rPr lang="ko-KR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급식</a:t>
            </a:r>
            <a:r>
              <a:rPr lang="en-US" altLang="ko-KR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·</a:t>
            </a:r>
            <a:r>
              <a:rPr lang="ko-KR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식자재</a:t>
            </a:r>
            <a:r>
              <a:rPr lang="ko-KR" sz="140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— 공고 </a:t>
            </a:r>
            <a:r>
              <a:rPr lang="en-US" altLang="ko-KR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62</a:t>
            </a:r>
            <a:r>
              <a:rPr lang="ko-KR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건</a:t>
            </a:r>
            <a:r>
              <a:rPr lang="ko-KR" alt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altLang="ko-KR" sz="140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·</a:t>
            </a:r>
            <a:r>
              <a:rPr lang="ko-KR" alt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ko-KR" sz="140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총 발주금액 </a:t>
            </a:r>
            <a:r>
              <a:rPr lang="ko-KR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약 </a:t>
            </a:r>
            <a:r>
              <a:rPr lang="en-US" altLang="ko-KR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21</a:t>
            </a:r>
            <a:r>
              <a:rPr lang="ko-KR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억 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데모 4 — 자치구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11_자치구비교_해운대vs동래_AI해석.png"/>
          <p:cNvPicPr>
            <a:picLocks noChangeAspect="1"/>
          </p:cNvPicPr>
          <p:nvPr/>
        </p:nvPicPr>
        <p:blipFill>
          <a:blip r:embed="rId2"/>
          <a:srcRect l="-24" r="590" b="204"/>
          <a:stretch>
            <a:fillRect/>
          </a:stretch>
        </p:blipFill>
        <p:spPr>
          <a:xfrm>
            <a:off x="502920" y="1153160"/>
            <a:ext cx="11267335" cy="4739654"/>
          </a:xfrm>
          <a:prstGeom prst="rect">
            <a:avLst/>
          </a:prstGeom>
        </p:spPr>
      </p:pic>
      <p:sp>
        <p:nvSpPr>
          <p:cNvPr id="10" name="Rounded Rectangle 10">
            <a:extLst>
              <a:ext uri="{FF2B5EF4-FFF2-40B4-BE49-F238E27FC236}">
                <a16:creationId xmlns:a16="http://schemas.microsoft.com/office/drawing/2014/main" id="{8CCE2605-F770-6B73-DB96-8350BFA59B35}"/>
              </a:ext>
            </a:extLst>
          </p:cNvPr>
          <p:cNvSpPr/>
          <p:nvPr/>
        </p:nvSpPr>
        <p:spPr>
          <a:xfrm>
            <a:off x="3491992" y="5979160"/>
            <a:ext cx="5196840" cy="7518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EBE175-6FEC-1BD3-BA51-ED02A6368E1F}"/>
              </a:ext>
            </a:extLst>
          </p:cNvPr>
          <p:cNvSpPr txBox="1"/>
          <p:nvPr/>
        </p:nvSpPr>
        <p:spPr>
          <a:xfrm>
            <a:off x="3495040" y="6223000"/>
            <a:ext cx="519176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altLang="ko-KR" sz="1400" b="1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같은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altLang="ko-KR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부산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, </a:t>
            </a:r>
            <a:r>
              <a:rPr lang="en-US" altLang="ko-KR" sz="1400" b="1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가까운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두 </a:t>
            </a:r>
            <a:r>
              <a:rPr lang="en-US" altLang="ko-KR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지역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ㅡ </a:t>
            </a:r>
            <a:r>
              <a:rPr lang="en-US" altLang="ko-KR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수요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altLang="ko-KR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구조는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altLang="ko-KR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완전히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altLang="ko-KR" sz="1400" b="1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다릅니다</a:t>
            </a:r>
            <a:r>
              <a:rPr lang="en-US" altLang="ko-KR" sz="1400" b="1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.</a:t>
            </a:r>
            <a:endParaRPr lang="en-US" altLang="ko-KR" sz="1400" b="1" dirty="0">
              <a:solidFill>
                <a:schemeClr val="tx2"/>
              </a:solidFill>
              <a:latin typeface="Malgun Gothic"/>
              <a:ea typeface="Malgun Gothic"/>
              <a:cs typeface="Calibri"/>
            </a:endParaRPr>
          </a:p>
          <a:p>
            <a:pPr algn="ctr"/>
            <a:endParaRPr lang="en-US" altLang="ko-KR" sz="1400" b="1" dirty="0">
              <a:solidFill>
                <a:schemeClr val="tx2"/>
              </a:solidFill>
              <a:latin typeface="Malgun Gothic"/>
              <a:ea typeface="Malgun Gothic"/>
              <a:cs typeface="+mn-lt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796D1D8-0725-751A-9605-09C56F5581AF}"/>
              </a:ext>
            </a:extLst>
          </p:cNvPr>
          <p:cNvSpPr/>
          <p:nvPr/>
        </p:nvSpPr>
        <p:spPr>
          <a:xfrm>
            <a:off x="833120" y="4790440"/>
            <a:ext cx="1584960" cy="365760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400" b="1" err="1">
                <a:solidFill>
                  <a:srgbClr val="0F2340"/>
                </a:solidFill>
                <a:latin typeface="Malgun Gothic"/>
              </a:rPr>
              <a:t>데모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lang="en-US" sz="2400" b="1" dirty="0">
                <a:solidFill>
                  <a:srgbClr val="0F2340"/>
                </a:solidFill>
                <a:latin typeface="Malgun Gothic"/>
              </a:rPr>
              <a:t>5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 — </a:t>
            </a:r>
            <a:r>
              <a:rPr lang="ko-KR" sz="2400" b="1">
                <a:solidFill>
                  <a:srgbClr val="0F2340"/>
                </a:solidFill>
                <a:latin typeface="Malgun Gothic"/>
                <a:ea typeface="Malgun Gothic"/>
              </a:rPr>
              <a:t>물류 거점 </a:t>
            </a:r>
            <a:r>
              <a:rPr lang="ko-KR" altLang="en-US" sz="2400" b="1">
                <a:solidFill>
                  <a:srgbClr val="0F2340"/>
                </a:solidFill>
                <a:latin typeface="Malgun Gothic"/>
                <a:ea typeface="Malgun Gothic"/>
              </a:rPr>
              <a:t>분석</a:t>
            </a:r>
            <a:endParaRPr lang="ko-KR" sz="2400" b="1" dirty="0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10">
            <a:extLst>
              <a:ext uri="{FF2B5EF4-FFF2-40B4-BE49-F238E27FC236}">
                <a16:creationId xmlns:a16="http://schemas.microsoft.com/office/drawing/2014/main" id="{8EFA2991-BA3A-E1C6-78C6-FD98D7221949}"/>
              </a:ext>
            </a:extLst>
          </p:cNvPr>
          <p:cNvSpPr/>
          <p:nvPr/>
        </p:nvSpPr>
        <p:spPr>
          <a:xfrm>
            <a:off x="3491992" y="5979160"/>
            <a:ext cx="5196840" cy="7518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FBD4C0-C519-FBF4-FF9D-70D923FB8F47}"/>
              </a:ext>
            </a:extLst>
          </p:cNvPr>
          <p:cNvSpPr txBox="1"/>
          <p:nvPr/>
        </p:nvSpPr>
        <p:spPr>
          <a:xfrm>
            <a:off x="3495040" y="6222752"/>
            <a:ext cx="519176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altLang="ko-KR" sz="1400" dirty="0" err="1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수요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 </a:t>
            </a:r>
            <a:r>
              <a:rPr lang="en-US" altLang="ko-KR" sz="1400" dirty="0" err="1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분포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 </a:t>
            </a:r>
            <a:r>
              <a:rPr lang="en-US" altLang="ko-KR" sz="1400" dirty="0" err="1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기반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 1·2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·3</a:t>
            </a:r>
            <a:r>
              <a:rPr lang="ko-KR" altLang="en-US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티어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 </a:t>
            </a:r>
            <a:r>
              <a:rPr lang="en-US" sz="1400" b="1" dirty="0" err="1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거점</a:t>
            </a:r>
            <a:r>
              <a:rPr lang="en-US" sz="1400" b="1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 </a:t>
            </a:r>
            <a:r>
              <a:rPr lang="en-US" sz="1400" b="1" dirty="0" err="1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후보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를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 </a:t>
            </a:r>
            <a:r>
              <a:rPr lang="ko-KR" altLang="en-US" sz="1400" b="1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자동</a:t>
            </a:r>
            <a:r>
              <a:rPr lang="ko-KR" altLang="en-US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으로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 </a:t>
            </a:r>
            <a:r>
              <a:rPr lang="ko-KR" altLang="en-US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제안합니다</a:t>
            </a:r>
            <a:r>
              <a:rPr lang="en-US" altLang="ko-KR" sz="1400" dirty="0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.</a:t>
            </a:r>
            <a:endParaRPr lang="ko-KR" altLang="en-US" sz="1400" dirty="0">
              <a:solidFill>
                <a:schemeClr val="tx2"/>
              </a:solidFill>
              <a:latin typeface="Malgun Gothic"/>
              <a:ea typeface="Malgun Gothic"/>
              <a:cs typeface="Calibri"/>
            </a:endParaRPr>
          </a:p>
        </p:txBody>
      </p:sp>
      <p:pic>
        <p:nvPicPr>
          <p:cNvPr id="3" name="그림 2" descr="텍스트, 스크린샷, 디스플레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41DA31-585A-65D5-113F-E0E62458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" r="382" b="25100"/>
          <a:stretch>
            <a:fillRect/>
          </a:stretch>
        </p:blipFill>
        <p:spPr>
          <a:xfrm>
            <a:off x="1431073" y="1216887"/>
            <a:ext cx="9351034" cy="2827999"/>
          </a:xfrm>
          <a:prstGeom prst="rect">
            <a:avLst/>
          </a:prstGeom>
        </p:spPr>
      </p:pic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1119A5-9006-2B59-0703-8DACA4A2A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15" y="4041899"/>
            <a:ext cx="10705172" cy="1933714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625945D-0A23-7882-2FEE-5C099BEC6351}"/>
              </a:ext>
            </a:extLst>
          </p:cNvPr>
          <p:cNvSpPr/>
          <p:nvPr/>
        </p:nvSpPr>
        <p:spPr>
          <a:xfrm>
            <a:off x="740193" y="4037733"/>
            <a:ext cx="2765130" cy="89544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1897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 dirty="0" err="1">
                <a:solidFill>
                  <a:srgbClr val="0F2340"/>
                </a:solidFill>
                <a:latin typeface="Malgun Gothic"/>
              </a:rPr>
              <a:t>데모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lang="en-US" sz="2400" b="1" dirty="0">
                <a:solidFill>
                  <a:srgbClr val="0F2340"/>
                </a:solidFill>
                <a:latin typeface="Malgun Gothic"/>
              </a:rPr>
              <a:t>6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— AI </a:t>
            </a:r>
            <a:r>
              <a:rPr sz="2400" b="1" dirty="0" err="1">
                <a:solidFill>
                  <a:srgbClr val="0F2340"/>
                </a:solidFill>
                <a:latin typeface="Malgun Gothic"/>
              </a:rPr>
              <a:t>해석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 dirty="0" err="1">
                <a:solidFill>
                  <a:srgbClr val="0F2340"/>
                </a:solidFill>
                <a:latin typeface="Malgun Gothic"/>
              </a:rPr>
              <a:t>결과</a:t>
            </a:r>
            <a:endParaRPr lang="ko-KR" altLang="en-US" sz="2400" b="1" dirty="0" err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10c_AI경쟁구조해석_진입검토.png"/>
          <p:cNvPicPr>
            <a:picLocks noChangeAspect="1"/>
          </p:cNvPicPr>
          <p:nvPr/>
        </p:nvPicPr>
        <p:blipFill>
          <a:blip r:embed="rId2"/>
          <a:srcRect l="90" t="1168" r="541"/>
          <a:stretch>
            <a:fillRect/>
          </a:stretch>
        </p:blipFill>
        <p:spPr>
          <a:xfrm>
            <a:off x="502920" y="1252750"/>
            <a:ext cx="11201444" cy="4367752"/>
          </a:xfrm>
          <a:prstGeom prst="rect">
            <a:avLst/>
          </a:prstGeom>
        </p:spPr>
      </p:pic>
      <p:sp>
        <p:nvSpPr>
          <p:cNvPr id="10" name="Rounded Rectangle 10">
            <a:extLst>
              <a:ext uri="{FF2B5EF4-FFF2-40B4-BE49-F238E27FC236}">
                <a16:creationId xmlns:a16="http://schemas.microsoft.com/office/drawing/2014/main" id="{8EFA2991-BA3A-E1C6-78C6-FD98D7221949}"/>
              </a:ext>
            </a:extLst>
          </p:cNvPr>
          <p:cNvSpPr/>
          <p:nvPr/>
        </p:nvSpPr>
        <p:spPr>
          <a:xfrm>
            <a:off x="3491992" y="5979160"/>
            <a:ext cx="5196840" cy="7518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FBD4C0-C519-FBF4-FF9D-70D923FB8F47}"/>
              </a:ext>
            </a:extLst>
          </p:cNvPr>
          <p:cNvSpPr txBox="1"/>
          <p:nvPr/>
        </p:nvSpPr>
        <p:spPr>
          <a:xfrm>
            <a:off x="3495040" y="6111240"/>
            <a:ext cx="519176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sz="1400" b="1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AI </a:t>
            </a:r>
            <a:r>
              <a:rPr lang="en-US" sz="1400" b="1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해석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은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최종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판단이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아니라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수치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지표를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읽기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쉬운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문장으로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endParaRPr lang="ko-KR" altLang="en-US" sz="1400" dirty="0">
              <a:solidFill>
                <a:schemeClr val="tx2"/>
              </a:solidFill>
              <a:latin typeface="Calibri"/>
              <a:ea typeface="맑은 고딕" panose="020B0503020000020004" pitchFamily="34" charset="-127"/>
              <a:cs typeface="+mn-lt"/>
            </a:endParaRPr>
          </a:p>
          <a:p>
            <a:pPr algn="ctr"/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바꾸는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b="1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보조</a:t>
            </a:r>
            <a:r>
              <a:rPr lang="en-US" sz="1400" b="1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 </a:t>
            </a:r>
            <a:r>
              <a:rPr lang="en-US" sz="1400" b="1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기능</a:t>
            </a:r>
            <a:r>
              <a:rPr lang="en-US" sz="1400" dirty="0" err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입니다</a:t>
            </a:r>
            <a:r>
              <a:rPr lang="en-US" sz="1400" dirty="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.</a:t>
            </a:r>
            <a:endParaRPr lang="ko-KR" sz="1400" dirty="0">
              <a:solidFill>
                <a:schemeClr val="tx2"/>
              </a:solidFill>
              <a:ea typeface="맑은 고딕"/>
              <a:cs typeface="Calibri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5C91CF0-18CE-02F1-DB67-4EAB556D9CF7}"/>
              </a:ext>
            </a:extLst>
          </p:cNvPr>
          <p:cNvSpPr/>
          <p:nvPr/>
        </p:nvSpPr>
        <p:spPr>
          <a:xfrm>
            <a:off x="902753" y="4759093"/>
            <a:ext cx="10588330" cy="85480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0B1DA32-5BBC-64B1-DCE2-EA2927ACD040}"/>
              </a:ext>
            </a:extLst>
          </p:cNvPr>
          <p:cNvSpPr/>
          <p:nvPr/>
        </p:nvSpPr>
        <p:spPr>
          <a:xfrm>
            <a:off x="902752" y="1609493"/>
            <a:ext cx="6910410" cy="101736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0">
            <a:extLst>
              <a:ext uri="{FF2B5EF4-FFF2-40B4-BE49-F238E27FC236}">
                <a16:creationId xmlns:a16="http://schemas.microsoft.com/office/drawing/2014/main" id="{937123AA-AA7C-82C2-0625-2B9485C490A3}"/>
              </a:ext>
            </a:extLst>
          </p:cNvPr>
          <p:cNvSpPr/>
          <p:nvPr/>
        </p:nvSpPr>
        <p:spPr>
          <a:xfrm>
            <a:off x="777367" y="5274310"/>
            <a:ext cx="4577715" cy="10566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10">
            <a:extLst>
              <a:ext uri="{FF2B5EF4-FFF2-40B4-BE49-F238E27FC236}">
                <a16:creationId xmlns:a16="http://schemas.microsoft.com/office/drawing/2014/main" id="{41D2EFC5-8473-96DF-6AC2-6F7449BB400A}"/>
              </a:ext>
            </a:extLst>
          </p:cNvPr>
          <p:cNvSpPr/>
          <p:nvPr/>
        </p:nvSpPr>
        <p:spPr>
          <a:xfrm>
            <a:off x="6844791" y="5274309"/>
            <a:ext cx="4634865" cy="10566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AI 해석 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5394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>
                <a:solidFill>
                  <a:srgbClr val="0F2340"/>
                </a:solidFill>
                <a:latin typeface="Malgun Gothic"/>
              </a:rPr>
              <a:t>정량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51560"/>
            <a:ext cx="5394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>
                <a:solidFill>
                  <a:srgbClr val="0F2340"/>
                </a:solidFill>
                <a:latin typeface="Malgun Gothic"/>
              </a:rPr>
              <a:t>AI 해석 문장</a:t>
            </a:r>
          </a:p>
        </p:txBody>
      </p:sp>
      <p:pic>
        <p:nvPicPr>
          <p:cNvPr id="9" name="Picture 8" descr="S09_지역분석_해운대구_급식식자재.png"/>
          <p:cNvPicPr>
            <a:picLocks noChangeAspect="1"/>
          </p:cNvPicPr>
          <p:nvPr/>
        </p:nvPicPr>
        <p:blipFill>
          <a:blip r:embed="rId2"/>
          <a:srcRect l="183" b="10044"/>
          <a:stretch>
            <a:fillRect/>
          </a:stretch>
        </p:blipFill>
        <p:spPr>
          <a:xfrm>
            <a:off x="502920" y="1900016"/>
            <a:ext cx="5400055" cy="2212773"/>
          </a:xfrm>
          <a:prstGeom prst="rect">
            <a:avLst/>
          </a:prstGeom>
        </p:spPr>
      </p:pic>
      <p:pic>
        <p:nvPicPr>
          <p:cNvPr id="11" name="Picture 10" descr="S10c_AI경쟁구조해석_진입검토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872" y="2018917"/>
            <a:ext cx="5552440" cy="209778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7080"/>
            <a:ext cx="10698480" cy="384048"/>
          </a:xfrm>
          <a:prstGeom prst="rect">
            <a:avLst/>
          </a:prstGeom>
          <a:solidFill>
            <a:srgbClr val="1D4ED8"/>
          </a:solidFill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Malgun Gothic"/>
              </a:rPr>
              <a:t>AI는 판단하지 않습니다. 데이터를 사람이 읽을 수 있는 언어로 번역합니다.</a:t>
            </a:r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61D9A619-32D6-59C3-F0B2-2546F3003975}"/>
              </a:ext>
            </a:extLst>
          </p:cNvPr>
          <p:cNvSpPr/>
          <p:nvPr/>
        </p:nvSpPr>
        <p:spPr>
          <a:xfrm>
            <a:off x="5870956" y="2871724"/>
            <a:ext cx="470408" cy="565912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01970F-EC64-61A0-3F79-1CD8D057FC98}"/>
              </a:ext>
            </a:extLst>
          </p:cNvPr>
          <p:cNvSpPr txBox="1"/>
          <p:nvPr/>
        </p:nvSpPr>
        <p:spPr>
          <a:xfrm>
            <a:off x="780415" y="5273040"/>
            <a:ext cx="4572635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b="1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AI가 하는 것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618B5-52A1-E57F-FE42-0DD5036D513F}"/>
              </a:ext>
            </a:extLst>
          </p:cNvPr>
          <p:cNvSpPr txBox="1"/>
          <p:nvPr/>
        </p:nvSpPr>
        <p:spPr>
          <a:xfrm>
            <a:off x="6847839" y="5273039"/>
            <a:ext cx="4572635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b="1">
                <a:solidFill>
                  <a:schemeClr val="tx2"/>
                </a:solidFill>
                <a:latin typeface="Malgun Gothic"/>
                <a:ea typeface="Malgun Gothic"/>
                <a:cs typeface="Calibri"/>
              </a:rPr>
              <a:t>AI가 하지 않는 것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BDC17F-E9C5-F89D-AF99-C698B158D2F2}"/>
              </a:ext>
            </a:extLst>
          </p:cNvPr>
          <p:cNvSpPr txBox="1"/>
          <p:nvPr/>
        </p:nvSpPr>
        <p:spPr>
          <a:xfrm>
            <a:off x="780414" y="5806439"/>
            <a:ext cx="4572635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140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       점수</a:t>
            </a:r>
            <a:r>
              <a:rPr lang="en-US" altLang="ko-KR" sz="140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·</a:t>
            </a:r>
            <a:r>
              <a:rPr lang="ko-KR" altLang="en-US" sz="140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건수</a:t>
            </a:r>
            <a:r>
              <a:rPr lang="en-US" altLang="ko-KR" sz="140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·</a:t>
            </a:r>
            <a:r>
              <a:rPr lang="ko-KR" altLang="en-US" sz="140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비율을</a:t>
            </a:r>
            <a:r>
              <a:rPr lang="en-US" altLang="ko-KR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 </a:t>
            </a:r>
            <a:r>
              <a:rPr lang="ko-KR" altLang="en-US" sz="140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설명</a:t>
            </a:r>
            <a:r>
              <a:rPr lang="en-US" altLang="ko-KR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 </a:t>
            </a:r>
            <a:r>
              <a:rPr lang="ko-KR" altLang="en-US" sz="140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문장으로</a:t>
            </a:r>
            <a:r>
              <a:rPr lang="en-US" altLang="ko-KR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 </a:t>
            </a:r>
            <a:r>
              <a:rPr lang="ko-KR" altLang="en-US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변환</a:t>
            </a:r>
            <a:endParaRPr lang="ko-KR" sz="1400" dirty="0">
              <a:ea typeface="맑은 고딕"/>
              <a:cs typeface="Calibri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FCCAF3-C0DA-1707-3F61-BE50B21C5473}"/>
              </a:ext>
            </a:extLst>
          </p:cNvPr>
          <p:cNvSpPr txBox="1"/>
          <p:nvPr/>
        </p:nvSpPr>
        <p:spPr>
          <a:xfrm>
            <a:off x="6847839" y="5806439"/>
            <a:ext cx="4572635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창업</a:t>
            </a:r>
            <a:r>
              <a:rPr lang="en-US" altLang="ko-KR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 </a:t>
            </a:r>
            <a:r>
              <a:rPr lang="en-US" sz="1400" dirty="0" err="1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성공</a:t>
            </a:r>
            <a:r>
              <a:rPr lang="en-US" altLang="ko-KR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 </a:t>
            </a:r>
            <a:r>
              <a:rPr lang="en-US" sz="1400" dirty="0" err="1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예측</a:t>
            </a:r>
            <a:r>
              <a:rPr lang="en-US" altLang="ko-KR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, </a:t>
            </a:r>
            <a:r>
              <a:rPr lang="ko-KR" altLang="en-US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입지</a:t>
            </a:r>
            <a:r>
              <a:rPr lang="en-US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 </a:t>
            </a:r>
            <a:r>
              <a:rPr lang="ko-KR" altLang="en-US" sz="1400" dirty="0">
                <a:solidFill>
                  <a:srgbClr val="0F172A"/>
                </a:solidFill>
                <a:latin typeface="Malgun Gothic"/>
                <a:ea typeface="Malgun Gothic"/>
                <a:cs typeface="Calibri"/>
              </a:rPr>
              <a:t>확정</a:t>
            </a:r>
            <a:endParaRPr lang="ko-KR" sz="1400" dirty="0">
              <a:ea typeface="맑은 고딕"/>
              <a:cs typeface="Calibri"/>
            </a:endParaRPr>
          </a:p>
        </p:txBody>
      </p:sp>
      <p:pic>
        <p:nvPicPr>
          <p:cNvPr id="35" name="그래픽 34" descr="확인 표시 단색으로 채워진">
            <a:extLst>
              <a:ext uri="{FF2B5EF4-FFF2-40B4-BE49-F238E27FC236}">
                <a16:creationId xmlns:a16="http://schemas.microsoft.com/office/drawing/2014/main" id="{FEFA3E59-197A-76D0-B226-25DA5BF12A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5350" y="5372100"/>
            <a:ext cx="781050" cy="800100"/>
          </a:xfrm>
          <a:prstGeom prst="rect">
            <a:avLst/>
          </a:prstGeom>
        </p:spPr>
      </p:pic>
      <p:pic>
        <p:nvPicPr>
          <p:cNvPr id="36" name="그래픽 35" descr="닫기 단색으로 채워진">
            <a:extLst>
              <a:ext uri="{FF2B5EF4-FFF2-40B4-BE49-F238E27FC236}">
                <a16:creationId xmlns:a16="http://schemas.microsoft.com/office/drawing/2014/main" id="{AB33FD7B-442A-BD52-9CD9-C93DD5CDA2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48500" y="5438775"/>
            <a:ext cx="771525" cy="7334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비즈니스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98480" cy="44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 dirty="0" err="1">
                <a:solidFill>
                  <a:srgbClr val="0F2340"/>
                </a:solidFill>
                <a:latin typeface="Malgun Gothic"/>
              </a:rPr>
              <a:t>현재는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무료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데모로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공개한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POC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단계입니다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altLang="en-US" sz="2500" b="1" dirty="0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3246120" cy="242316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73152" cy="2423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2677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>
                <a:solidFill>
                  <a:srgbClr val="0F2340"/>
                </a:solidFill>
                <a:latin typeface="Malgun Gothic"/>
              </a:rPr>
              <a:t>현재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08258"/>
            <a:ext cx="2926079" cy="116339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B2C 무료 데모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예비창업자가 직접 지역·품목 탐색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103120"/>
            <a:ext cx="3246120" cy="242316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6280" y="2103120"/>
            <a:ext cx="73152" cy="242316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22677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>
                <a:solidFill>
                  <a:srgbClr val="0F2340"/>
                </a:solidFill>
                <a:latin typeface="Malgun Gothic"/>
              </a:rPr>
              <a:t>다음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708258"/>
            <a:ext cx="2926079" cy="116339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B2B 상담 도구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창업 지원기관·상담사가 지역 수요 리포트 활용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103120"/>
            <a:ext cx="3246120" cy="242316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2103120"/>
            <a:ext cx="73152" cy="242316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30768" y="22677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>
                <a:solidFill>
                  <a:srgbClr val="0F2340"/>
                </a:solidFill>
                <a:latin typeface="Malgun Gothic"/>
              </a:rPr>
              <a:t>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708258"/>
            <a:ext cx="2926079" cy="116339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플랫폼 연계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납품업체 영업 거점·지자체 정책 자료로 확대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C402D46-D6BB-53A0-D47A-5EA3A6C9BA77}"/>
              </a:ext>
            </a:extLst>
          </p:cNvPr>
          <p:cNvSpPr/>
          <p:nvPr/>
        </p:nvSpPr>
        <p:spPr>
          <a:xfrm>
            <a:off x="1967230" y="5168265"/>
            <a:ext cx="8290560" cy="9144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4479F2-30E5-31D5-A0BB-212067B255F1}"/>
              </a:ext>
            </a:extLst>
          </p:cNvPr>
          <p:cNvSpPr txBox="1"/>
          <p:nvPr/>
        </p:nvSpPr>
        <p:spPr>
          <a:xfrm>
            <a:off x="1971675" y="5274965"/>
            <a:ext cx="825817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핵심 수익화 방향은 </a:t>
            </a:r>
            <a:r>
              <a:rPr lang="ko-KR" altLang="en-US" sz="2000" b="1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창업 상담기관</a:t>
            </a:r>
            <a:r>
              <a:rPr lang="ko-KR" altLang="en-US" sz="200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및 </a:t>
            </a:r>
            <a:r>
              <a:rPr lang="ko-KR" altLang="en-US" sz="2000" b="1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소상공인 지원센터</a:t>
            </a:r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대상의</a:t>
            </a:r>
            <a:endParaRPr lang="ko-KR">
              <a:solidFill>
                <a:schemeClr val="bg1"/>
              </a:solidFill>
            </a:endParaRPr>
          </a:p>
          <a:p>
            <a:pPr algn="ctr"/>
            <a:r>
              <a:rPr lang="ko-KR" altLang="en-US" sz="200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 상담 </a:t>
            </a:r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보조 리포트/도구입니다.</a:t>
            </a:r>
            <a:endParaRPr lang="ko-KR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기대 효과와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98480" cy="82484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500" b="1" dirty="0">
                <a:solidFill>
                  <a:srgbClr val="0F2340"/>
                </a:solidFill>
                <a:latin typeface="Malgun Gothic"/>
              </a:rPr>
              <a:t>이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서비스는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공공수요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관점의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참고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자료이며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, </a:t>
            </a:r>
            <a:endParaRPr lang="ko-KR" altLang="en-US" sz="2500" b="1" dirty="0">
              <a:solidFill>
                <a:srgbClr val="0F2340"/>
              </a:solidFill>
              <a:latin typeface="Malgun Gothic"/>
            </a:endParaRPr>
          </a:p>
          <a:p>
            <a:pPr algn="l"/>
            <a:r>
              <a:rPr sz="2500" b="1">
                <a:solidFill>
                  <a:srgbClr val="0F2340"/>
                </a:solidFill>
                <a:latin typeface="Malgun Gothic"/>
              </a:rPr>
              <a:t>창업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성공을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예측하지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않습니다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altLang="en-US" sz="2500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2095500"/>
            <a:ext cx="5166360" cy="27432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95500"/>
            <a:ext cx="73152" cy="2743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260092"/>
            <a:ext cx="484632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>
                <a:solidFill>
                  <a:srgbClr val="0F2340"/>
                </a:solidFill>
                <a:latin typeface="Malgun Gothic"/>
              </a:rPr>
              <a:t>기대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79395"/>
            <a:ext cx="4846320" cy="15327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공공조달 시장 진입 전 지역·품목 수요를 사전 검토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4개 공공데이터 결합으로 다각도 분석 제공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상담 현장에서 지역별 수요 리포트로 활용 가능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095500"/>
            <a:ext cx="5166360" cy="27432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2095500"/>
            <a:ext cx="73152" cy="2743200"/>
          </a:xfrm>
          <a:prstGeom prst="rect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6248" y="2260092"/>
            <a:ext cx="484632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 dirty="0" err="1">
                <a:solidFill>
                  <a:srgbClr val="0F2340"/>
                </a:solidFill>
                <a:latin typeface="Malgun Gothic"/>
              </a:rPr>
              <a:t>현재</a:t>
            </a:r>
            <a:r>
              <a:rPr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b="1" dirty="0" err="1">
                <a:solidFill>
                  <a:srgbClr val="0F2340"/>
                </a:solidFill>
                <a:latin typeface="Malgun Gothic"/>
              </a:rPr>
              <a:t>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2779395"/>
            <a:ext cx="4846320" cy="15327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 dirty="0" err="1">
                <a:solidFill>
                  <a:srgbClr val="0F172A"/>
                </a:solidFill>
                <a:latin typeface="Malgun Gothic"/>
              </a:rPr>
              <a:t>공공조달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B2G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관점만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반영</a:t>
            </a:r>
            <a:br>
              <a:rPr sz="2400"/>
            </a:br>
            <a:br>
              <a:rPr sz="2400"/>
            </a:br>
            <a:r>
              <a:rPr sz="1600" b="0" dirty="0" err="1">
                <a:solidFill>
                  <a:srgbClr val="0F172A"/>
                </a:solidFill>
                <a:latin typeface="Malgun Gothic"/>
              </a:rPr>
              <a:t>민간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수요와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실사용자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피드백은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추가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필요</a:t>
            </a:r>
            <a:br>
              <a:rPr sz="2400"/>
            </a:br>
            <a:br>
              <a:rPr sz="2400"/>
            </a:br>
            <a:r>
              <a:rPr sz="1600" b="0" dirty="0" err="1">
                <a:solidFill>
                  <a:srgbClr val="0F172A"/>
                </a:solidFill>
                <a:latin typeface="Malgun Gothic"/>
              </a:rPr>
              <a:t>서비스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내에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한계를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명시해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과해석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방지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D5561496-4D27-73E0-945D-812B74467CC7}"/>
              </a:ext>
            </a:extLst>
          </p:cNvPr>
          <p:cNvSpPr/>
          <p:nvPr/>
        </p:nvSpPr>
        <p:spPr>
          <a:xfrm>
            <a:off x="1967230" y="5168265"/>
            <a:ext cx="8290560" cy="9144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567F20-CDC0-DC15-4240-1BB30D782D21}"/>
              </a:ext>
            </a:extLst>
          </p:cNvPr>
          <p:cNvSpPr txBox="1"/>
          <p:nvPr/>
        </p:nvSpPr>
        <p:spPr>
          <a:xfrm>
            <a:off x="1971675" y="5274965"/>
            <a:ext cx="825817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감에 의존한 </a:t>
            </a:r>
            <a:r>
              <a:rPr lang="ko-KR" altLang="en-US" sz="2000" b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입지 선택</a:t>
            </a:r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을 </a:t>
            </a:r>
            <a:r>
              <a:rPr lang="ko-KR" altLang="en-US" sz="2000" b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데이터 기반 사전 검토</a:t>
            </a:r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로 바꾸는</a:t>
            </a:r>
            <a:endParaRPr lang="ko-KR" altLang="en-US" sz="2000" dirty="0">
              <a:solidFill>
                <a:schemeClr val="bg1"/>
              </a:solidFill>
              <a:latin typeface="Malgun Gothic"/>
              <a:ea typeface="Malgun Gothic"/>
              <a:cs typeface="Courier New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 첫 걸음입니다.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005B3-7596-656F-994D-5DACC9D6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27E4C0-C08A-ED69-90DB-79B2489FDC57}"/>
              </a:ext>
            </a:extLst>
          </p:cNvPr>
          <p:cNvSpPr/>
          <p:nvPr/>
        </p:nvSpPr>
        <p:spPr>
          <a:xfrm>
            <a:off x="9293" y="0"/>
            <a:ext cx="12191695" cy="6858000"/>
          </a:xfrm>
          <a:prstGeom prst="rect">
            <a:avLst/>
          </a:prstGeom>
          <a:solidFill>
            <a:srgbClr val="F0F7FF"/>
          </a:solidFill>
          <a:ln>
            <a:solidFill>
              <a:srgbClr val="F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2D851A-2471-F8FB-98E9-7628690E8439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C45B8D-BC32-5C58-0D90-7774ADBB2BE1}"/>
              </a:ext>
            </a:extLst>
          </p:cNvPr>
          <p:cNvSpPr txBox="1"/>
          <p:nvPr/>
        </p:nvSpPr>
        <p:spPr>
          <a:xfrm>
            <a:off x="685800" y="713232"/>
            <a:ext cx="10789920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2026 공공조달데이터·AI 활용 창업경진대회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8BC9DE-A93D-4101-2E78-8A1004CE460E}"/>
              </a:ext>
            </a:extLst>
          </p:cNvPr>
          <p:cNvSpPr txBox="1"/>
          <p:nvPr/>
        </p:nvSpPr>
        <p:spPr>
          <a:xfrm>
            <a:off x="1447799" y="3424540"/>
            <a:ext cx="3809630" cy="794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공공조달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수요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기반</a:t>
            </a:r>
            <a:br>
              <a:rPr sz="1100" dirty="0"/>
            </a:br>
            <a:r>
              <a:rPr sz="2400" b="1">
                <a:solidFill>
                  <a:srgbClr val="0F2340"/>
                </a:solidFill>
                <a:latin typeface="Malgun Gothic"/>
              </a:rPr>
              <a:t>창업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입지·물류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거점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분석</a:t>
            </a:r>
            <a:endParaRPr lang="ko-KR" altLang="en-US" sz="2800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CCEEDE-5EFB-9489-F756-12D336763018}"/>
              </a:ext>
            </a:extLst>
          </p:cNvPr>
          <p:cNvSpPr txBox="1"/>
          <p:nvPr/>
        </p:nvSpPr>
        <p:spPr>
          <a:xfrm>
            <a:off x="1159281" y="1636627"/>
            <a:ext cx="9875520" cy="107106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6600" b="1">
                <a:solidFill>
                  <a:srgbClr val="0F172A"/>
                </a:solidFill>
                <a:latin typeface="Malgun Gothic"/>
                <a:ea typeface="Malgun Gothic"/>
              </a:rPr>
              <a:t>감사합니다.</a:t>
            </a:r>
            <a:endParaRPr lang="ko-KR" sz="6600">
              <a:ea typeface="맑은 고딕"/>
              <a:cs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22964C-D164-0E77-CBC9-99EAC5BE7BA1}"/>
              </a:ext>
            </a:extLst>
          </p:cNvPr>
          <p:cNvSpPr txBox="1"/>
          <p:nvPr/>
        </p:nvSpPr>
        <p:spPr>
          <a:xfrm>
            <a:off x="685800" y="5989320"/>
            <a:ext cx="45720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>
                <a:solidFill>
                  <a:srgbClr val="0F2340"/>
                </a:solidFill>
                <a:latin typeface="Malgun Gothic"/>
              </a:rPr>
              <a:t>발표자  모세종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0CA912-CAB4-8F79-3149-5D161F90F48E}"/>
              </a:ext>
            </a:extLst>
          </p:cNvPr>
          <p:cNvSpPr txBox="1"/>
          <p:nvPr/>
        </p:nvSpPr>
        <p:spPr>
          <a:xfrm>
            <a:off x="8229600" y="5989320"/>
            <a:ext cx="32918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Malgun Gothic"/>
              </a:rPr>
              <a:t>발표 10분 + Q&amp;A 5분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54BD7E-15CD-F065-236B-1F39F6311B20}"/>
              </a:ext>
            </a:extLst>
          </p:cNvPr>
          <p:cNvSpPr txBox="1"/>
          <p:nvPr/>
        </p:nvSpPr>
        <p:spPr>
          <a:xfrm>
            <a:off x="1273561" y="6344113"/>
            <a:ext cx="532284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sz="1400" dirty="0">
                <a:ea typeface="+mn-lt"/>
                <a:cs typeface="+mn-lt"/>
              </a:rPr>
              <a:t>https://github.com/mosejong/procurement-logistics-ai</a:t>
            </a:r>
            <a:endParaRPr lang="ko-KR" sz="1400">
              <a:ea typeface="맑은 고딕"/>
              <a:cs typeface="Calibri"/>
            </a:endParaRPr>
          </a:p>
        </p:txBody>
      </p:sp>
      <p:pic>
        <p:nvPicPr>
          <p:cNvPr id="19" name="그림 18" descr="패턴, 사각형, 그래픽, 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CB6D27-99B8-5A8D-34C1-E993C7F87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4317" y="3317488"/>
            <a:ext cx="2518318" cy="2518318"/>
          </a:xfrm>
          <a:prstGeom prst="rect">
            <a:avLst/>
          </a:prstGeom>
        </p:spPr>
      </p:pic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C4BCFE37-F8B1-7C7C-7855-A4C80A8B65B3}"/>
              </a:ext>
            </a:extLst>
          </p:cNvPr>
          <p:cNvSpPr/>
          <p:nvPr/>
        </p:nvSpPr>
        <p:spPr>
          <a:xfrm>
            <a:off x="5829820" y="3818587"/>
            <a:ext cx="2725433" cy="1664802"/>
          </a:xfrm>
          <a:prstGeom prst="rightArrow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3C3164-68E5-CDA8-B186-EB7CAB3AD792}"/>
              </a:ext>
            </a:extLst>
          </p:cNvPr>
          <p:cNvSpPr txBox="1"/>
          <p:nvPr/>
        </p:nvSpPr>
        <p:spPr>
          <a:xfrm>
            <a:off x="6099948" y="4233513"/>
            <a:ext cx="2157064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400" b="1">
                <a:ea typeface="맑은 고딕"/>
                <a:cs typeface="Calibri"/>
              </a:rPr>
              <a:t>라이브 데모</a:t>
            </a:r>
            <a:endParaRPr lang="ko-KR" sz="2400" b="1">
              <a:ea typeface="맑은 고딕"/>
              <a:cs typeface="Calibri"/>
            </a:endParaRPr>
          </a:p>
          <a:p>
            <a:r>
              <a:rPr lang="ko-KR" altLang="en-US" sz="2400" b="1">
                <a:ea typeface="맑은 고딕"/>
                <a:cs typeface="Calibri"/>
              </a:rPr>
              <a:t>바로가기</a:t>
            </a:r>
            <a:endParaRPr lang="ko-KR" altLang="en-US" b="1" dirty="0">
              <a:ea typeface="맑은 고딕"/>
              <a:cs typeface="Calibri"/>
            </a:endParaRPr>
          </a:p>
        </p:txBody>
      </p:sp>
      <p:pic>
        <p:nvPicPr>
          <p:cNvPr id="22" name="그림 21" descr="로고, 텍스트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014788-0B9D-E926-C005-363147A0AD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45" t="17087" r="26515" b="16667"/>
          <a:stretch>
            <a:fillRect/>
          </a:stretch>
        </p:blipFill>
        <p:spPr>
          <a:xfrm>
            <a:off x="688202" y="6257021"/>
            <a:ext cx="542584" cy="48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58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914400"/>
            <a:ext cx="96012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200" b="1">
                <a:solidFill>
                  <a:srgbClr val="0F2340"/>
                </a:solidFill>
                <a:latin typeface="Malgun Gothic"/>
              </a:rPr>
              <a:t>부록: 예상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737360"/>
            <a:ext cx="9601200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Malgun Gothic"/>
              </a:rPr>
              <a:t>심사 기준 5개에 맞춘 질문과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201168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기술성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514600"/>
            <a:ext cx="7498079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Malgun Gothic"/>
              </a:rPr>
              <a:t>분류 모델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01168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공공데이터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3108960"/>
            <a:ext cx="7498079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Malgun Gothic"/>
              </a:rPr>
              <a:t>4개 API 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01168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독창성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703320"/>
            <a:ext cx="7498079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Malgun Gothic"/>
              </a:rPr>
              <a:t>나라장터/상권분석과 차별점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97680"/>
            <a:ext cx="201168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발전 가능성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297680"/>
            <a:ext cx="7498079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Malgun Gothic"/>
              </a:rPr>
              <a:t>B2G 이후 확장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92040"/>
            <a:ext cx="201168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효과성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892040"/>
            <a:ext cx="7498079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Malgun Gothic"/>
              </a:rPr>
              <a:t>사용자 피드백 계획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Q1. 기술성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987552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algun Gothic"/>
              </a:rPr>
              <a:t>ML 분류 모델 정확도 98.6%의 검증 방법은?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069848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300" b="1">
                <a:solidFill>
                  <a:srgbClr val="0F2340"/>
                </a:solidFill>
                <a:latin typeface="Malgun Gothic"/>
              </a:rPr>
              <a:t>ML 분류 모델 정확도 98.6%의 검증 방법은?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0561320" cy="310896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496312"/>
            <a:ext cx="1024128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700" b="1">
                <a:solidFill>
                  <a:srgbClr val="0F2340"/>
                </a:solidFill>
                <a:latin typeface="Malgun Gothic"/>
              </a:rPr>
              <a:t>답변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834639"/>
            <a:ext cx="10241280" cy="2514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Malgun Gothic"/>
              </a:rPr>
              <a:t>공고명 86,991건으로 학습하고 홀드아웃 테스트셋으로 측정했습니다. TF-IDF + Logistic Regression을 사용했고, 신뢰도 기준 미달 공고는 기타/미분류로 남겨 과신뢰를 방지했습니다.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3784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algun Gothic"/>
              </a:rPr>
              <a:t>Q&amp;A에서는 과장보다 “현재 수준 + 보완 계획”을 명확하게 답합니다.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Q2. 공공데이터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987552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algun Gothic"/>
              </a:rPr>
              <a:t>조달청 외 나머지 데이터는 어떻게 수집했나요?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069848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300" b="1">
                <a:solidFill>
                  <a:srgbClr val="0F2340"/>
                </a:solidFill>
                <a:latin typeface="Malgun Gothic"/>
              </a:rPr>
              <a:t>조달청 외 나머지 데이터는 어떻게 수집했나요?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0561320" cy="310896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496312"/>
            <a:ext cx="1024128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700" b="1">
                <a:solidFill>
                  <a:srgbClr val="0F2340"/>
                </a:solidFill>
                <a:latin typeface="Malgun Gothic"/>
              </a:rPr>
              <a:t>답변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834639"/>
            <a:ext cx="10241280" cy="2514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Malgun Gothic"/>
              </a:rPr>
              <a:t>4개 기관 모두 공공 API 기반으로 결합했습니다. 현재는 수집 후 정적 파일로 운영하며, 파이프라인은 CLI 명령으로 재실행 가능하게 구성했습니다.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3784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algun Gothic"/>
              </a:rPr>
              <a:t>Q&amp;A에서는 과장보다 “현재 수준 + 보완 계획”을 명확하게 답합니다.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Q3. 독창성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987552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algun Gothic"/>
              </a:rPr>
              <a:t>기존 나라장터 검색·상권 분석과 차별점은?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069848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300" b="1">
                <a:solidFill>
                  <a:srgbClr val="0F2340"/>
                </a:solidFill>
                <a:latin typeface="Malgun Gothic"/>
              </a:rPr>
              <a:t>기존 나라장터 검색·상권 분석과 차별점은?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0561320" cy="310896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496312"/>
            <a:ext cx="1024128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700" b="1">
                <a:solidFill>
                  <a:srgbClr val="0F2340"/>
                </a:solidFill>
                <a:latin typeface="Malgun Gothic"/>
              </a:rPr>
              <a:t>답변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834639"/>
            <a:ext cx="10241280" cy="2514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Malgun Gothic"/>
              </a:rPr>
              <a:t>나라장터는 개별 공고 조회 도구입니다. 이 서비스는 100,083건을 지역별 수요 신호로 해석합니다. 기존 상권 분석은 민간 소비 추정 기반이고, 본 서비스는 공공기관의 발주 데이터를 활용합니다.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3784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algun Gothic"/>
              </a:rPr>
              <a:t>Q&amp;A에서는 과장보다 “현재 수준 + 보완 계획”을 명확하게 답합니다.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Q4. 발전 가능성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987552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algun Gothic"/>
              </a:rPr>
              <a:t>향후 어떻게 확장할 계획인가요?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069848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300" b="1">
                <a:solidFill>
                  <a:srgbClr val="0F2340"/>
                </a:solidFill>
                <a:latin typeface="Malgun Gothic"/>
              </a:rPr>
              <a:t>향후 어떻게 확장할 계획인가요?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0561320" cy="310896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496312"/>
            <a:ext cx="1024128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700" b="1">
                <a:solidFill>
                  <a:srgbClr val="0F2340"/>
                </a:solidFill>
                <a:latin typeface="Malgun Gothic"/>
              </a:rPr>
              <a:t>답변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834639"/>
            <a:ext cx="10241280" cy="2514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Malgun Gothic"/>
              </a:rPr>
              <a:t>단기적으로 수집 범위와 분류 정확도를 개선하고, 중기적으로 민간 상권 데이터와 결합해 B2C 수요와 B2G 수요를 함께 볼 수 있는 구조를 검토합니다.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3784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algun Gothic"/>
              </a:rPr>
              <a:t>Q&amp;A에서는 과장보다 “현재 수준 + 보완 계획”을 명확하게 답합니다.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Q5. 효과성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987552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algun Gothic"/>
              </a:rPr>
              <a:t>실제 사용자 피드백이 있나요?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069848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300" b="1">
                <a:solidFill>
                  <a:srgbClr val="0F2340"/>
                </a:solidFill>
                <a:latin typeface="Malgun Gothic"/>
              </a:rPr>
              <a:t>실제 사용자 피드백이 있나요?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0561320" cy="310896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496312"/>
            <a:ext cx="1024128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700" b="1">
                <a:solidFill>
                  <a:srgbClr val="0F2340"/>
                </a:solidFill>
                <a:latin typeface="Malgun Gothic"/>
              </a:rPr>
              <a:t>답변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834639"/>
            <a:ext cx="10241280" cy="2514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Malgun Gothic"/>
              </a:rPr>
              <a:t>현재는 라이브 데모 공개 단계로 체계적 피드백은 수집 전입니다. 후보 지역 압축 시간과 상담 자료 준비 시간 단축을 효과 측정 기준으로 잡고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3784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algun Gothic"/>
              </a:rPr>
              <a:t>Q&amp;A에서는 과장보다 “현재 수준 + 보완 계획”을 명확하게 답합니다.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983D2A0-913A-443A-9CF6-9609FB9E9D1D}">
  <we:reference id="wa200005669" version="2.0.0.0" store="en-US" storeType="omex"/>
  <we:alternateReferences>
    <we:reference id="wa200005669" version="2.0.0.0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와이드스크린</PresentationFormat>
  <Paragraphs>0</Paragraphs>
  <Slides>24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5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650</cp:revision>
  <dcterms:created xsi:type="dcterms:W3CDTF">2013-01-27T09:14:16Z</dcterms:created>
  <dcterms:modified xsi:type="dcterms:W3CDTF">2026-05-18T15:27:05Z</dcterms:modified>
  <cp:category/>
</cp:coreProperties>
</file>