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A4F8C-4A2E-4F41-8E58-AA8473AA918B}" v="274" dt="2026-05-26T08:41:10.437"/>
  </p1510:revLst>
</p1510:revInfo>
</file>

<file path=ppt/tableStyles.xml><?xml version="1.0" encoding="utf-8"?>
<a:tblStyleLst xmlns:a="http://schemas.openxmlformats.org/drawingml/2006/main" def="{29396D92-A75C-45C1-BC10-0CFDF67A5C4B}">
  <a:tblStyle styleId="{29396D92-A75C-45C1-BC10-0CFDF67A5C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9a82dd5e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e9a82dd5e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300000" y="400000"/>
            <a:ext cx="10800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rgbClr val="F2F7F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400000" y="35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00000" y="35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1A1A4D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데이터 수집 → 점수 산정 → AI 해석 → 시각화 파이프라인</a:t>
            </a:r>
            <a:endParaRPr sz="5400" b="1">
              <a:solidFill>
                <a:srgbClr val="1A1A4D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400000" y="1350000"/>
            <a:ext cx="105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D4D80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6개 기관·9개 데이터소스를 결합해 지역×품목 공공수요를 분석하고, AI 해석과 대시보드로 제공합니다.</a:t>
            </a:r>
            <a:endParaRPr sz="2600">
              <a:solidFill>
                <a:srgbClr val="4D4D80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FFFF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00000" y="350000"/>
            <a:ext cx="10500000" cy="1350000"/>
          </a:xfrm>
          <a:prstGeom prst="rect">
            <a:avLst/>
          </a:prstGeom>
          <a:solidFill>
            <a:srgbClr val="E0F0FF"/>
          </a:solidFill>
          <a:ln w="25400" cap="flat" cmpd="sng">
            <a:solidFill>
              <a:srgbClr val="4D9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50000" y="37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66CC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📊 데이터 수집</a:t>
            </a:r>
            <a:endParaRPr sz="3200" b="1">
              <a:solidFill>
                <a:srgbClr val="0066CC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450000" y="75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66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조달청 4대: 입찰공고 100,083건 • 계약정보 38,367건 • 발주계획 445건·1,249억 • MAS 5,000건</a:t>
            </a:r>
            <a:endParaRPr sz="1800">
              <a:solidFill>
                <a:srgbClr val="333366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66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타기관 4대: aT 학교급식 BID+AWARD • 국토부 물류창고 5,911개소 • 행안부 인구 242개 지역 • 소상공인 상권 253개 지역</a:t>
            </a:r>
            <a:endParaRPr sz="1800">
              <a:solidFill>
                <a:srgbClr val="333366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00000" y="1900000"/>
            <a:ext cx="10500000" cy="1350000"/>
          </a:xfrm>
          <a:prstGeom prst="rect">
            <a:avLst/>
          </a:prstGeom>
          <a:solidFill>
            <a:srgbClr val="E0FFE0"/>
          </a:solidFill>
          <a:ln w="25400" cap="flat" cmpd="sng">
            <a:solidFill>
              <a:srgbClr val="4DCC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50000" y="192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339933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📈 점수 산정</a:t>
            </a:r>
            <a:endParaRPr sz="3200" b="1">
              <a:solidFill>
                <a:srgbClr val="339933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450000" y="230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6633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가중 지표: count_score 40% • amount_score 25% • recency_score 15% • competition_score 20%</a:t>
            </a:r>
            <a:endParaRPr sz="1800">
              <a:solidFill>
                <a:srgbClr val="336633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6633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산출 지표: opportunity_score • consumer_fit_score • adjusted_score (생존율 보정)</a:t>
            </a:r>
            <a:endParaRPr sz="1800">
              <a:solidFill>
                <a:srgbClr val="336633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00000" y="3450000"/>
            <a:ext cx="10500000" cy="1350000"/>
          </a:xfrm>
          <a:prstGeom prst="rect">
            <a:avLst/>
          </a:prstGeom>
          <a:solidFill>
            <a:srgbClr val="F0E0FF"/>
          </a:solidFill>
          <a:ln w="25400" cap="flat" cmpd="sng">
            <a:solidFill>
              <a:srgbClr val="B24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450000" y="347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9933CC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🤖 AI 해석 (Gemini)</a:t>
            </a:r>
            <a:endParaRPr sz="3200" b="1">
              <a:solidFill>
                <a:srgbClr val="9933CC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450000" y="385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3380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① 수요 설명 (추천 품목) • ② 수요공백 판정 (블루오션 vs 저수요)</a:t>
            </a:r>
            <a:endParaRPr sz="1800">
              <a:solidFill>
                <a:srgbClr val="663380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3380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③ 경쟁구조 판정 (레드오션/조건부/진입) • ④ 물류거점 전략 (1·2·3티어 허브) • ⑤ 지역 비교</a:t>
            </a:r>
            <a:endParaRPr sz="1800">
              <a:solidFill>
                <a:srgbClr val="663380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00000" y="5000000"/>
            <a:ext cx="10500000" cy="1350000"/>
          </a:xfrm>
          <a:prstGeom prst="rect">
            <a:avLst/>
          </a:prstGeom>
          <a:solidFill>
            <a:srgbClr val="FFE8D1"/>
          </a:solidFill>
          <a:ln w="25400" cap="flat" cmpd="sng">
            <a:solidFill>
              <a:srgbClr val="FFA6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450000" y="502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801A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📱 시각화 대시보드 (Streamlit)</a:t>
            </a:r>
            <a:endParaRPr sz="3200" b="1">
              <a:solidFill>
                <a:srgbClr val="FF801A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50000" y="540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2590D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🌏 전국 지도 • 🗺️ 지역 분석 • 📊 수요 예측 • 🔍 블루오션 탐지</a:t>
            </a:r>
            <a:endParaRPr sz="1800">
              <a:solidFill>
                <a:srgbClr val="B2590D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2590D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🚚 물류 거점 • ⚖️ 지역 비교 • 👥 소비층 적합도 • 🤖 AI 해석 5종</a:t>
            </a:r>
            <a:endParaRPr sz="1800">
              <a:solidFill>
                <a:srgbClr val="B2590D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400000" y="6450000"/>
            <a:ext cx="10500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[수집] 6개 기관 / 9개 데이터소스 공공 API 실연동, 자동 파이프라인  |  [점수] 가중합 공식 공개, 임의 판단 없음  |  [AI] 수치 근거 인용형 해석, 과긍정 방지  |  [시각화] 라이브 대시보드 (Streamlit Cloud 운영 중)</a:t>
            </a:r>
            <a:endParaRPr sz="1200">
              <a:solidFill>
                <a:srgbClr val="666666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cxnSp>
        <p:nvCxnSpPr>
          <p:cNvPr id="51" name="Google Shape;51;p5"/>
          <p:cNvCxnSpPr/>
          <p:nvPr/>
        </p:nvCxnSpPr>
        <p:spPr>
          <a:xfrm>
            <a:off x="5500000" y="1700000"/>
            <a:ext cx="300000" cy="399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52;p5"/>
          <p:cNvCxnSpPr/>
          <p:nvPr/>
        </p:nvCxnSpPr>
        <p:spPr>
          <a:xfrm>
            <a:off x="5500000" y="3250000"/>
            <a:ext cx="300000" cy="399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53;p5"/>
          <p:cNvCxnSpPr/>
          <p:nvPr/>
        </p:nvCxnSpPr>
        <p:spPr>
          <a:xfrm>
            <a:off x="5500000" y="4800000"/>
            <a:ext cx="300000" cy="399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300000" y="8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eat.at.or.kr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 w="9525" cap="flat" cmpd="sng">
            <a:solidFill>
              <a:srgbClr val="F0F7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공공조달데이터·AI 활용 창업경진대회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85800" y="1417320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수요 기반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8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분석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713232" y="2702858"/>
            <a:ext cx="98754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 입찰공고 100,083건과 계약·급식·물류 데이터를 결합해</a:t>
            </a:r>
            <a:endParaRPr sz="18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공공수요를 해석하는 서비스 </a:t>
            </a:r>
            <a:endParaRPr sz="18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713232" y="3657600"/>
            <a:ext cx="1645920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71323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 데이터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2587752" y="3657600"/>
            <a:ext cx="1645920" cy="384048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95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258775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입지 분석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4462272" y="3657600"/>
            <a:ext cx="1645920" cy="38404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46227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6336792" y="3657600"/>
            <a:ext cx="1645920" cy="384048"/>
          </a:xfrm>
          <a:prstGeom prst="roundRect">
            <a:avLst>
              <a:gd name="adj" fmla="val 16667"/>
            </a:avLst>
          </a:prstGeom>
          <a:solidFill>
            <a:srgbClr val="1E40AF"/>
          </a:solidFill>
          <a:ln w="9525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633679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분석</a:t>
            </a:r>
            <a:endParaRPr sz="105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 모세종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10분 + Q&amp;A 5분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68680" y="1527048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508760" y="1399032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08760" y="1793116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창업자는 공공기관 수요를 보지 못한다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868680" y="2304856"/>
            <a:ext cx="438912" cy="438912"/>
          </a:xfrm>
          <a:prstGeom prst="ellipse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868680" y="2414584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508760" y="2286568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대상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508760" y="2680652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납품 창업 페르소나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868680" y="3192392"/>
            <a:ext cx="438912" cy="438912"/>
          </a:xfrm>
          <a:prstGeom prst="ellipse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68680" y="3302120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508760" y="3194424"/>
            <a:ext cx="375920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 데이터와 결합 구조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508760" y="3568188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공공수요·경쟁·소비층·생존율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868680" y="4079928"/>
            <a:ext cx="438912" cy="438912"/>
          </a:xfrm>
          <a:prstGeom prst="ellipse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68680" y="4189656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508760" y="4061640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흐름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508760" y="4455724"/>
            <a:ext cx="8138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 → 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</a:t>
            </a:r>
            <a:r>
              <a:rPr lang="en-US" sz="16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 → 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해운대구</a:t>
            </a:r>
            <a:r>
              <a:rPr lang="en-US" sz="16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비교 → 물류 거점 비교 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공공수요 예측 </a:t>
            </a:r>
            <a:r>
              <a:rPr lang="en-US" sz="1600" b="0" i="0" u="none" strike="noStrike" cap="non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AI 해석</a:t>
            </a:r>
            <a:endParaRPr sz="1600" b="0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868680" y="4967464"/>
            <a:ext cx="438912" cy="438912"/>
          </a:xfrm>
          <a:prstGeom prst="ellipse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868680" y="5077192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1508760" y="4949176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비즈니스 모델과 한계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1508760" y="5343260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→ 상담 보조 도구 확장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640080" y="2539139"/>
            <a:ext cx="3657600" cy="2971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480560" y="2539139"/>
            <a:ext cx="3474720" cy="2971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 w="95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138160" y="2539139"/>
            <a:ext cx="3429000" cy="2971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 w="9525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685800" y="1234440"/>
            <a:ext cx="10698480" cy="8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창업자는 상권을 봅니다.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공공기관이 필요로 하는 것은 보지 못합니다.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855197" y="2691075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현장에서 본 문제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55197" y="3184386"/>
            <a:ext cx="3063240" cy="112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예측이 틀리면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재고·이동·운영 비용이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바로 손실로 이어집니다.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4687668" y="2691075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판단 기준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687668" y="3184386"/>
            <a:ext cx="3063240" cy="14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예비창업자는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유동인구와 상권 </a:t>
            </a: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정보를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보지만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 데이터는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활용하지 못합니다.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8339328" y="2691074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질문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339328" y="3184385"/>
            <a:ext cx="3063240" cy="112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입찰공고를 지역별 수요 신호로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보면 창업 입지 사전 검토에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활용할 수 있지 않을까?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683210" y="1863402"/>
            <a:ext cx="10764233" cy="1140892"/>
          </a:xfrm>
          <a:prstGeom prst="flowChartAlternateProcess">
            <a:avLst/>
          </a:prstGeom>
          <a:solidFill>
            <a:schemeClr val="lt1"/>
          </a:solidFill>
          <a:ln w="9525" cap="flat" cmpd="sng">
            <a:solidFill>
              <a:srgbClr val="0F23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 시나리오: 급식·식자재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      반복 수요가 있고, 납품·보관·이동 비용이 입지 판단에 직접 영향을 주는 품목입니다.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대상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85800" y="1170432"/>
            <a:ext cx="10698480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시장 진입을 앞둔 사람에게 지역 선택의 근거를 제공합니다.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40080" y="3114233"/>
            <a:ext cx="3657600" cy="2971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40080" y="3114233"/>
            <a:ext cx="73152" cy="2971800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841247" y="3278825"/>
            <a:ext cx="333756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예비창업자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841247" y="3739073"/>
            <a:ext cx="3337560" cy="1979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납품 창업을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 중이지만, 어느 지역부터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진입해야 할지 감에 의존하고 있음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지역별 공공수요·경쟁 구조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비교로 후보 지역 압축</a:t>
            </a:r>
            <a:endParaRPr sz="1600" b="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480560" y="3114233"/>
            <a:ext cx="3474720" cy="2971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4480560" y="3114233"/>
            <a:ext cx="73152" cy="2971800"/>
          </a:xfrm>
          <a:prstGeom prst="rect">
            <a:avLst/>
          </a:prstGeom>
          <a:solidFill>
            <a:srgbClr val="0EA5E9"/>
          </a:solidFill>
          <a:ln w="95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4681728" y="3278825"/>
            <a:ext cx="315467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B2G 납품업체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681728" y="3739073"/>
            <a:ext cx="3154679" cy="16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영업 지역을 확장해야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내부 데이터가 부족함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공고 건수·경쟁 구조로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우선순위 설정</a:t>
            </a:r>
            <a:endParaRPr sz="1600" b="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138160" y="3114233"/>
            <a:ext cx="3429000" cy="2971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138160" y="3114233"/>
            <a:ext cx="73152" cy="2971800"/>
          </a:xfrm>
          <a:prstGeom prst="rect">
            <a:avLst/>
          </a:prstGeom>
          <a:solidFill>
            <a:srgbClr val="1E40AF"/>
          </a:solidFill>
          <a:ln w="9525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8339328" y="3278825"/>
            <a:ext cx="310896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창업 상담기관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339328" y="3739073"/>
            <a:ext cx="3108960" cy="16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시 지역 수요를 설명할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자료가 부족함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지역별 수요 리포트를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보조 자료로 활용</a:t>
            </a:r>
            <a:endParaRPr sz="1600" b="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8750730" y="2329035"/>
            <a:ext cx="2535782" cy="355453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소개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 입찰공고 100,083건을 분석하여,</a:t>
            </a:r>
            <a:b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판단을 돕는 서비스입니다.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502920" y="2331720"/>
            <a:ext cx="2104462" cy="355453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497839" y="2651760"/>
            <a:ext cx="2128520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100,083건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497839" y="3878967"/>
            <a:ext cx="212852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97839" y="5026616"/>
            <a:ext cx="212852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2년 수집·분석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3247653" y="2341880"/>
            <a:ext cx="2104462" cy="355453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3230880" y="2651760"/>
            <a:ext cx="2118360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17개 시도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3230880" y="3878967"/>
            <a:ext cx="211836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범위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3230880" y="5026616"/>
            <a:ext cx="211836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광역 단위 전체</a:t>
            </a:r>
            <a:endParaRPr sz="1400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5992386" y="2349356"/>
            <a:ext cx="2118839" cy="355453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8764628" y="2651760"/>
            <a:ext cx="2545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5종 AI 해석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8764628" y="3878967"/>
            <a:ext cx="254508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설명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8764628" y="5026616"/>
            <a:ext cx="254508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수치를 자연어로 변환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004751" y="2661919"/>
            <a:ext cx="2108200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220개 지역</a:t>
            </a:r>
            <a:endParaRPr sz="2800" b="1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6004751" y="3889126"/>
            <a:ext cx="210820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시·군·구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004751" y="5036775"/>
            <a:ext cx="210820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 지역 분석</a:t>
            </a:r>
            <a:endParaRPr sz="1400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조달청 데이터인가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입찰공고는 공공기관이 예산을 편성해 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의사를 공표한 수요 신호입니다.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031997" y="2333450"/>
            <a:ext cx="4755000" cy="1653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949950" y="2347216"/>
            <a:ext cx="83400" cy="1644000"/>
          </a:xfrm>
          <a:prstGeom prst="rect">
            <a:avLst/>
          </a:prstGeom>
          <a:solidFill>
            <a:srgbClr val="94A3B8"/>
          </a:solidFill>
          <a:ln w="952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161278" y="2430250"/>
            <a:ext cx="4434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상권 데이터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161278" y="2765456"/>
            <a:ext cx="44349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소비자가 “</a:t>
            </a: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살 것 같다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”는 추정에 가깝습니다.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소비 흐름을 보는 데 강점이 있습니다.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6527799" y="2337488"/>
            <a:ext cx="4755000" cy="1653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436358" y="2347216"/>
            <a:ext cx="83400" cy="1644000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6647683" y="2430250"/>
            <a:ext cx="4434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 데이터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647687" y="2751132"/>
            <a:ext cx="44349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공공기관이 “</a:t>
            </a: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살 것이다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”라고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공표한 수요 신호입니다.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발주 품목 차이를 볼 수 있습니다.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29197" y="3596033"/>
            <a:ext cx="4749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BEFORE -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535925" y="3581441"/>
            <a:ext cx="4749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AFTER -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685800" y="4370470"/>
            <a:ext cx="3387000" cy="2123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4524430" y="4379891"/>
            <a:ext cx="3387000" cy="2123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8363052" y="4361050"/>
            <a:ext cx="3387000" cy="21234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685801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①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8363051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③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4524426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②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8580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서비스</a:t>
            </a:r>
            <a:endParaRPr sz="16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237930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sz="16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85800" y="5014100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소비 추정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(상권분석, 유동인구)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“아마 팔릴 것 같은”</a:t>
            </a:r>
            <a:endParaRPr sz="13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2328500" y="5107445"/>
            <a:ext cx="1784940" cy="122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300" dirty="0" err="1">
                <a:solidFill>
                  <a:srgbClr val="0F2340"/>
                </a:solidFill>
                <a:latin typeface="Malgun Gothic"/>
                <a:ea typeface="Malgun Gothic"/>
              </a:rPr>
              <a:t>공공</a:t>
            </a:r>
            <a:r>
              <a:rPr lang="en-US" sz="1300" dirty="0">
                <a:solidFill>
                  <a:srgbClr val="0F2340"/>
                </a:solidFill>
                <a:latin typeface="Malgun Gothic"/>
                <a:ea typeface="Malgun Gothic"/>
              </a:rPr>
              <a:t> </a:t>
            </a:r>
            <a:r>
              <a:rPr lang="ko-KR" altLang="en-US" sz="1300" dirty="0" err="1">
                <a:solidFill>
                  <a:srgbClr val="0F2340"/>
                </a:solidFill>
                <a:latin typeface="Malgun Gothic"/>
                <a:ea typeface="Malgun Gothic"/>
              </a:rPr>
              <a:t>발주</a:t>
            </a:r>
            <a:r>
              <a:rPr lang="en-US" sz="1300" dirty="0">
                <a:solidFill>
                  <a:srgbClr val="0F2340"/>
                </a:solidFill>
                <a:latin typeface="Malgun Gothic"/>
                <a:ea typeface="Malgun Gothic"/>
              </a:rPr>
              <a:t> </a:t>
            </a:r>
            <a:r>
              <a:rPr lang="ko-KR" altLang="en-US" sz="1300" dirty="0" err="1">
                <a:solidFill>
                  <a:srgbClr val="0F2340"/>
                </a:solidFill>
                <a:latin typeface="Malgun Gothic"/>
                <a:ea typeface="Malgun Gothic"/>
              </a:rPr>
              <a:t>수요</a:t>
            </a:r>
            <a:r>
              <a:rPr lang="en-US" sz="1300" dirty="0">
                <a:solidFill>
                  <a:srgbClr val="0F2340"/>
                </a:solidFill>
                <a:latin typeface="Malgun Gothic"/>
                <a:ea typeface="Malgun Gothic"/>
              </a:rPr>
              <a:t> </a:t>
            </a:r>
            <a:r>
              <a:rPr lang="ko-KR" altLang="en-US" sz="1300">
                <a:solidFill>
                  <a:srgbClr val="0F2340"/>
                </a:solidFill>
                <a:latin typeface="Malgun Gothic"/>
                <a:ea typeface="Malgun Gothic"/>
              </a:rPr>
              <a:t>신호</a:t>
            </a:r>
            <a:endParaRPr lang="en-US"/>
          </a:p>
          <a:p>
            <a:pPr algn="ctr">
              <a:lnSpc>
                <a:spcPct val="150000"/>
              </a:lnSpc>
            </a:pPr>
            <a:r>
              <a:rPr lang="en-US" sz="1300" dirty="0" err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</a:t>
            </a:r>
            <a:r>
              <a:rPr lang="en-US" sz="1300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= </a:t>
            </a:r>
            <a:r>
              <a:rPr lang="ko-KR" altLang="en-US" sz="1300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</a:t>
            </a:r>
            <a:r>
              <a:rPr lang="en-US" altLang="ko-KR" sz="1300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의사</a:t>
            </a:r>
            <a:endParaRPr lang="ko-KR" altLang="en-US" sz="1300" dirty="0">
              <a:solidFill>
                <a:srgbClr val="0F2340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300" dirty="0" err="1">
                <a:solidFill>
                  <a:srgbClr val="0F2340"/>
                </a:solidFill>
                <a:latin typeface="Malgun Gothic"/>
                <a:ea typeface="Malgun Gothic"/>
                <a:sym typeface="Malgun Gothic"/>
              </a:rPr>
              <a:t>계약정보</a:t>
            </a:r>
            <a:r>
              <a:rPr lang="en-US" sz="1300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= </a:t>
            </a:r>
            <a:r>
              <a:rPr lang="en-US" sz="1300" dirty="0" err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실측</a:t>
            </a:r>
            <a:r>
              <a:rPr lang="en-US" sz="1300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300" dirty="0">
              <a:solidFill>
                <a:srgbClr val="0F2340"/>
              </a:solidFill>
              <a:latin typeface="Malgun Gothic"/>
              <a:ea typeface="Malgun Gothic"/>
              <a:cs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en-US" sz="1300" b="1" dirty="0" err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</a:t>
            </a:r>
            <a:r>
              <a:rPr lang="en-US" sz="1300" b="1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300" b="1" dirty="0" err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구매할</a:t>
            </a:r>
            <a:r>
              <a:rPr lang="en-US" sz="1300" b="1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300" b="1" dirty="0" err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</a:t>
            </a:r>
            <a:r>
              <a:rPr lang="en-US" sz="1300" b="1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300" b="1" dirty="0" err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있음</a:t>
            </a:r>
            <a:r>
              <a:rPr lang="en-US" sz="1300" b="1" dirty="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endParaRPr sz="1300" b="1" dirty="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9" name="Google Shape;239;p18"/>
          <p:cNvCxnSpPr>
            <a:endCxn id="229" idx="2"/>
          </p:cNvCxnSpPr>
          <p:nvPr/>
        </p:nvCxnSpPr>
        <p:spPr>
          <a:xfrm>
            <a:off x="2373600" y="4761670"/>
            <a:ext cx="5700" cy="173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18"/>
          <p:cNvSpPr txBox="1"/>
          <p:nvPr/>
        </p:nvSpPr>
        <p:spPr>
          <a:xfrm>
            <a:off x="4524425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서비스</a:t>
            </a:r>
            <a:endParaRPr sz="16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217925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sz="16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4524425" y="5014100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입찰공고만 집계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“어디서 많이 삼”</a:t>
            </a:r>
            <a:endParaRPr sz="13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3" name="Google Shape;243;p18"/>
          <p:cNvCxnSpPr/>
          <p:nvPr/>
        </p:nvCxnSpPr>
        <p:spPr>
          <a:xfrm>
            <a:off x="6159794" y="4761670"/>
            <a:ext cx="5700" cy="173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18"/>
          <p:cNvSpPr/>
          <p:nvPr/>
        </p:nvSpPr>
        <p:spPr>
          <a:xfrm>
            <a:off x="5278775" y="5503250"/>
            <a:ext cx="184800" cy="255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6167000" y="5014100"/>
            <a:ext cx="17443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입찰(수요)+계약(확정)+창고(인프라)</a:t>
            </a: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“어디서, 무엇을, </a:t>
            </a:r>
            <a:endParaRPr sz="12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어떻게 납품”</a:t>
            </a:r>
            <a:endParaRPr sz="12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972275" y="5546975"/>
            <a:ext cx="184800" cy="255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836305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서비스</a:t>
            </a:r>
            <a:endParaRPr sz="16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1005655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sz="16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0050725" y="5014100"/>
            <a:ext cx="16935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기본값 🔴 진입 주의 → 수치 근거 조건 충족 시만 🟢 허용</a:t>
            </a: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성공 예측 금지, 수치 출처 인용 강제</a:t>
            </a: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8363050" y="5141428"/>
            <a:ext cx="1551260" cy="121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항상 긍정적, 검증 없는 추천</a:t>
            </a:r>
            <a:endParaRPr sz="13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1" name="Google Shape;251;p18"/>
          <p:cNvCxnSpPr/>
          <p:nvPr/>
        </p:nvCxnSpPr>
        <p:spPr>
          <a:xfrm>
            <a:off x="9966875" y="4732645"/>
            <a:ext cx="5700" cy="173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/>
          <p:nvPr/>
        </p:nvSpPr>
        <p:spPr>
          <a:xfrm>
            <a:off x="3368032" y="1280525"/>
            <a:ext cx="2367600" cy="5112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150020" y="1280525"/>
            <a:ext cx="2367600" cy="5112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9023220" y="1280525"/>
            <a:ext cx="2367600" cy="5112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502920" y="969264"/>
            <a:ext cx="11201400" cy="2280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6057" y="1280525"/>
            <a:ext cx="2367600" cy="5112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705608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</a:t>
            </a:r>
            <a:endParaRPr sz="400"/>
          </a:p>
        </p:txBody>
      </p:sp>
      <p:sp>
        <p:nvSpPr>
          <p:cNvPr id="264" name="Google Shape;264;p19"/>
          <p:cNvSpPr txBox="1"/>
          <p:nvPr/>
        </p:nvSpPr>
        <p:spPr>
          <a:xfrm>
            <a:off x="692758" y="2154139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</a:t>
            </a:r>
            <a:endParaRPr sz="900"/>
          </a:p>
        </p:txBody>
      </p:sp>
      <p:sp>
        <p:nvSpPr>
          <p:cNvPr id="265" name="Google Shape;265;p19"/>
          <p:cNvSpPr txBox="1"/>
          <p:nvPr/>
        </p:nvSpPr>
        <p:spPr>
          <a:xfrm>
            <a:off x="685795" y="636870"/>
            <a:ext cx="9692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→ 점수 산정 → AI 해석 → 시각화 파이프라인</a:t>
            </a:r>
            <a:endParaRPr sz="1700"/>
          </a:p>
        </p:txBody>
      </p:sp>
      <p:sp>
        <p:nvSpPr>
          <p:cNvPr id="266" name="Google Shape;266;p19"/>
          <p:cNvSpPr txBox="1"/>
          <p:nvPr/>
        </p:nvSpPr>
        <p:spPr>
          <a:xfrm>
            <a:off x="1882356" y="2154129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계약정보</a:t>
            </a:r>
            <a:endParaRPr sz="900"/>
          </a:p>
        </p:txBody>
      </p:sp>
      <p:sp>
        <p:nvSpPr>
          <p:cNvPr id="267" name="Google Shape;267;p19"/>
          <p:cNvSpPr txBox="1"/>
          <p:nvPr/>
        </p:nvSpPr>
        <p:spPr>
          <a:xfrm>
            <a:off x="692758" y="2570099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의사</a:t>
            </a:r>
            <a:endParaRPr sz="500"/>
          </a:p>
        </p:txBody>
      </p:sp>
      <p:sp>
        <p:nvSpPr>
          <p:cNvPr id="268" name="Google Shape;268;p19"/>
          <p:cNvSpPr txBox="1"/>
          <p:nvPr/>
        </p:nvSpPr>
        <p:spPr>
          <a:xfrm>
            <a:off x="1882356" y="2570090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확정</a:t>
            </a:r>
            <a:endParaRPr sz="500"/>
          </a:p>
        </p:txBody>
      </p:sp>
      <p:sp>
        <p:nvSpPr>
          <p:cNvPr id="269" name="Google Shape;269;p19"/>
          <p:cNvSpPr txBox="1"/>
          <p:nvPr/>
        </p:nvSpPr>
        <p:spPr>
          <a:xfrm>
            <a:off x="710303" y="4109349"/>
            <a:ext cx="1170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학교급식</a:t>
            </a:r>
            <a:endParaRPr sz="800"/>
          </a:p>
        </p:txBody>
      </p:sp>
      <p:sp>
        <p:nvSpPr>
          <p:cNvPr id="270" name="Google Shape;270;p19"/>
          <p:cNvSpPr txBox="1"/>
          <p:nvPr/>
        </p:nvSpPr>
        <p:spPr>
          <a:xfrm>
            <a:off x="1898394" y="4109337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물류창고</a:t>
            </a:r>
            <a:endParaRPr sz="900"/>
          </a:p>
        </p:txBody>
      </p:sp>
      <p:sp>
        <p:nvSpPr>
          <p:cNvPr id="271" name="Google Shape;271;p19"/>
          <p:cNvSpPr txBox="1"/>
          <p:nvPr/>
        </p:nvSpPr>
        <p:spPr>
          <a:xfrm>
            <a:off x="710287" y="4627352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 특화 수요</a:t>
            </a:r>
            <a:endParaRPr sz="500"/>
          </a:p>
        </p:txBody>
      </p:sp>
      <p:sp>
        <p:nvSpPr>
          <p:cNvPr id="272" name="Google Shape;272;p19"/>
          <p:cNvSpPr txBox="1"/>
          <p:nvPr/>
        </p:nvSpPr>
        <p:spPr>
          <a:xfrm>
            <a:off x="1898394" y="4627351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인프라</a:t>
            </a:r>
            <a:b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커버리지</a:t>
            </a:r>
            <a:endParaRPr sz="500"/>
          </a:p>
        </p:txBody>
      </p:sp>
      <p:sp>
        <p:nvSpPr>
          <p:cNvPr id="273" name="Google Shape;273;p19"/>
          <p:cNvSpPr txBox="1"/>
          <p:nvPr/>
        </p:nvSpPr>
        <p:spPr>
          <a:xfrm>
            <a:off x="710273" y="3131727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발주계획</a:t>
            </a:r>
            <a:endParaRPr sz="900"/>
          </a:p>
        </p:txBody>
      </p:sp>
      <p:sp>
        <p:nvSpPr>
          <p:cNvPr id="274" name="Google Shape;274;p19"/>
          <p:cNvSpPr txBox="1"/>
          <p:nvPr/>
        </p:nvSpPr>
        <p:spPr>
          <a:xfrm>
            <a:off x="1898381" y="3131720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MAS</a:t>
            </a:r>
            <a:endParaRPr sz="900"/>
          </a:p>
        </p:txBody>
      </p:sp>
      <p:sp>
        <p:nvSpPr>
          <p:cNvPr id="275" name="Google Shape;275;p19"/>
          <p:cNvSpPr txBox="1"/>
          <p:nvPr/>
        </p:nvSpPr>
        <p:spPr>
          <a:xfrm>
            <a:off x="710273" y="3564695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예정 수요</a:t>
            </a:r>
            <a:endParaRPr sz="500"/>
          </a:p>
        </p:txBody>
      </p:sp>
      <p:sp>
        <p:nvSpPr>
          <p:cNvPr id="276" name="Google Shape;276;p19"/>
          <p:cNvSpPr txBox="1"/>
          <p:nvPr/>
        </p:nvSpPr>
        <p:spPr>
          <a:xfrm>
            <a:off x="1877106" y="3564703"/>
            <a:ext cx="981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algun Gothic"/>
                <a:ea typeface="Malgun Gothic"/>
                <a:cs typeface="Malgun Gothic"/>
                <a:sym typeface="Malgun Gothic"/>
              </a:rPr>
              <a:t>단가계약 시장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586049" y="5224930"/>
            <a:ext cx="1170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행안부 인구</a:t>
            </a:r>
            <a:endParaRPr sz="900"/>
          </a:p>
        </p:txBody>
      </p:sp>
      <p:sp>
        <p:nvSpPr>
          <p:cNvPr id="278" name="Google Shape;278;p19"/>
          <p:cNvSpPr txBox="1"/>
          <p:nvPr/>
        </p:nvSpPr>
        <p:spPr>
          <a:xfrm>
            <a:off x="1770131" y="5224916"/>
            <a:ext cx="1187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 상권</a:t>
            </a:r>
            <a:endParaRPr sz="700"/>
          </a:p>
        </p:txBody>
      </p:sp>
      <p:sp>
        <p:nvSpPr>
          <p:cNvPr id="279" name="Google Shape;279;p19"/>
          <p:cNvSpPr txBox="1"/>
          <p:nvPr/>
        </p:nvSpPr>
        <p:spPr>
          <a:xfrm>
            <a:off x="710287" y="5673000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적합도</a:t>
            </a:r>
            <a:endParaRPr sz="500"/>
          </a:p>
        </p:txBody>
      </p:sp>
      <p:sp>
        <p:nvSpPr>
          <p:cNvPr id="280" name="Google Shape;280;p19"/>
          <p:cNvSpPr txBox="1"/>
          <p:nvPr/>
        </p:nvSpPr>
        <p:spPr>
          <a:xfrm>
            <a:off x="1898394" y="5673003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포화도</a:t>
            </a:r>
            <a:endParaRPr sz="500"/>
          </a:p>
        </p:txBody>
      </p:sp>
      <p:sp>
        <p:nvSpPr>
          <p:cNvPr id="281" name="Google Shape;281;p19"/>
          <p:cNvSpPr txBox="1"/>
          <p:nvPr/>
        </p:nvSpPr>
        <p:spPr>
          <a:xfrm>
            <a:off x="3515908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 산정</a:t>
            </a:r>
            <a:endParaRPr sz="400"/>
          </a:p>
        </p:txBody>
      </p:sp>
      <p:sp>
        <p:nvSpPr>
          <p:cNvPr id="282" name="Google Shape;282;p19"/>
          <p:cNvSpPr txBox="1"/>
          <p:nvPr/>
        </p:nvSpPr>
        <p:spPr>
          <a:xfrm>
            <a:off x="3405450" y="1830025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count_score</a:t>
            </a:r>
            <a:endParaRPr sz="900"/>
          </a:p>
        </p:txBody>
      </p:sp>
      <p:sp>
        <p:nvSpPr>
          <p:cNvPr id="283" name="Google Shape;283;p19"/>
          <p:cNvSpPr txBox="1"/>
          <p:nvPr/>
        </p:nvSpPr>
        <p:spPr>
          <a:xfrm>
            <a:off x="3367351" y="2166788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공고수</a:t>
            </a:r>
            <a:endParaRPr sz="500"/>
          </a:p>
        </p:txBody>
      </p:sp>
      <p:sp>
        <p:nvSpPr>
          <p:cNvPr id="284" name="Google Shape;284;p19"/>
          <p:cNvSpPr txBox="1"/>
          <p:nvPr/>
        </p:nvSpPr>
        <p:spPr>
          <a:xfrm>
            <a:off x="6269571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</a:t>
            </a:r>
            <a:endParaRPr sz="400"/>
          </a:p>
        </p:txBody>
      </p:sp>
      <p:sp>
        <p:nvSpPr>
          <p:cNvPr id="285" name="Google Shape;285;p19"/>
          <p:cNvSpPr txBox="1"/>
          <p:nvPr/>
        </p:nvSpPr>
        <p:spPr>
          <a:xfrm>
            <a:off x="6282890" y="1830025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수요 설명</a:t>
            </a:r>
            <a:endParaRPr sz="900"/>
          </a:p>
        </p:txBody>
      </p:sp>
      <p:sp>
        <p:nvSpPr>
          <p:cNvPr id="286" name="Google Shape;286;p19"/>
          <p:cNvSpPr txBox="1"/>
          <p:nvPr/>
        </p:nvSpPr>
        <p:spPr>
          <a:xfrm>
            <a:off x="6509342" y="2101854"/>
            <a:ext cx="1902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(추천 품목)</a:t>
            </a:r>
            <a:endParaRPr sz="500"/>
          </a:p>
        </p:txBody>
      </p:sp>
      <p:sp>
        <p:nvSpPr>
          <p:cNvPr id="287" name="Google Shape;287;p19"/>
          <p:cNvSpPr txBox="1"/>
          <p:nvPr/>
        </p:nvSpPr>
        <p:spPr>
          <a:xfrm>
            <a:off x="9142783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시각화 레이어</a:t>
            </a:r>
            <a:endParaRPr sz="400"/>
          </a:p>
        </p:txBody>
      </p:sp>
      <p:sp>
        <p:nvSpPr>
          <p:cNvPr id="288" name="Google Shape;288;p19"/>
          <p:cNvSpPr txBox="1"/>
          <p:nvPr/>
        </p:nvSpPr>
        <p:spPr>
          <a:xfrm>
            <a:off x="9062125" y="1830025"/>
            <a:ext cx="23124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🌏 전국 지도</a:t>
            </a:r>
            <a:endParaRPr sz="900"/>
          </a:p>
        </p:txBody>
      </p:sp>
      <p:sp>
        <p:nvSpPr>
          <p:cNvPr id="289" name="Google Shape;289;p19"/>
          <p:cNvSpPr txBox="1"/>
          <p:nvPr/>
        </p:nvSpPr>
        <p:spPr>
          <a:xfrm>
            <a:off x="5123938" y="1882675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40%</a:t>
            </a:r>
            <a:endParaRPr sz="600" b="1"/>
          </a:p>
        </p:txBody>
      </p:sp>
      <p:sp>
        <p:nvSpPr>
          <p:cNvPr id="290" name="Google Shape;290;p19"/>
          <p:cNvSpPr txBox="1"/>
          <p:nvPr/>
        </p:nvSpPr>
        <p:spPr>
          <a:xfrm>
            <a:off x="3413964" y="2347230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amount_score</a:t>
            </a:r>
            <a:endParaRPr sz="900"/>
          </a:p>
        </p:txBody>
      </p:sp>
      <p:sp>
        <p:nvSpPr>
          <p:cNvPr id="291" name="Google Shape;291;p19"/>
          <p:cNvSpPr txBox="1"/>
          <p:nvPr/>
        </p:nvSpPr>
        <p:spPr>
          <a:xfrm>
            <a:off x="3385806" y="2684003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</a:t>
            </a:r>
            <a:endParaRPr sz="500"/>
          </a:p>
        </p:txBody>
      </p:sp>
      <p:sp>
        <p:nvSpPr>
          <p:cNvPr id="292" name="Google Shape;292;p19"/>
          <p:cNvSpPr txBox="1"/>
          <p:nvPr/>
        </p:nvSpPr>
        <p:spPr>
          <a:xfrm>
            <a:off x="5128215" y="2399876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25%</a:t>
            </a:r>
            <a:endParaRPr sz="600" b="1"/>
          </a:p>
        </p:txBody>
      </p:sp>
      <p:sp>
        <p:nvSpPr>
          <p:cNvPr id="293" name="Google Shape;293;p19"/>
          <p:cNvSpPr txBox="1"/>
          <p:nvPr/>
        </p:nvSpPr>
        <p:spPr>
          <a:xfrm>
            <a:off x="3413264" y="2864436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recency_score</a:t>
            </a:r>
            <a:endParaRPr sz="900"/>
          </a:p>
        </p:txBody>
      </p:sp>
      <p:sp>
        <p:nvSpPr>
          <p:cNvPr id="294" name="Google Shape;294;p19"/>
          <p:cNvSpPr txBox="1"/>
          <p:nvPr/>
        </p:nvSpPr>
        <p:spPr>
          <a:xfrm>
            <a:off x="3384037" y="3201213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최근성</a:t>
            </a:r>
            <a:endParaRPr sz="500"/>
          </a:p>
        </p:txBody>
      </p:sp>
      <p:sp>
        <p:nvSpPr>
          <p:cNvPr id="295" name="Google Shape;295;p19"/>
          <p:cNvSpPr txBox="1"/>
          <p:nvPr/>
        </p:nvSpPr>
        <p:spPr>
          <a:xfrm>
            <a:off x="5127639" y="2917080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15%</a:t>
            </a:r>
            <a:endParaRPr sz="600" b="1"/>
          </a:p>
        </p:txBody>
      </p:sp>
      <p:sp>
        <p:nvSpPr>
          <p:cNvPr id="296" name="Google Shape;296;p19"/>
          <p:cNvSpPr txBox="1"/>
          <p:nvPr/>
        </p:nvSpPr>
        <p:spPr>
          <a:xfrm>
            <a:off x="3448966" y="3434275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competition_score</a:t>
            </a:r>
            <a:endParaRPr sz="1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3368024" y="3771038"/>
            <a:ext cx="2367600" cy="1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진입용이도</a:t>
            </a:r>
            <a:endParaRPr sz="500"/>
          </a:p>
        </p:txBody>
      </p:sp>
      <p:sp>
        <p:nvSpPr>
          <p:cNvPr id="298" name="Google Shape;298;p19"/>
          <p:cNvSpPr txBox="1"/>
          <p:nvPr/>
        </p:nvSpPr>
        <p:spPr>
          <a:xfrm>
            <a:off x="5150946" y="3486918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20%</a:t>
            </a:r>
            <a:endParaRPr sz="600" b="1"/>
          </a:p>
        </p:txBody>
      </p:sp>
      <p:sp>
        <p:nvSpPr>
          <p:cNvPr id="299" name="Google Shape;299;p19"/>
          <p:cNvSpPr/>
          <p:nvPr/>
        </p:nvSpPr>
        <p:spPr>
          <a:xfrm>
            <a:off x="1125375" y="2476924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2246700" y="2440774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2262750" y="3418874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1157475" y="3418874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1100750" y="4420338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2234375" y="4422479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2234388" y="5495381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1100763" y="5495381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4446975" y="4021121"/>
            <a:ext cx="209700" cy="16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3630078" y="4158689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opportunity_score</a:t>
            </a:r>
            <a:endParaRPr sz="1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3368025" y="4478803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지역×품목 공공수요 매력도</a:t>
            </a:r>
            <a:endParaRPr sz="500"/>
          </a:p>
        </p:txBody>
      </p:sp>
      <p:sp>
        <p:nvSpPr>
          <p:cNvPr id="310" name="Google Shape;310;p19"/>
          <p:cNvSpPr/>
          <p:nvPr/>
        </p:nvSpPr>
        <p:spPr>
          <a:xfrm>
            <a:off x="4414738" y="4730510"/>
            <a:ext cx="274200" cy="240000"/>
          </a:xfrm>
          <a:prstGeom prst="mathPlus">
            <a:avLst>
              <a:gd name="adj1" fmla="val 2352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3679228" y="5025702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consumer_fit_score</a:t>
            </a:r>
            <a:endParaRPr sz="1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6283427" y="2471693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수요 공백 판정</a:t>
            </a:r>
            <a:endParaRPr sz="900"/>
          </a:p>
        </p:txBody>
      </p:sp>
      <p:sp>
        <p:nvSpPr>
          <p:cNvPr id="313" name="Google Shape;313;p19"/>
          <p:cNvSpPr txBox="1"/>
          <p:nvPr/>
        </p:nvSpPr>
        <p:spPr>
          <a:xfrm>
            <a:off x="6509354" y="2743521"/>
            <a:ext cx="1902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(블루오션 vs 실제 저수요)</a:t>
            </a:r>
            <a:endParaRPr sz="500"/>
          </a:p>
        </p:txBody>
      </p:sp>
      <p:sp>
        <p:nvSpPr>
          <p:cNvPr id="314" name="Google Shape;314;p19"/>
          <p:cNvSpPr txBox="1"/>
          <p:nvPr/>
        </p:nvSpPr>
        <p:spPr>
          <a:xfrm>
            <a:off x="6295090" y="3113361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경쟁 구조 판정</a:t>
            </a:r>
            <a:endParaRPr sz="900"/>
          </a:p>
        </p:txBody>
      </p:sp>
      <p:sp>
        <p:nvSpPr>
          <p:cNvPr id="315" name="Google Shape;315;p19"/>
          <p:cNvSpPr txBox="1"/>
          <p:nvPr/>
        </p:nvSpPr>
        <p:spPr>
          <a:xfrm>
            <a:off x="6150001" y="3385202"/>
            <a:ext cx="2367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🔴레드오션/🟡조건부/🟢진입</a:t>
            </a:r>
            <a:endParaRPr sz="11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6295090" y="3755029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물류 거점 전략</a:t>
            </a:r>
            <a:endParaRPr sz="900"/>
          </a:p>
        </p:txBody>
      </p:sp>
      <p:sp>
        <p:nvSpPr>
          <p:cNvPr id="317" name="Google Shape;317;p19"/>
          <p:cNvSpPr txBox="1"/>
          <p:nvPr/>
        </p:nvSpPr>
        <p:spPr>
          <a:xfrm>
            <a:off x="6509350" y="4026857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(1·2·3티어 허브 구조)</a:t>
            </a:r>
            <a:endParaRPr sz="11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6315165" y="4396696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지역 비교</a:t>
            </a:r>
            <a:endParaRPr sz="900"/>
          </a:p>
        </p:txBody>
      </p:sp>
      <p:sp>
        <p:nvSpPr>
          <p:cNvPr id="319" name="Google Shape;319;p19"/>
          <p:cNvSpPr txBox="1"/>
          <p:nvPr/>
        </p:nvSpPr>
        <p:spPr>
          <a:xfrm>
            <a:off x="6149875" y="4668525"/>
            <a:ext cx="25032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(두 지역 품목 포트폴리오 차이 설명)</a:t>
            </a:r>
            <a:endParaRPr sz="11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3417175" y="5345815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적합도</a:t>
            </a:r>
            <a:endParaRPr sz="500"/>
          </a:p>
        </p:txBody>
      </p:sp>
      <p:sp>
        <p:nvSpPr>
          <p:cNvPr id="321" name="Google Shape;321;p19"/>
          <p:cNvSpPr txBox="1"/>
          <p:nvPr/>
        </p:nvSpPr>
        <p:spPr>
          <a:xfrm>
            <a:off x="3679228" y="5652977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adjusted_score</a:t>
            </a:r>
            <a:endParaRPr sz="1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3417175" y="5973090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생존율 보정</a:t>
            </a:r>
            <a:endParaRPr sz="500"/>
          </a:p>
        </p:txBody>
      </p:sp>
      <p:sp>
        <p:nvSpPr>
          <p:cNvPr id="323" name="Google Shape;323;p19"/>
          <p:cNvSpPr txBox="1"/>
          <p:nvPr/>
        </p:nvSpPr>
        <p:spPr>
          <a:xfrm>
            <a:off x="6275884" y="5256675"/>
            <a:ext cx="2128500" cy="951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인용형 프롬프트  수치 없는 판단 금지 (기본값 🔴 진입 주의)</a:t>
            </a:r>
            <a:endParaRPr sz="900"/>
          </a:p>
        </p:txBody>
      </p:sp>
      <p:sp>
        <p:nvSpPr>
          <p:cNvPr id="324" name="Google Shape;324;p19"/>
          <p:cNvSpPr txBox="1"/>
          <p:nvPr/>
        </p:nvSpPr>
        <p:spPr>
          <a:xfrm>
            <a:off x="9043525" y="2366537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🗺️ 지역 분석</a:t>
            </a:r>
            <a:endParaRPr sz="900"/>
          </a:p>
        </p:txBody>
      </p:sp>
      <p:sp>
        <p:nvSpPr>
          <p:cNvPr id="325" name="Google Shape;325;p19"/>
          <p:cNvSpPr txBox="1"/>
          <p:nvPr/>
        </p:nvSpPr>
        <p:spPr>
          <a:xfrm>
            <a:off x="9043525" y="2903049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📊 수요 예측</a:t>
            </a:r>
            <a:endParaRPr sz="900"/>
          </a:p>
        </p:txBody>
      </p:sp>
      <p:sp>
        <p:nvSpPr>
          <p:cNvPr id="326" name="Google Shape;326;p19"/>
          <p:cNvSpPr txBox="1"/>
          <p:nvPr/>
        </p:nvSpPr>
        <p:spPr>
          <a:xfrm>
            <a:off x="9043525" y="3439561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🔍 블루오션 탐지</a:t>
            </a:r>
            <a:endParaRPr sz="900"/>
          </a:p>
        </p:txBody>
      </p:sp>
      <p:sp>
        <p:nvSpPr>
          <p:cNvPr id="327" name="Google Shape;327;p19"/>
          <p:cNvSpPr txBox="1"/>
          <p:nvPr/>
        </p:nvSpPr>
        <p:spPr>
          <a:xfrm>
            <a:off x="9043525" y="3976073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🚚 물류 거점</a:t>
            </a:r>
            <a:endParaRPr sz="900"/>
          </a:p>
        </p:txBody>
      </p:sp>
      <p:sp>
        <p:nvSpPr>
          <p:cNvPr id="328" name="Google Shape;328;p19"/>
          <p:cNvSpPr txBox="1"/>
          <p:nvPr/>
        </p:nvSpPr>
        <p:spPr>
          <a:xfrm>
            <a:off x="9043525" y="4512585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⚖️ 지역 비교</a:t>
            </a:r>
            <a:endParaRPr sz="900"/>
          </a:p>
        </p:txBody>
      </p:sp>
      <p:sp>
        <p:nvSpPr>
          <p:cNvPr id="329" name="Google Shape;329;p19"/>
          <p:cNvSpPr txBox="1"/>
          <p:nvPr/>
        </p:nvSpPr>
        <p:spPr>
          <a:xfrm>
            <a:off x="9037975" y="5049097"/>
            <a:ext cx="23607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👥 소비층 적합도</a:t>
            </a:r>
            <a:endParaRPr sz="900"/>
          </a:p>
        </p:txBody>
      </p:sp>
      <p:sp>
        <p:nvSpPr>
          <p:cNvPr id="330" name="Google Shape;330;p19"/>
          <p:cNvSpPr txBox="1"/>
          <p:nvPr/>
        </p:nvSpPr>
        <p:spPr>
          <a:xfrm>
            <a:off x="9037975" y="5585609"/>
            <a:ext cx="23607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ctr" anchorCtr="0">
            <a:noAutofit/>
          </a:bodyPr>
          <a:lstStyle/>
          <a:p>
            <a:pPr marL="36576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🤖 AI 해석 5종</a:t>
            </a:r>
            <a:endParaRPr sz="900"/>
          </a:p>
        </p:txBody>
      </p:sp>
      <p:sp>
        <p:nvSpPr>
          <p:cNvPr id="331" name="Google Shape;331;p19"/>
          <p:cNvSpPr/>
          <p:nvPr/>
        </p:nvSpPr>
        <p:spPr>
          <a:xfrm>
            <a:off x="2924677" y="3373108"/>
            <a:ext cx="534300" cy="4968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4A7DBA"/>
          </a:solidFill>
          <a:ln w="11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925" tIns="106925" rIns="106925" bIns="106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5692200" y="3317450"/>
            <a:ext cx="534300" cy="4968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4A7DBA"/>
          </a:solidFill>
          <a:ln w="11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925" tIns="106925" rIns="106925" bIns="106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8442642" y="3317450"/>
            <a:ext cx="534300" cy="4968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4A7DBA"/>
          </a:solidFill>
          <a:ln w="11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925" tIns="106925" rIns="106925" bIns="106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1249645" y="6494320"/>
            <a:ext cx="9692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세부 데이터 건수와 출처는 활용 공공데이터 목록 슬라이드에서 제시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/>
          <p:nvPr/>
        </p:nvSpPr>
        <p:spPr>
          <a:xfrm>
            <a:off x="1910080" y="5634990"/>
            <a:ext cx="8290500" cy="914400"/>
          </a:xfrm>
          <a:prstGeom prst="roundRect">
            <a:avLst>
              <a:gd name="adj" fmla="val 16667"/>
            </a:avLst>
          </a:prstGeom>
          <a:solidFill>
            <a:srgbClr val="36609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결합 구조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 하나만으로는 입지를 판단하기 어렵습니다.</a:t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594350" y="1965950"/>
            <a:ext cx="3339000" cy="1348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594350" y="1965950"/>
            <a:ext cx="93900" cy="1348800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852088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852088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품목이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얼마나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발주되는가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319835" y="1965950"/>
            <a:ext cx="3339000" cy="1348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4319835" y="1965950"/>
            <a:ext cx="93900" cy="1348800"/>
          </a:xfrm>
          <a:prstGeom prst="rect">
            <a:avLst/>
          </a:prstGeom>
          <a:solidFill>
            <a:srgbClr val="0EA5E9"/>
          </a:solidFill>
          <a:ln w="95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4577573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행안부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4577573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</a:t>
            </a: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인구 규모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구성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8045320" y="1965950"/>
            <a:ext cx="3339000" cy="1348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8045320" y="1965950"/>
            <a:ext cx="93900" cy="1348800"/>
          </a:xfrm>
          <a:prstGeom prst="rect">
            <a:avLst/>
          </a:prstGeom>
          <a:solidFill>
            <a:srgbClr val="3B82F6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8303058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8303058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업종별 </a:t>
            </a: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점포 수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포화도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594350" y="3710170"/>
            <a:ext cx="3339000" cy="1348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594350" y="3710170"/>
            <a:ext cx="93900" cy="1348800"/>
          </a:xfrm>
          <a:prstGeom prst="rect">
            <a:avLst/>
          </a:prstGeom>
          <a:solidFill>
            <a:srgbClr val="1E40AF"/>
          </a:solidFill>
          <a:ln w="9525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 txBox="1"/>
          <p:nvPr/>
        </p:nvSpPr>
        <p:spPr>
          <a:xfrm>
            <a:off x="852088" y="382577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KOSIS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852088" y="421811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업종별 </a:t>
            </a: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생존율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리스크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1905100" y="5728900"/>
            <a:ext cx="8290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    6개 기관 / 9개 데이터소스</a:t>
            </a:r>
            <a:r>
              <a:rPr lang="en-US" sz="2000" i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데이터를 결합해야</a:t>
            </a: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</a:t>
            </a:r>
            <a:r>
              <a:rPr lang="en-US" sz="2000" i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lang="en-US" sz="2000" b="1" i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</a:t>
            </a:r>
            <a:r>
              <a:rPr lang="en-US" sz="2000" i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구분할 수 있습니다.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319846" y="3710157"/>
            <a:ext cx="3339000" cy="1348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4319846" y="3710157"/>
            <a:ext cx="93900" cy="1348800"/>
          </a:xfrm>
          <a:prstGeom prst="rect">
            <a:avLst/>
          </a:prstGeom>
          <a:solidFill>
            <a:srgbClr val="1E40AF"/>
          </a:solidFill>
          <a:ln w="9525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4577584" y="3825757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국토부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4577584" y="4218105"/>
            <a:ext cx="2928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</a:t>
            </a: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인프라 </a:t>
            </a: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커버리지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8045309" y="3710170"/>
            <a:ext cx="3339000" cy="1348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8045309" y="3710170"/>
            <a:ext cx="93900" cy="1348800"/>
          </a:xfrm>
          <a:prstGeom prst="rect">
            <a:avLst/>
          </a:prstGeom>
          <a:solidFill>
            <a:srgbClr val="1E40AF"/>
          </a:solidFill>
          <a:ln w="9525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8303047" y="3825770"/>
            <a:ext cx="2928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</a:t>
            </a:r>
            <a:b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한국농수산식품유통공사</a:t>
            </a:r>
            <a:endParaRPr sz="1100"/>
          </a:p>
        </p:txBody>
      </p:sp>
      <p:sp>
        <p:nvSpPr>
          <p:cNvPr id="368" name="Google Shape;368;p20"/>
          <p:cNvSpPr txBox="1"/>
          <p:nvPr/>
        </p:nvSpPr>
        <p:spPr>
          <a:xfrm>
            <a:off x="8303079" y="4465369"/>
            <a:ext cx="2928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품목 수요 실측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분석 흐름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685800" y="1115568"/>
            <a:ext cx="10607040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사용자는 지역을 고르고, 서비스는 5가지 질문에 답합니다.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777240" y="1874519"/>
            <a:ext cx="3246120" cy="18440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777240" y="1874519"/>
            <a:ext cx="73152" cy="1844040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978408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</a:t>
            </a: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978408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지역에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발주 수요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있는가?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4526279" y="1874519"/>
            <a:ext cx="3246120" cy="18440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4526279" y="1874519"/>
            <a:ext cx="73152" cy="1844040"/>
          </a:xfrm>
          <a:prstGeom prst="rect">
            <a:avLst/>
          </a:prstGeom>
          <a:solidFill>
            <a:srgbClr val="0EA5E9"/>
          </a:solidFill>
          <a:ln w="95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727447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4727447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품목과 지역 인구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맞는가?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8275319" y="1874519"/>
            <a:ext cx="3246120" cy="18440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8275319" y="1874519"/>
            <a:ext cx="73152" cy="1844040"/>
          </a:xfrm>
          <a:prstGeom prst="rect">
            <a:avLst/>
          </a:prstGeom>
          <a:solidFill>
            <a:srgbClr val="3B82F6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476488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구조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8476488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경쟁이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과열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되어 있지 않은가?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2616200" y="4216400"/>
            <a:ext cx="3246120" cy="18440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2616200" y="4216400"/>
            <a:ext cx="73152" cy="1844040"/>
          </a:xfrm>
          <a:prstGeom prst="rect">
            <a:avLst/>
          </a:prstGeom>
          <a:solidFill>
            <a:srgbClr val="1E40AF"/>
          </a:solidFill>
          <a:ln w="9525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2817368" y="438099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비교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2817368" y="484123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인근 지역과 수요 </a:t>
            </a: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어떻게 다른가?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6365239" y="4216400"/>
            <a:ext cx="3246120" cy="18440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6365239" y="4216400"/>
            <a:ext cx="73152" cy="1844040"/>
          </a:xfrm>
          <a:prstGeom prst="rect">
            <a:avLst/>
          </a:prstGeom>
          <a:solidFill>
            <a:srgbClr val="60A5FA"/>
          </a:solidFill>
          <a:ln w="9525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6566407" y="438099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6566407" y="4841239"/>
            <a:ext cx="2926079" cy="74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지역이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거점 후보</a:t>
            </a: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될 수 있는가?</a:t>
            </a:r>
            <a:endParaRPr sz="1600" b="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/>
          <p:nvPr/>
        </p:nvSpPr>
        <p:spPr>
          <a:xfrm>
            <a:off x="3491992" y="5979160"/>
            <a:ext cx="5196900" cy="7518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1 — 전국 지도</a:t>
            </a:r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625" y="6001054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전국 17개 시도별 </a:t>
            </a: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보정점수 분포</a:t>
            </a:r>
            <a:r>
              <a:rPr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를 확인하고,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부산을 사례 지역으로 선택했습니다.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22" descr="텍스트, 스크린샷, 폰트, 문서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700" y="1706700"/>
            <a:ext cx="2398825" cy="38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2"/>
          <p:cNvSpPr/>
          <p:nvPr/>
        </p:nvSpPr>
        <p:spPr>
          <a:xfrm>
            <a:off x="415310" y="2597428"/>
            <a:ext cx="2223600" cy="5379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8875" y="1136740"/>
            <a:ext cx="8735450" cy="43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2"/>
          <p:cNvSpPr/>
          <p:nvPr/>
        </p:nvSpPr>
        <p:spPr>
          <a:xfrm>
            <a:off x="2968874" y="3544345"/>
            <a:ext cx="1603200" cy="14994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489" y="1302501"/>
            <a:ext cx="5623559" cy="425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5" y="1302500"/>
            <a:ext cx="5623562" cy="4259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3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2 — 부산 진입 흐름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594360" y="1078992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부산 선택 후 자치구 분포</a:t>
            </a:r>
            <a:endParaRPr/>
          </a:p>
        </p:txBody>
      </p:sp>
      <p:sp>
        <p:nvSpPr>
          <p:cNvPr id="420" name="Google Shape;420;p23"/>
          <p:cNvSpPr txBox="1"/>
          <p:nvPr/>
        </p:nvSpPr>
        <p:spPr>
          <a:xfrm>
            <a:off x="6217920" y="1078992"/>
            <a:ext cx="53949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부산진구 선택 후 상세 지표</a:t>
            </a: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617225" y="5962419"/>
            <a:ext cx="109728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부산을 선택하면 </a:t>
            </a:r>
            <a:r>
              <a:rPr lang="en-US" sz="1600" b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자치구별 수요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나뉘고, </a:t>
            </a:r>
            <a:endParaRPr sz="16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구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선택하면 </a:t>
            </a:r>
            <a:r>
              <a:rPr lang="en-US" sz="1600" b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지표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이어집니다.</a:t>
            </a:r>
            <a:endParaRPr sz="16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5747531" y="4477794"/>
            <a:ext cx="470400" cy="56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 err="1">
                <a:solidFill>
                  <a:srgbClr val="1F497D"/>
                </a:solidFill>
                <a:latin typeface="Malgun Gothic"/>
                <a:ea typeface="Malgun Gothic"/>
              </a:rPr>
              <a:t>aT</a:t>
            </a:r>
            <a:r>
              <a:rPr lang="ko-KR" sz="1600" dirty="0">
                <a:solidFill>
                  <a:srgbClr val="1F497D"/>
                </a:solidFill>
                <a:latin typeface="Malgun Gothic"/>
                <a:ea typeface="Malgun Gothic"/>
              </a:rPr>
              <a:t> 학교급식 입찰</a:t>
            </a:r>
            <a:r>
              <a:rPr lang="en-US" altLang="ko-KR" sz="1600" dirty="0">
                <a:solidFill>
                  <a:srgbClr val="1F497D"/>
                </a:solidFill>
                <a:latin typeface="Malgun Gothic"/>
                <a:ea typeface="Malgun Gothic"/>
              </a:rPr>
              <a:t>·</a:t>
            </a:r>
            <a:r>
              <a:rPr lang="ko-KR" sz="1600" dirty="0">
                <a:solidFill>
                  <a:srgbClr val="1F497D"/>
                </a:solidFill>
                <a:latin typeface="Malgun Gothic"/>
                <a:ea typeface="Malgun Gothic"/>
              </a:rPr>
              <a:t>낙찰 데이터는 </a:t>
            </a:r>
            <a:r>
              <a:rPr lang="ko-KR" sz="1600" b="1" dirty="0">
                <a:solidFill>
                  <a:srgbClr val="1F497D"/>
                </a:solidFill>
                <a:latin typeface="Malgun Gothic"/>
                <a:ea typeface="Malgun Gothic"/>
              </a:rPr>
              <a:t>약 </a:t>
            </a:r>
            <a:r>
              <a:rPr lang="en-US" altLang="ko-KR" sz="1600" b="1" dirty="0">
                <a:solidFill>
                  <a:srgbClr val="1F497D"/>
                </a:solidFill>
                <a:latin typeface="Malgun Gothic"/>
                <a:ea typeface="Malgun Gothic"/>
              </a:rPr>
              <a:t>400</a:t>
            </a:r>
            <a:r>
              <a:rPr lang="ko-KR" sz="1600" b="1" dirty="0">
                <a:solidFill>
                  <a:srgbClr val="1F497D"/>
                </a:solidFill>
                <a:latin typeface="Malgun Gothic"/>
                <a:ea typeface="Malgun Gothic"/>
              </a:rPr>
              <a:t>배 규</a:t>
            </a:r>
            <a:r>
              <a:rPr lang="ko-KR" sz="1600" dirty="0">
                <a:solidFill>
                  <a:srgbClr val="1F497D"/>
                </a:solidFill>
                <a:latin typeface="Malgun Gothic"/>
                <a:ea typeface="Malgun Gothic"/>
              </a:rPr>
              <a:t>모</a:t>
            </a:r>
            <a:br>
              <a:rPr lang="ko-KR" sz="1600" dirty="0">
                <a:solidFill>
                  <a:srgbClr val="1F497D"/>
                </a:solidFill>
                <a:latin typeface="Malgun Gothic"/>
                <a:ea typeface="Malgun Gothic"/>
              </a:rPr>
            </a:br>
            <a:r>
              <a:rPr lang="ko-KR" sz="1600" dirty="0">
                <a:solidFill>
                  <a:srgbClr val="1F497D"/>
                </a:solidFill>
                <a:latin typeface="Malgun Gothic"/>
                <a:ea typeface="Malgun Gothic"/>
              </a:rPr>
              <a:t> 급식 수요는 단일 소스보다 </a:t>
            </a:r>
            <a:r>
              <a:rPr lang="ko-KR" sz="1600" b="1" dirty="0">
                <a:solidFill>
                  <a:srgbClr val="1F497D"/>
                </a:solidFill>
                <a:latin typeface="Malgun Gothic"/>
                <a:ea typeface="Malgun Gothic"/>
              </a:rPr>
              <a:t>보강 데이터가 필요</a:t>
            </a:r>
            <a:endParaRPr lang="ko-KR" b="1" dirty="0"/>
          </a:p>
        </p:txBody>
      </p:sp>
      <p:sp>
        <p:nvSpPr>
          <p:cNvPr id="429" name="Google Shape;429;p24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3 — 부산진구 품목 분석</a:t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507463" y="6060165"/>
            <a:ext cx="2987080" cy="60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부산진구</a:t>
            </a:r>
            <a:r>
              <a:rPr lang="en-US" sz="12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dirty="0" err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</a:t>
            </a:r>
            <a:r>
              <a:rPr lang="en-US" sz="12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lang="ko-KR" altLang="en-US" sz="1200">
              <a:solidFill>
                <a:schemeClr val="dk2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en-US" sz="1200" dirty="0" err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</a:t>
            </a:r>
            <a:r>
              <a:rPr lang="en-US" sz="12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8건</a:t>
            </a:r>
            <a:r>
              <a:rPr lang="en-US" sz="12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총 </a:t>
            </a:r>
            <a:r>
              <a:rPr lang="en-US" sz="1200" dirty="0" err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발주금액</a:t>
            </a:r>
            <a:r>
              <a:rPr lang="en-US" sz="12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4,400만원</a:t>
            </a:r>
            <a:endParaRPr sz="12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050" y="1092950"/>
            <a:ext cx="10247350" cy="46721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32;p24">
            <a:extLst>
              <a:ext uri="{FF2B5EF4-FFF2-40B4-BE49-F238E27FC236}">
                <a16:creationId xmlns:a16="http://schemas.microsoft.com/office/drawing/2014/main" id="{E198FF2F-9766-C076-0222-84BC2C64BB6C}"/>
              </a:ext>
            </a:extLst>
          </p:cNvPr>
          <p:cNvSpPr txBox="1"/>
          <p:nvPr/>
        </p:nvSpPr>
        <p:spPr>
          <a:xfrm>
            <a:off x="8686263" y="5917924"/>
            <a:ext cx="3078520" cy="88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rgbClr val="1F497D"/>
                </a:solidFill>
                <a:latin typeface="Malgun Gothic"/>
                <a:ea typeface="Malgun Gothic"/>
                <a:cs typeface="Malgun Gothic"/>
              </a:rPr>
              <a:t>전국 기준</a:t>
            </a:r>
            <a:endParaRPr lang="ko-KR" altLang="en-US" sz="1200" b="1" dirty="0">
              <a:solidFill>
                <a:srgbClr val="1F497D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</a:t>
            </a:r>
            <a:r>
              <a:rPr lang="en-US" sz="1200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</a:t>
            </a:r>
            <a:r>
              <a:rPr lang="en-US" sz="1200" b="1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1,821건</a:t>
            </a:r>
            <a:endParaRPr lang="en-US" altLang="ko-KR" sz="1200" b="1">
              <a:solidFill>
                <a:srgbClr val="1F497D"/>
              </a:solidFill>
              <a:latin typeface="Malgun Gothic"/>
              <a:ea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sz="1200" dirty="0" err="1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aT</a:t>
            </a:r>
            <a:r>
              <a:rPr lang="en-US" sz="1200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200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</a:t>
            </a:r>
            <a:r>
              <a:rPr lang="en-US" sz="1200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200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낙찰</a:t>
            </a:r>
            <a:r>
              <a:rPr lang="en-US" sz="1200" b="1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734,242</a:t>
            </a:r>
            <a:r>
              <a:rPr lang="ko-KR" altLang="en-US" sz="1200" b="1" dirty="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</a:t>
            </a:r>
            <a:endParaRPr lang="en-US" altLang="ko-KR" sz="1200" b="1" dirty="0">
              <a:solidFill>
                <a:srgbClr val="1F497D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4 — 자치구 비교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3505200" y="5958840"/>
            <a:ext cx="5191760" cy="79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부산진구는</a:t>
            </a:r>
            <a:r>
              <a:rPr lang="en-US" sz="1600" b="1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폐기물/환경 중심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해운대구는</a:t>
            </a:r>
            <a:r>
              <a:rPr lang="en-US" sz="1600" b="1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행사/운영용역 중심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부산이라도 </a:t>
            </a:r>
            <a:r>
              <a:rPr lang="en-US" sz="1600" b="1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전략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달라집니다.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833120" y="4790440"/>
            <a:ext cx="1584960" cy="36576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763" y="1057012"/>
            <a:ext cx="10698475" cy="483694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5"/>
          <p:cNvSpPr/>
          <p:nvPr/>
        </p:nvSpPr>
        <p:spPr>
          <a:xfrm>
            <a:off x="746775" y="4687350"/>
            <a:ext cx="3426900" cy="5145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00" y="4244251"/>
            <a:ext cx="10347207" cy="18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525" y="1075750"/>
            <a:ext cx="8517773" cy="31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6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5 — 물류 거점 분석</a:t>
            </a:r>
            <a:endParaRPr sz="24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3494528" y="5949623"/>
            <a:ext cx="5191800" cy="79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공공수요와</a:t>
            </a:r>
            <a:r>
              <a:rPr lang="en-US" altLang="ko-KR" sz="1600" b="1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 err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물류창고</a:t>
            </a:r>
            <a:r>
              <a:rPr lang="en-US" sz="1600" b="1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인프라</a:t>
            </a: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lang="en-US" altLang="ko-KR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함께</a:t>
            </a:r>
            <a:r>
              <a:rPr lang="en-US" altLang="ko-KR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반영해</a:t>
            </a:r>
            <a:endParaRPr lang="ko-KR" sz="1600" dirty="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</a:t>
            </a:r>
            <a:r>
              <a:rPr lang="en-US" altLang="ko-KR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식자재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거점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후보를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단계별</a:t>
            </a:r>
            <a:r>
              <a:rPr lang="ko-KR" alt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</a:t>
            </a:r>
            <a:r>
              <a:rPr lang="en-US" altLang="ko-KR" sz="1600" dirty="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제시합니다</a:t>
            </a:r>
            <a:r>
              <a:rPr lang="en-US" altLang="ko-KR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lang="en-US" sz="1600">
              <a:solidFill>
                <a:schemeClr val="dk2"/>
              </a:solidFill>
              <a:latin typeface="Malgun Gothic"/>
              <a:ea typeface="Malgun Gothic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753000" y="4244250"/>
            <a:ext cx="2765100" cy="7518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6 — 공공수요 예측</a:t>
            </a:r>
            <a:endParaRPr sz="24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sz="1200" b="1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 txBox="1"/>
          <p:nvPr/>
        </p:nvSpPr>
        <p:spPr>
          <a:xfrm>
            <a:off x="3495040" y="5970631"/>
            <a:ext cx="5191800" cy="79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발주계획은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예정</a:t>
            </a:r>
            <a:r>
              <a:rPr 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수요</a:t>
            </a:r>
            <a:r>
              <a:rPr 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신호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시계열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예측은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endParaRPr lang="ko-KR" altLang="en-US">
              <a:solidFill>
                <a:schemeClr val="dk2"/>
              </a:solidFill>
              <a:ea typeface="Malgun Gothic"/>
              <a:sym typeface="Malgun Gothic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과거</a:t>
            </a:r>
            <a:r>
              <a:rPr 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패턴</a:t>
            </a:r>
            <a:r>
              <a:rPr 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기반</a:t>
            </a:r>
            <a:r>
              <a:rPr 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통계</a:t>
            </a:r>
            <a:r>
              <a:rPr 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추정</a:t>
            </a: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으로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구분합니다</a:t>
            </a:r>
            <a:r>
              <a:rPr lang="en-US" sz="1600" dirty="0">
                <a:solidFill>
                  <a:schemeClr val="dk2"/>
                </a:solidFill>
                <a:latin typeface="Malgun Gothic"/>
                <a:ea typeface="Malgun Gothic"/>
                <a:sym typeface="Malgun Gothic"/>
              </a:rPr>
              <a:t>.</a:t>
            </a:r>
            <a:endParaRPr lang="ko-KR">
              <a:solidFill>
                <a:schemeClr val="dk2"/>
              </a:solidFill>
            </a:endParaRPr>
          </a:p>
        </p:txBody>
      </p:sp>
      <p:pic>
        <p:nvPicPr>
          <p:cNvPr id="468" name="Google Shape;4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1144524"/>
            <a:ext cx="7796059" cy="468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3800" y="1389975"/>
            <a:ext cx="3316251" cy="125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3796" y="4476400"/>
            <a:ext cx="33162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33801" y="3046625"/>
            <a:ext cx="3316249" cy="11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/>
          <p:nvPr/>
        </p:nvSpPr>
        <p:spPr>
          <a:xfrm>
            <a:off x="777367" y="5360574"/>
            <a:ext cx="4577715" cy="1056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6844791" y="5360573"/>
            <a:ext cx="4634865" cy="1056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8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 역할</a:t>
            </a:r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sz="1200" b="1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594360" y="1051560"/>
            <a:ext cx="539496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 지표</a:t>
            </a:r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6217920" y="1051560"/>
            <a:ext cx="539496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 문장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777240" y="4462061"/>
            <a:ext cx="10640971" cy="7325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</a:t>
            </a:r>
            <a:r>
              <a:rPr lang="en-US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 지표</a:t>
            </a: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기반으로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수요·경쟁·물류 특성을 설명하는 </a:t>
            </a:r>
            <a:r>
              <a:rPr lang="en-US"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해석 보조 역할</a:t>
            </a: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수행합니다.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5870956" y="2871724"/>
            <a:ext cx="470408" cy="5659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AE5F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780415" y="5388059"/>
            <a:ext cx="457263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하는 것</a:t>
            </a:r>
            <a:endParaRPr/>
          </a:p>
        </p:txBody>
      </p:sp>
      <p:sp>
        <p:nvSpPr>
          <p:cNvPr id="486" name="Google Shape;486;p28"/>
          <p:cNvSpPr txBox="1"/>
          <p:nvPr/>
        </p:nvSpPr>
        <p:spPr>
          <a:xfrm>
            <a:off x="6862216" y="5388058"/>
            <a:ext cx="457263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하지 않는 것</a:t>
            </a:r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924188" y="5763307"/>
            <a:ext cx="4572635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설명 / 수요 공백 / 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구조 / 물류 거점 / 지역 비교 </a:t>
            </a:r>
            <a:r>
              <a:rPr lang="en-US" sz="14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5종 해석</a:t>
            </a:r>
            <a:endParaRPr sz="14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6847839" y="5892703"/>
            <a:ext cx="457263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 성공 예측, 입지 확정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6941300" y="5522600"/>
            <a:ext cx="745500" cy="732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876563" y="5606000"/>
            <a:ext cx="548700" cy="565800"/>
          </a:xfrm>
          <a:prstGeom prst="donut">
            <a:avLst>
              <a:gd name="adj" fmla="val 25000"/>
            </a:avLst>
          </a:prstGeom>
          <a:solidFill>
            <a:srgbClr val="2563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38" y="1465713"/>
            <a:ext cx="4737550" cy="294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725" y="1414725"/>
            <a:ext cx="4919374" cy="20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5726" y="3481425"/>
            <a:ext cx="5157150" cy="9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/>
          <p:nvPr/>
        </p:nvSpPr>
        <p:spPr>
          <a:xfrm>
            <a:off x="697225" y="4566150"/>
            <a:ext cx="10787400" cy="12621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비즈니스 모델과 확장 전략 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sz="1200" b="1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685800" y="1143000"/>
            <a:ext cx="10698600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상권분석 플랫폼을 대체하기보다, 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발주 수요 데이터를 보완 레이어로 제공합니다.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697115" y="2019148"/>
            <a:ext cx="2456100" cy="24261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849324" y="2183740"/>
            <a:ext cx="2214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고객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602750" y="2598275"/>
            <a:ext cx="2550600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창업상담기관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소상공인지원센터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지자체 창업지원 부서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B2G 납품 희망 업체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3449750" y="2019148"/>
            <a:ext cx="2456100" cy="24261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3601953" y="2183740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제공 가치</a:t>
            </a:r>
            <a:endParaRPr/>
          </a:p>
        </p:txBody>
      </p:sp>
      <p:sp>
        <p:nvSpPr>
          <p:cNvPr id="508" name="Google Shape;508;p29"/>
          <p:cNvSpPr txBox="1"/>
          <p:nvPr/>
        </p:nvSpPr>
        <p:spPr>
          <a:xfrm>
            <a:off x="3355375" y="2598300"/>
            <a:ext cx="2550600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지역·품목 공공수요 리포트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수요 분석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후보 비교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상담용 근거 자료 제공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6202279" y="2019149"/>
            <a:ext cx="2456100" cy="24261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6354480" y="2185115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수익모델</a:t>
            </a:r>
            <a:endParaRPr/>
          </a:p>
        </p:txBody>
      </p:sp>
      <p:sp>
        <p:nvSpPr>
          <p:cNvPr id="511" name="Google Shape;511;p29"/>
          <p:cNvSpPr txBox="1"/>
          <p:nvPr/>
        </p:nvSpPr>
        <p:spPr>
          <a:xfrm>
            <a:off x="6107900" y="2599675"/>
            <a:ext cx="2550600" cy="17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· 품목별 분석 리포트 과금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기관용 대시보드 구독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지자체 맞춤형 분석 보고서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상권분석 플랫폼용 B2G 수요 데이터 API/모듈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29"/>
          <p:cNvSpPr txBox="1"/>
          <p:nvPr/>
        </p:nvSpPr>
        <p:spPr>
          <a:xfrm>
            <a:off x="702300" y="5995075"/>
            <a:ext cx="107874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기존 상권분석 서비스는 민간 소비·매출 중심 리포트 과금 모델을 운영합니다.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본 서비스는 공공 발주·계약·물류 인프라 데이터를 B2G 수요 보완 모듈로 제공합니다.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9017140" y="2027199"/>
            <a:ext cx="2456100" cy="24261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9169339" y="2193165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로드</a:t>
            </a:r>
            <a:endParaRPr/>
          </a:p>
        </p:txBody>
      </p:sp>
      <p:sp>
        <p:nvSpPr>
          <p:cNvPr id="515" name="Google Shape;515;p29"/>
          <p:cNvSpPr txBox="1"/>
          <p:nvPr/>
        </p:nvSpPr>
        <p:spPr>
          <a:xfrm>
            <a:off x="8922775" y="2607700"/>
            <a:ext cx="25506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365760" marR="0" lvl="0" indent="-219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MVP 검증 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743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창업상담기관 파일럿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743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B2G 납품업체 리포트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743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상권분석 플랫폼·지자체 연계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29"/>
          <p:cNvSpPr txBox="1"/>
          <p:nvPr/>
        </p:nvSpPr>
        <p:spPr>
          <a:xfrm>
            <a:off x="723289" y="4629050"/>
            <a:ext cx="107874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확장 근거</a:t>
            </a:r>
            <a:endParaRPr/>
          </a:p>
        </p:txBody>
      </p:sp>
      <p:sp>
        <p:nvSpPr>
          <p:cNvPr id="517" name="Google Shape;517;p29"/>
          <p:cNvSpPr txBox="1"/>
          <p:nvPr/>
        </p:nvSpPr>
        <p:spPr>
          <a:xfrm>
            <a:off x="13528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365760" marR="0" lvl="0" indent="-226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lang="en-US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MVP 검증 </a:t>
            </a:r>
            <a:endParaRPr b="1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1756430" y="5232350"/>
            <a:ext cx="2401205" cy="550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dirty="0" err="1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aT</a:t>
            </a:r>
            <a:r>
              <a:rPr lang="en-US" dirty="0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dirty="0" err="1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학교급식</a:t>
            </a:r>
            <a:r>
              <a:rPr lang="en-US" dirty="0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dirty="0" err="1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입찰</a:t>
            </a:r>
            <a:r>
              <a:rPr lang="en-US" dirty="0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 285,552건 · </a:t>
            </a:r>
            <a:r>
              <a:rPr lang="ko-KR" altLang="en-US" dirty="0" err="1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낙찰</a:t>
            </a:r>
            <a:r>
              <a:rPr lang="en-US" dirty="0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 448,690건 </a:t>
            </a:r>
            <a:r>
              <a:rPr lang="en-US" dirty="0" err="1">
                <a:solidFill>
                  <a:srgbClr val="0F172A"/>
                </a:solidFill>
                <a:latin typeface="Malgun Gothic"/>
                <a:ea typeface="Malgun Gothic"/>
                <a:sym typeface="Malgun Gothic"/>
              </a:rPr>
              <a:t>수집</a:t>
            </a:r>
            <a:endParaRPr lang="ko-KR" dirty="0" err="1"/>
          </a:p>
        </p:txBody>
      </p:sp>
      <p:sp>
        <p:nvSpPr>
          <p:cNvPr id="519" name="Google Shape;519;p29"/>
          <p:cNvSpPr txBox="1"/>
          <p:nvPr/>
        </p:nvSpPr>
        <p:spPr>
          <a:xfrm>
            <a:off x="46536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365760" marR="0" lvl="0" indent="-226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lang="en-US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창업상담 접점 </a:t>
            </a:r>
            <a:endParaRPr b="1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5028475" y="5232350"/>
            <a:ext cx="24561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17개 창업지원 거점 + 온라인 상담 창구</a:t>
            </a:r>
            <a:endParaRPr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79544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365760" marR="0" lvl="0" indent="-226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lang="en-US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 확장 </a:t>
            </a:r>
            <a:endParaRPr b="1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29"/>
          <p:cNvSpPr txBox="1"/>
          <p:nvPr/>
        </p:nvSpPr>
        <p:spPr>
          <a:xfrm>
            <a:off x="8329275" y="5232350"/>
            <a:ext cx="24561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상권분석에 없는 공공 발주·계약·물류 인프라 보완 </a:t>
            </a:r>
            <a:endParaRPr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0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효과와 한계</a:t>
            </a:r>
            <a:endParaRPr/>
          </a:p>
        </p:txBody>
      </p:sp>
      <p:sp>
        <p:nvSpPr>
          <p:cNvPr id="528" name="Google Shape;528;p30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sz="1200" b="1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0"/>
          <p:cNvSpPr txBox="1"/>
          <p:nvPr/>
        </p:nvSpPr>
        <p:spPr>
          <a:xfrm>
            <a:off x="685800" y="1143000"/>
            <a:ext cx="10698480" cy="8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서비스는 공공수요 관점의 참고 자료이며, 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성공을 예측하지 않습니다.</a:t>
            </a:r>
            <a:endParaRPr sz="25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822950" y="2000250"/>
            <a:ext cx="5166300" cy="17337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822950" y="2000250"/>
            <a:ext cx="73200" cy="1733700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1024128" y="2164842"/>
            <a:ext cx="48462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</a:t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1024125" y="2550650"/>
            <a:ext cx="49650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시장 진입 전 지역·품목 수요를 사전 검토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9개 데이터소스</a:t>
            </a:r>
            <a:r>
              <a:rPr lang="en-US"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결합으로 다각도 분석 제공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현장에서 지역별 수요 리포트로 활용 가능</a:t>
            </a:r>
            <a:endParaRPr sz="1200" b="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B2G 정보 비대칭 해소 · 소상공인 진입장벽 완화 · 지방 창업 활성화</a:t>
            </a:r>
            <a:endParaRPr sz="12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6355075" y="2000250"/>
            <a:ext cx="5166300" cy="17337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6355075" y="2000250"/>
            <a:ext cx="73200" cy="1733700"/>
          </a:xfrm>
          <a:prstGeom prst="rect">
            <a:avLst/>
          </a:prstGeom>
          <a:solidFill>
            <a:srgbClr val="64748B"/>
          </a:solidFill>
          <a:ln w="9525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6556248" y="2164842"/>
            <a:ext cx="48462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한계</a:t>
            </a:r>
            <a:endParaRPr/>
          </a:p>
        </p:txBody>
      </p:sp>
      <p:sp>
        <p:nvSpPr>
          <p:cNvPr id="538" name="Google Shape;538;p30"/>
          <p:cNvSpPr txBox="1"/>
          <p:nvPr/>
        </p:nvSpPr>
        <p:spPr>
          <a:xfrm>
            <a:off x="6556248" y="2550645"/>
            <a:ext cx="4846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B2G 관점만 반영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수요와 실사용자 피드백은 추가 필요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내에 한계를 명시해 과해석 방지</a:t>
            </a:r>
            <a:endParaRPr sz="1000"/>
          </a:p>
        </p:txBody>
      </p:sp>
      <p:sp>
        <p:nvSpPr>
          <p:cNvPr id="539" name="Google Shape;539;p30"/>
          <p:cNvSpPr/>
          <p:nvPr/>
        </p:nvSpPr>
        <p:spPr>
          <a:xfrm>
            <a:off x="1967230" y="5663565"/>
            <a:ext cx="8290500" cy="914400"/>
          </a:xfrm>
          <a:prstGeom prst="roundRect">
            <a:avLst>
              <a:gd name="adj" fmla="val 16667"/>
            </a:avLst>
          </a:prstGeom>
          <a:solidFill>
            <a:srgbClr val="36609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1971675" y="5770265"/>
            <a:ext cx="8258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감에 의존한 </a:t>
            </a:r>
            <a:r>
              <a:rPr lang="en-US" sz="2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입지 선택</a:t>
            </a: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</a:t>
            </a:r>
            <a:r>
              <a:rPr lang="en-US" sz="20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기반 사전 검토</a:t>
            </a: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바꾸는</a:t>
            </a: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첫 걸음입니다.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685725" y="3902416"/>
            <a:ext cx="106986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파급 효과 요약</a:t>
            </a:r>
            <a:endParaRPr sz="1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42" name="Google Shape;542;p30"/>
          <p:cNvGraphicFramePr/>
          <p:nvPr/>
        </p:nvGraphicFramePr>
        <p:xfrm>
          <a:off x="685804" y="4237601"/>
          <a:ext cx="10759500" cy="1310680"/>
        </p:xfrm>
        <a:graphic>
          <a:graphicData uri="http://schemas.openxmlformats.org/drawingml/2006/table">
            <a:tbl>
              <a:tblPr firstRow="1" bandRow="1">
                <a:noFill/>
                <a:tableStyleId>{29396D92-A75C-45C1-BC10-0CFDF67A5C4B}</a:tableStyleId>
              </a:tblPr>
              <a:tblGrid>
                <a:gridCol w="209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 상</a:t>
                      </a:r>
                      <a:endParaRPr sz="7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문제</a:t>
                      </a:r>
                      <a:endParaRPr sz="7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효과</a:t>
                      </a:r>
                      <a:endParaRPr sz="7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예비창업자</a:t>
                      </a:r>
                      <a:endParaRPr sz="15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감에 의존</a:t>
                      </a: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창업 아이템 선정</a:t>
                      </a:r>
                      <a:endParaRPr sz="15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sz="15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근거 사전 검토</a:t>
                      </a:r>
                      <a:endParaRPr sz="1500" b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소규모 납품업체</a:t>
                      </a:r>
                      <a:endParaRPr sz="15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어느 지역에 </a:t>
                      </a:r>
                      <a:r>
                        <a:rPr lang="en-US" sz="15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집중</a:t>
                      </a: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할지 불명확</a:t>
                      </a:r>
                      <a:endParaRPr sz="15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품목 x 지역 </a:t>
                      </a:r>
                      <a:r>
                        <a:rPr lang="en-US" sz="15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수요 밀도 지도</a:t>
                      </a:r>
                      <a:endParaRPr sz="1500" b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창업 상담기관</a:t>
                      </a:r>
                      <a:endParaRPr sz="15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지역별 공공수요 </a:t>
                      </a:r>
                      <a:r>
                        <a:rPr lang="en-US" sz="15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없음</a:t>
                      </a:r>
                      <a:endParaRPr sz="15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B2B 분석 도구로 </a:t>
                      </a:r>
                      <a:r>
                        <a:rPr lang="en-US" sz="15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상담 효율화</a:t>
                      </a:r>
                      <a:endParaRPr sz="15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공공데이터 목록</a:t>
            </a:r>
            <a:endParaRPr sz="24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8" name="Google Shape;548;p31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sz="1200" b="1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493527" y="5955524"/>
            <a:ext cx="11201400" cy="22860"/>
          </a:xfrm>
          <a:prstGeom prst="rect">
            <a:avLst/>
          </a:prstGeom>
          <a:solidFill>
            <a:srgbClr val="DBEAFE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0" name="Google Shape;550;p31"/>
          <p:cNvGraphicFramePr/>
          <p:nvPr>
            <p:extLst>
              <p:ext uri="{D42A27DB-BD31-4B8C-83A1-F6EECF244321}">
                <p14:modId xmlns:p14="http://schemas.microsoft.com/office/powerpoint/2010/main" val="290936232"/>
              </p:ext>
            </p:extLst>
          </p:nvPr>
        </p:nvGraphicFramePr>
        <p:xfrm>
          <a:off x="485029" y="961614"/>
          <a:ext cx="11221950" cy="5073750"/>
        </p:xfrm>
        <a:graphic>
          <a:graphicData uri="http://schemas.openxmlformats.org/drawingml/2006/table">
            <a:tbl>
              <a:tblPr firstRow="1" bandRow="1">
                <a:noFill/>
                <a:tableStyleId>{29396D92-A75C-45C1-BC10-0CFDF67A5C4B}</a:tableStyleId>
              </a:tblPr>
              <a:tblGrid>
                <a:gridCol w="133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0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기관</a:t>
                      </a:r>
                      <a:endParaRPr sz="1000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</a:t>
                      </a:r>
                      <a:r>
                        <a:rPr lang="en-US" sz="2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/API</a:t>
                      </a:r>
                      <a:endParaRPr sz="10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건수</a:t>
                      </a:r>
                      <a:r>
                        <a:rPr lang="en-US" sz="20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/ </a:t>
                      </a:r>
                      <a:r>
                        <a:rPr lang="en-US" sz="20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규모</a:t>
                      </a:r>
                      <a:endParaRPr sz="1000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활용</a:t>
                      </a:r>
                      <a:r>
                        <a:rPr lang="en-US" sz="20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  <a:endParaRPr sz="2000" u="none" strike="noStrike" cap="none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</a:t>
                      </a:r>
                      <a:r>
                        <a:rPr lang="en-US" sz="20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</a:t>
                      </a:r>
                      <a:endParaRPr sz="1000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75">
                <a:tc row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조달청</a:t>
                      </a:r>
                      <a:endParaRPr dirty="0" err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입찰공고</a:t>
                      </a:r>
                      <a:endParaRPr u="none" strike="noStrike" cap="none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100,083건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count/amount/recency score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공공수요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신호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계약정보</a:t>
                      </a:r>
                      <a:endParaRPr u="none" strike="noStrike" cap="none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38,367건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demand_confidence_score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의사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-&gt;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실측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확정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신호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발주계획</a:t>
                      </a:r>
                      <a:endParaRPr u="none" strike="noStrike" cap="none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445건(약 1,249.8억)</a:t>
                      </a:r>
                      <a:endParaRPr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해석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컨텍스트</a:t>
                      </a:r>
                      <a:endParaRPr i="0" u="none" strike="noStrike" cap="none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향후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예정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수요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신호</a:t>
                      </a:r>
                      <a:endParaRPr i="0" u="none" strike="noStrike" cap="none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종합쇼핑몰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MAS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품목</a:t>
                      </a:r>
                      <a:endParaRPr u="none" strike="noStrike" cap="none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22,740건</a:t>
                      </a:r>
                      <a:endParaRPr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해석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컨텍스트</a:t>
                      </a:r>
                      <a:endParaRPr i="0" u="none" strike="noStrike" cap="none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단가계약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시장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규모</a:t>
                      </a:r>
                      <a:endParaRPr i="0" u="none" strike="noStrike" cap="none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800" dirty="0" err="1">
                          <a:solidFill>
                            <a:srgbClr val="0F234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한국농수산식품유통공사</a:t>
                      </a:r>
                      <a:endParaRPr sz="700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학교급식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입찰·낙찰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734,242건</a:t>
                      </a:r>
                      <a:endParaRPr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입찰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lang="ko-KR" alt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낙찰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기반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급식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 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수요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보강</a:t>
                      </a:r>
                      <a:endParaRPr lang="en-US" altLang="ko-KR" dirty="0" err="1"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품목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특화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수요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행안부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연령별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인구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242개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지역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consumer_fit_score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소비층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적합도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소상공인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상가정보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253개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지역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stores_per_10k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업종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경쟁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포화도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국토부</a:t>
                      </a:r>
                      <a:endParaRPr u="none" strike="noStrike" cap="none"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물류창고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등록정보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5,911개소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logistics_infra_score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물류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거점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인프라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KOSIS</a:t>
                      </a:r>
                      <a:b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통계청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12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신생기업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생존율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시도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x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산업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조합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adjusted_score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업종별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진입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리스크</a:t>
                      </a:r>
                      <a:r>
                        <a:rPr lang="en-US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보정</a:t>
                      </a:r>
                      <a:endParaRPr dirty="0" err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51" name="Google Shape;551;p31"/>
          <p:cNvSpPr txBox="1"/>
          <p:nvPr/>
        </p:nvSpPr>
        <p:spPr>
          <a:xfrm>
            <a:off x="505026" y="682702"/>
            <a:ext cx="110211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6개 기관 / 9개 데이터소스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결합해 공공수요·인구·경쟁·생존율을 분석했습니다.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1"/>
          <p:cNvSpPr txBox="1"/>
          <p:nvPr/>
        </p:nvSpPr>
        <p:spPr>
          <a:xfrm>
            <a:off x="2074350" y="6212429"/>
            <a:ext cx="8043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sz="1500">
                <a:latin typeface="Malgun Gothic"/>
                <a:ea typeface="Malgun Gothic"/>
                <a:cs typeface="Malgun Gothic"/>
                <a:sym typeface="Malgun Gothic"/>
              </a:rPr>
              <a:t>출처: 공공데이터포털(data.go.kr) · 나라장터(g2b.go.kr) · KOSIS(kosis.kr) · eAT(</a:t>
            </a:r>
            <a:r>
              <a:rPr lang="en-US" sz="15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eat.at.or.kr</a:t>
            </a:r>
            <a:r>
              <a:rPr lang="en-US" sz="150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실제 API 엔드포인트는 수집 코드 기준으로 관리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"/>
          <p:cNvSpPr/>
          <p:nvPr/>
        </p:nvSpPr>
        <p:spPr>
          <a:xfrm>
            <a:off x="9293" y="0"/>
            <a:ext cx="12191695" cy="6858000"/>
          </a:xfrm>
          <a:prstGeom prst="rect">
            <a:avLst/>
          </a:prstGeom>
          <a:solidFill>
            <a:srgbClr val="F0F7FF"/>
          </a:solidFill>
          <a:ln w="9525" cap="flat" cmpd="sng">
            <a:solidFill>
              <a:srgbClr val="F0F7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2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공공조달데이터·AI 활용 창업경진대회</a:t>
            </a:r>
            <a:endParaRPr/>
          </a:p>
        </p:txBody>
      </p:sp>
      <p:sp>
        <p:nvSpPr>
          <p:cNvPr id="560" name="Google Shape;560;p32"/>
          <p:cNvSpPr txBox="1"/>
          <p:nvPr/>
        </p:nvSpPr>
        <p:spPr>
          <a:xfrm>
            <a:off x="1447799" y="3424540"/>
            <a:ext cx="3809630" cy="79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수요 기반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분석</a:t>
            </a:r>
            <a:endParaRPr sz="2800" b="1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1" name="Google Shape;561;p32"/>
          <p:cNvSpPr txBox="1"/>
          <p:nvPr/>
        </p:nvSpPr>
        <p:spPr>
          <a:xfrm>
            <a:off x="1159281" y="1636627"/>
            <a:ext cx="9875520" cy="107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감사합니다.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2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 모세종</a:t>
            </a:r>
            <a:endParaRPr/>
          </a:p>
        </p:txBody>
      </p:sp>
      <p:sp>
        <p:nvSpPr>
          <p:cNvPr id="563" name="Google Shape;563;p32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45700" bIns="27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10분 + Q&amp;A 5분</a:t>
            </a:r>
            <a:endParaRPr/>
          </a:p>
        </p:txBody>
      </p:sp>
      <p:sp>
        <p:nvSpPr>
          <p:cNvPr id="564" name="Google Shape;564;p32"/>
          <p:cNvSpPr txBox="1"/>
          <p:nvPr/>
        </p:nvSpPr>
        <p:spPr>
          <a:xfrm>
            <a:off x="670243" y="6263638"/>
            <a:ext cx="532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https://github.com/mosejong/procurement-logistics-ai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5" name="Google Shape;565;p32" descr="패턴, 사각형, 그래픽, 픽셀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4317" y="3317488"/>
            <a:ext cx="2518318" cy="251831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2"/>
          <p:cNvSpPr/>
          <p:nvPr/>
        </p:nvSpPr>
        <p:spPr>
          <a:xfrm>
            <a:off x="5829820" y="3818587"/>
            <a:ext cx="2725433" cy="1664802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 txBox="1"/>
          <p:nvPr/>
        </p:nvSpPr>
        <p:spPr>
          <a:xfrm>
            <a:off x="6099948" y="4233513"/>
            <a:ext cx="215706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라이브 데모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바로가기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20</Slides>
  <Notes>20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83</cp:revision>
  <dcterms:modified xsi:type="dcterms:W3CDTF">2026-05-26T08:41:28Z</dcterms:modified>
</cp:coreProperties>
</file>