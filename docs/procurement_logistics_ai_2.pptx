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9" r:id="rId14"/>
    <p:sldId id="268" r:id="rId15"/>
    <p:sldId id="269" r:id="rId16"/>
    <p:sldId id="270" r:id="rId17"/>
    <p:sldId id="271" r:id="rId18"/>
    <p:sldId id="278" r:id="rId19"/>
    <p:sldId id="272" r:id="rId20"/>
    <p:sldId id="273" r:id="rId21"/>
    <p:sldId id="274" r:id="rId22"/>
    <p:sldId id="275" r:id="rId23"/>
    <p:sldId id="276" r:id="rId24"/>
    <p:sldId id="277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194A14-DEA4-43D1-6AE0-680207CD8132}" v="2309" dt="2026-05-18T14:59:02.734"/>
    <p1510:client id="{604FCC6F-3D47-A295-75EC-19558837CE6F}" v="627" dt="2026-05-19T00:46:59.422"/>
    <p1510:client id="{94674C48-0ABA-B26F-4039-04AD4DEAADC3}" v="44" dt="2026-05-19T01:08:34.71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7FF"/>
          </a:solidFill>
          <a:ln>
            <a:solidFill>
              <a:srgbClr val="F0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789920" cy="38404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>
                <a:solidFill>
                  <a:srgbClr val="1D4ED8"/>
                </a:solidFill>
                <a:latin typeface="Malgun Gothic"/>
              </a:rPr>
              <a:t>2026 공공조달데이터·AI 활용 창업경진대회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881360" cy="1143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3800" b="1">
                <a:solidFill>
                  <a:srgbClr val="0F2340"/>
                </a:solidFill>
                <a:latin typeface="Malgun Gothic"/>
              </a:rPr>
              <a:t>공공조달 수요 기반</a:t>
            </a:r>
            <a:br/>
            <a:r>
              <a:rPr sz="3800" b="1">
                <a:solidFill>
                  <a:srgbClr val="0F2340"/>
                </a:solidFill>
                <a:latin typeface="Malgun Gothic"/>
              </a:rPr>
              <a:t>창업 입지·물류 거점 분석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788920"/>
            <a:ext cx="9875520" cy="502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800" b="0">
                <a:solidFill>
                  <a:srgbClr val="0F172A"/>
                </a:solidFill>
                <a:latin typeface="Malgun Gothic"/>
              </a:rPr>
              <a:t>나라장터 입찰공고 100,083건으로 지역별 공공수요를 해석하는 서비스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657600"/>
            <a:ext cx="1645920" cy="384048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" name="TextBox 7"/>
          <p:cNvSpPr txBox="1"/>
          <p:nvPr/>
        </p:nvSpPr>
        <p:spPr>
          <a:xfrm>
            <a:off x="713232" y="3753612"/>
            <a:ext cx="1645920" cy="21698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</a:rPr>
              <a:t>조달청 데이터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87752" y="3657600"/>
            <a:ext cx="1645920" cy="384048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" name="TextBox 9"/>
          <p:cNvSpPr txBox="1"/>
          <p:nvPr/>
        </p:nvSpPr>
        <p:spPr>
          <a:xfrm>
            <a:off x="2587752" y="3753612"/>
            <a:ext cx="1645920" cy="21698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</a:rPr>
              <a:t>입지 분석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62272" y="3657600"/>
            <a:ext cx="1645920" cy="384048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2" name="TextBox 11"/>
          <p:cNvSpPr txBox="1"/>
          <p:nvPr/>
        </p:nvSpPr>
        <p:spPr>
          <a:xfrm>
            <a:off x="4462272" y="3753612"/>
            <a:ext cx="1645920" cy="21698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</a:rPr>
              <a:t>AI 해석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36792" y="3657600"/>
            <a:ext cx="1645920" cy="384048"/>
          </a:xfrm>
          <a:prstGeom prst="round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4" name="TextBox 13"/>
          <p:cNvSpPr txBox="1"/>
          <p:nvPr/>
        </p:nvSpPr>
        <p:spPr>
          <a:xfrm>
            <a:off x="6336792" y="3753612"/>
            <a:ext cx="1645920" cy="21698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lang="en-US" sz="1050" b="1" err="1">
                <a:solidFill>
                  <a:srgbClr val="FFFFFF"/>
                </a:solidFill>
                <a:latin typeface="Malgun Gothic"/>
                <a:ea typeface="Malgun Gothic"/>
                <a:cs typeface="+mn-lt"/>
              </a:rPr>
              <a:t>물류</a:t>
            </a:r>
            <a:r>
              <a:rPr lang="en-US" sz="1050" b="1" dirty="0">
                <a:solidFill>
                  <a:srgbClr val="FFFFFF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en-US" sz="1050" b="1">
                <a:solidFill>
                  <a:srgbClr val="FFFFFF"/>
                </a:solidFill>
                <a:latin typeface="Malgun Gothic"/>
                <a:ea typeface="Malgun Gothic"/>
                <a:cs typeface="+mn-lt"/>
              </a:rPr>
              <a:t>거점 </a:t>
            </a:r>
            <a:r>
              <a:rPr lang="ko-KR" altLang="en-US" sz="1050" b="1">
                <a:solidFill>
                  <a:srgbClr val="FFFFFF"/>
                </a:solidFill>
                <a:latin typeface="Malgun Gothic"/>
                <a:ea typeface="Malgun Gothic"/>
                <a:cs typeface="+mn-lt"/>
              </a:rPr>
              <a:t>분석</a:t>
            </a:r>
            <a:endParaRPr lang="ko-KR" altLang="en-US" sz="1050" b="1">
              <a:solidFill>
                <a:srgbClr val="FFFFFF"/>
              </a:solidFill>
              <a:latin typeface="Malgun Gothic"/>
              <a:ea typeface="Malgun Gothic"/>
              <a:cs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85800" y="5989320"/>
            <a:ext cx="45720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1">
                <a:solidFill>
                  <a:srgbClr val="0F2340"/>
                </a:solidFill>
                <a:latin typeface="Malgun Gothic"/>
              </a:rPr>
              <a:t>발표자  모세종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5989320"/>
            <a:ext cx="32918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200" b="0">
                <a:solidFill>
                  <a:srgbClr val="64748B"/>
                </a:solidFill>
                <a:latin typeface="Malgun Gothic"/>
              </a:rPr>
              <a:t>발표 10분 + Q&amp;A 5분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969264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400" b="1">
                <a:solidFill>
                  <a:srgbClr val="0F2340"/>
                </a:solidFill>
                <a:latin typeface="Malgun Gothic"/>
              </a:rPr>
              <a:t>목차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9264"/>
            <a:ext cx="11201400" cy="22860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68680" y="1417320"/>
            <a:ext cx="438912" cy="438912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" name="TextBox 6"/>
          <p:cNvSpPr txBox="1"/>
          <p:nvPr/>
        </p:nvSpPr>
        <p:spPr>
          <a:xfrm>
            <a:off x="868680" y="1527048"/>
            <a:ext cx="438912" cy="20928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399032"/>
            <a:ext cx="3108960" cy="36317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000" b="1">
                <a:solidFill>
                  <a:srgbClr val="0F2340"/>
                </a:solidFill>
                <a:latin typeface="Malgun Gothic"/>
              </a:rPr>
              <a:t>문제 정의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793116"/>
            <a:ext cx="8138160" cy="30162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Malgun Gothic"/>
              </a:rPr>
              <a:t>창업자는 공공기관 수요를 보지 못한다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2304856"/>
            <a:ext cx="438912" cy="438912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1" name="TextBox 10"/>
          <p:cNvSpPr txBox="1"/>
          <p:nvPr/>
        </p:nvSpPr>
        <p:spPr>
          <a:xfrm>
            <a:off x="868680" y="2414584"/>
            <a:ext cx="438912" cy="20928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286568"/>
            <a:ext cx="3108960" cy="36317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000" b="1">
                <a:solidFill>
                  <a:srgbClr val="0F2340"/>
                </a:solidFill>
                <a:latin typeface="Malgun Gothic"/>
              </a:rPr>
              <a:t>서비스 대상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680652"/>
            <a:ext cx="8138160" cy="30162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Malgun Gothic"/>
              </a:rPr>
              <a:t>급식·식자재 납품 창업 페르소나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3192392"/>
            <a:ext cx="438912" cy="438912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5" name="TextBox 14"/>
          <p:cNvSpPr txBox="1"/>
          <p:nvPr/>
        </p:nvSpPr>
        <p:spPr>
          <a:xfrm>
            <a:off x="868680" y="3302120"/>
            <a:ext cx="438912" cy="20928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194424"/>
            <a:ext cx="3759200" cy="36317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000" b="1">
                <a:solidFill>
                  <a:srgbClr val="0F2340"/>
                </a:solidFill>
                <a:latin typeface="Malgun Gothic"/>
              </a:rPr>
              <a:t>조달청 데이터와 결합 구조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568188"/>
            <a:ext cx="8138160" cy="30162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Malgun Gothic"/>
              </a:rPr>
              <a:t>공공수요·경쟁·소비층·생존율</a:t>
            </a:r>
          </a:p>
        </p:txBody>
      </p:sp>
      <p:sp>
        <p:nvSpPr>
          <p:cNvPr id="18" name="Oval 17"/>
          <p:cNvSpPr/>
          <p:nvPr/>
        </p:nvSpPr>
        <p:spPr>
          <a:xfrm>
            <a:off x="868680" y="4079928"/>
            <a:ext cx="438912" cy="438912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9" name="TextBox 18"/>
          <p:cNvSpPr txBox="1"/>
          <p:nvPr/>
        </p:nvSpPr>
        <p:spPr>
          <a:xfrm>
            <a:off x="868680" y="4189656"/>
            <a:ext cx="438912" cy="20928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061640"/>
            <a:ext cx="3108960" cy="36317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000" b="1">
                <a:solidFill>
                  <a:srgbClr val="0F2340"/>
                </a:solidFill>
                <a:latin typeface="Malgun Gothic"/>
              </a:rPr>
              <a:t>데모 흐름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455724"/>
            <a:ext cx="8138160" cy="30162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sz="1600" b="0" dirty="0">
                <a:solidFill>
                  <a:srgbClr val="64748B"/>
                </a:solidFill>
                <a:latin typeface="Malgun Gothic"/>
              </a:rPr>
              <a:t>부산 → 해운대구 → 동래구 비교</a:t>
            </a:r>
            <a:r>
              <a:rPr lang="ko-KR" sz="1600" dirty="0">
                <a:solidFill>
                  <a:srgbClr val="64748B"/>
                </a:solidFill>
                <a:latin typeface="Malgun Gothic"/>
                <a:ea typeface="Malgun Gothic"/>
              </a:rPr>
              <a:t> </a:t>
            </a:r>
            <a:r>
              <a:rPr lang="en-US" sz="1600">
                <a:solidFill>
                  <a:srgbClr val="64748B"/>
                </a:solidFill>
                <a:latin typeface="Malgun Gothic"/>
                <a:ea typeface="Malgun Gothic"/>
              </a:rPr>
              <a:t>→</a:t>
            </a:r>
            <a:r>
              <a:rPr lang="en-US" sz="1600" dirty="0">
                <a:solidFill>
                  <a:srgbClr val="64748B"/>
                </a:solidFill>
                <a:latin typeface="Malgun Gothic"/>
              </a:rPr>
              <a:t> </a:t>
            </a:r>
            <a:r>
              <a:rPr lang="ko-KR" altLang="en-US" sz="1600">
                <a:solidFill>
                  <a:srgbClr val="64748B"/>
                </a:solidFill>
                <a:latin typeface="Malgun Gothic"/>
                <a:ea typeface="Malgun Gothic"/>
              </a:rPr>
              <a:t>물류</a:t>
            </a:r>
            <a:r>
              <a:rPr lang="en-US" sz="1600" dirty="0">
                <a:solidFill>
                  <a:srgbClr val="64748B"/>
                </a:solidFill>
                <a:latin typeface="Malgun Gothic"/>
              </a:rPr>
              <a:t> </a:t>
            </a:r>
            <a:r>
              <a:rPr lang="ko-KR" altLang="en-US" sz="1600">
                <a:solidFill>
                  <a:srgbClr val="64748B"/>
                </a:solidFill>
                <a:latin typeface="Malgun Gothic"/>
                <a:ea typeface="Malgun Gothic"/>
              </a:rPr>
              <a:t>거점</a:t>
            </a:r>
            <a:r>
              <a:rPr lang="en-US" sz="1600" dirty="0">
                <a:solidFill>
                  <a:srgbClr val="64748B"/>
                </a:solidFill>
                <a:latin typeface="Malgun Gothic"/>
                <a:ea typeface="Malgun Gothic"/>
              </a:rPr>
              <a:t> </a:t>
            </a:r>
            <a:r>
              <a:rPr lang="ko-KR" altLang="en-US" sz="1600">
                <a:solidFill>
                  <a:srgbClr val="64748B"/>
                </a:solidFill>
                <a:latin typeface="Malgun Gothic"/>
                <a:ea typeface="Malgun Gothic"/>
              </a:rPr>
              <a:t>비교</a:t>
            </a:r>
            <a:r>
              <a:rPr lang="ko-KR" altLang="en-US" sz="1600" dirty="0">
                <a:solidFill>
                  <a:srgbClr val="64748B"/>
                </a:solidFill>
                <a:latin typeface="Malgun Gothic"/>
                <a:ea typeface="맑은 고딕"/>
              </a:rPr>
              <a:t> </a:t>
            </a:r>
            <a:r>
              <a:rPr sz="1600" b="0" dirty="0">
                <a:solidFill>
                  <a:srgbClr val="64748B"/>
                </a:solidFill>
                <a:latin typeface="Malgun Gothic"/>
              </a:rPr>
              <a:t>→ AI 해석</a:t>
            </a:r>
            <a:endParaRPr lang="ko-KR" sz="1600" b="0" dirty="0">
              <a:solidFill>
                <a:srgbClr val="64748B"/>
              </a:solidFill>
              <a:latin typeface="Malgun Gothic"/>
              <a:ea typeface="Malgun Gothic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868680" y="4967464"/>
            <a:ext cx="438912" cy="438912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3" name="TextBox 22"/>
          <p:cNvSpPr txBox="1"/>
          <p:nvPr/>
        </p:nvSpPr>
        <p:spPr>
          <a:xfrm>
            <a:off x="868680" y="5077192"/>
            <a:ext cx="438912" cy="20928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949176"/>
            <a:ext cx="3108960" cy="36317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000" b="1">
                <a:solidFill>
                  <a:srgbClr val="0F2340"/>
                </a:solidFill>
                <a:latin typeface="Malgun Gothic"/>
              </a:rPr>
              <a:t>비즈니스 모델과 한계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5343260"/>
            <a:ext cx="8138160" cy="30162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Malgun Gothic"/>
              </a:rPr>
              <a:t>POC → 상담 보조 도구 확장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6">
            <a:extLst>
              <a:ext uri="{FF2B5EF4-FFF2-40B4-BE49-F238E27FC236}">
                <a16:creationId xmlns:a16="http://schemas.microsoft.com/office/drawing/2014/main" id="{42AA8B7C-D943-A39E-61EA-83F9044AAE65}"/>
              </a:ext>
            </a:extLst>
          </p:cNvPr>
          <p:cNvSpPr/>
          <p:nvPr/>
        </p:nvSpPr>
        <p:spPr>
          <a:xfrm>
            <a:off x="640080" y="2539139"/>
            <a:ext cx="3657600" cy="297180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3" name="Rectangle 7">
            <a:extLst>
              <a:ext uri="{FF2B5EF4-FFF2-40B4-BE49-F238E27FC236}">
                <a16:creationId xmlns:a16="http://schemas.microsoft.com/office/drawing/2014/main" id="{E12655C4-29ED-5CBA-860B-E62D038DEF5D}"/>
              </a:ext>
            </a:extLst>
          </p:cNvPr>
          <p:cNvSpPr/>
          <p:nvPr/>
        </p:nvSpPr>
        <p:spPr>
          <a:xfrm>
            <a:off x="640080" y="2539139"/>
            <a:ext cx="73152" cy="29718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5" name="Rounded Rectangle 10">
            <a:extLst>
              <a:ext uri="{FF2B5EF4-FFF2-40B4-BE49-F238E27FC236}">
                <a16:creationId xmlns:a16="http://schemas.microsoft.com/office/drawing/2014/main" id="{31939D29-A045-21CA-00B7-2DCD91A42D78}"/>
              </a:ext>
            </a:extLst>
          </p:cNvPr>
          <p:cNvSpPr/>
          <p:nvPr/>
        </p:nvSpPr>
        <p:spPr>
          <a:xfrm>
            <a:off x="4480560" y="2539139"/>
            <a:ext cx="3474720" cy="297180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7" name="Rectangle 11">
            <a:extLst>
              <a:ext uri="{FF2B5EF4-FFF2-40B4-BE49-F238E27FC236}">
                <a16:creationId xmlns:a16="http://schemas.microsoft.com/office/drawing/2014/main" id="{6660C44B-2DC3-FF71-C991-FEFFAB39EF07}"/>
              </a:ext>
            </a:extLst>
          </p:cNvPr>
          <p:cNvSpPr/>
          <p:nvPr/>
        </p:nvSpPr>
        <p:spPr>
          <a:xfrm>
            <a:off x="4480560" y="2539139"/>
            <a:ext cx="73152" cy="2971800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9" name="Rounded Rectangle 14">
            <a:extLst>
              <a:ext uri="{FF2B5EF4-FFF2-40B4-BE49-F238E27FC236}">
                <a16:creationId xmlns:a16="http://schemas.microsoft.com/office/drawing/2014/main" id="{A534E09E-103F-27EC-445F-B91ABE6ED8A9}"/>
              </a:ext>
            </a:extLst>
          </p:cNvPr>
          <p:cNvSpPr/>
          <p:nvPr/>
        </p:nvSpPr>
        <p:spPr>
          <a:xfrm>
            <a:off x="8138160" y="2539139"/>
            <a:ext cx="3429000" cy="297180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1" name="Rectangle 15">
            <a:extLst>
              <a:ext uri="{FF2B5EF4-FFF2-40B4-BE49-F238E27FC236}">
                <a16:creationId xmlns:a16="http://schemas.microsoft.com/office/drawing/2014/main" id="{8295FE01-A563-315F-D4D7-8262E6FFE2E8}"/>
              </a:ext>
            </a:extLst>
          </p:cNvPr>
          <p:cNvSpPr/>
          <p:nvPr/>
        </p:nvSpPr>
        <p:spPr>
          <a:xfrm>
            <a:off x="8138160" y="2539139"/>
            <a:ext cx="73152" cy="2971800"/>
          </a:xfrm>
          <a:prstGeom prst="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" name="TextBox 1"/>
          <p:cNvSpPr txBox="1"/>
          <p:nvPr/>
        </p:nvSpPr>
        <p:spPr>
          <a:xfrm>
            <a:off x="502920" y="256032"/>
            <a:ext cx="969264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400" b="1">
                <a:solidFill>
                  <a:srgbClr val="0F2340"/>
                </a:solidFill>
                <a:latin typeface="Malgun Gothic"/>
              </a:rPr>
              <a:t>문제 정의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20040"/>
            <a:ext cx="548640" cy="2560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Malgun Gothic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9264"/>
            <a:ext cx="11201400" cy="22860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10698480" cy="82484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500" b="1" dirty="0" err="1">
                <a:solidFill>
                  <a:srgbClr val="0F2340"/>
                </a:solidFill>
                <a:latin typeface="Malgun Gothic"/>
              </a:rPr>
              <a:t>창업자는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lang="ko-KR" sz="2500" b="1" dirty="0">
                <a:solidFill>
                  <a:srgbClr val="0F2340"/>
                </a:solidFill>
                <a:latin typeface="Malgun Gothic"/>
              </a:rPr>
              <a:t>상권을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sz="2500" b="1" dirty="0" err="1">
                <a:solidFill>
                  <a:srgbClr val="0F2340"/>
                </a:solidFill>
                <a:latin typeface="Malgun Gothic"/>
              </a:rPr>
              <a:t>봅니다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.</a:t>
            </a:r>
            <a:br>
              <a:rPr dirty="0"/>
            </a:br>
            <a:r>
              <a:rPr sz="2500" b="1" dirty="0" err="1">
                <a:solidFill>
                  <a:srgbClr val="0F2340"/>
                </a:solidFill>
                <a:latin typeface="Malgun Gothic"/>
              </a:rPr>
              <a:t>공공기관이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sz="2500" b="1" dirty="0" err="1">
                <a:solidFill>
                  <a:srgbClr val="0F2340"/>
                </a:solidFill>
                <a:latin typeface="Malgun Gothic"/>
              </a:rPr>
              <a:t>필요로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sz="2500" b="1" dirty="0" err="1">
                <a:solidFill>
                  <a:srgbClr val="0F2340"/>
                </a:solidFill>
                <a:latin typeface="Malgun Gothic"/>
              </a:rPr>
              <a:t>하는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sz="2500" b="1" dirty="0" err="1">
                <a:solidFill>
                  <a:srgbClr val="0F2340"/>
                </a:solidFill>
                <a:latin typeface="Malgun Gothic"/>
              </a:rPr>
              <a:t>것은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sz="2500" b="1" dirty="0" err="1">
                <a:solidFill>
                  <a:srgbClr val="0F2340"/>
                </a:solidFill>
                <a:latin typeface="Malgun Gothic"/>
              </a:rPr>
              <a:t>보지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sz="2500" b="1" dirty="0" err="1">
                <a:solidFill>
                  <a:srgbClr val="0F2340"/>
                </a:solidFill>
                <a:latin typeface="Malgun Gothic"/>
              </a:rPr>
              <a:t>못합니다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5197" y="2691075"/>
            <a:ext cx="3063240" cy="3323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b="1">
                <a:solidFill>
                  <a:srgbClr val="0F2340"/>
                </a:solidFill>
                <a:latin typeface="Malgun Gothic"/>
              </a:rPr>
              <a:t>현장에서 본 문제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5197" y="3184386"/>
            <a:ext cx="3063240" cy="1123193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50000"/>
              </a:lnSpc>
            </a:pPr>
            <a:r>
              <a:rPr sz="1600" b="0" dirty="0" err="1">
                <a:solidFill>
                  <a:srgbClr val="0F172A"/>
                </a:solidFill>
                <a:latin typeface="Malgun Gothic"/>
              </a:rPr>
              <a:t>수요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예측이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틀리면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endParaRPr lang="ko-KR" altLang="en-US" dirty="0">
              <a:cs typeface="Calibri"/>
            </a:endParaRPr>
          </a:p>
          <a:p>
            <a:pPr>
              <a:lnSpc>
                <a:spcPct val="150000"/>
              </a:lnSpc>
            </a:pPr>
            <a:r>
              <a:rPr sz="1600" b="0" dirty="0" err="1">
                <a:solidFill>
                  <a:srgbClr val="0F172A"/>
                </a:solidFill>
                <a:latin typeface="Malgun Gothic"/>
              </a:rPr>
              <a:t>재고·이동·운영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비용이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endParaRPr lang="ko-KR" dirty="0">
              <a:solidFill>
                <a:srgbClr val="000000"/>
              </a:solidFill>
              <a:latin typeface="Calibri"/>
              <a:cs typeface="Calibri"/>
            </a:endParaRPr>
          </a:p>
          <a:p>
            <a:pPr algn="l">
              <a:lnSpc>
                <a:spcPct val="150000"/>
              </a:lnSpc>
            </a:pPr>
            <a:r>
              <a:rPr sz="1600" b="0" dirty="0" err="1">
                <a:solidFill>
                  <a:srgbClr val="0F172A"/>
                </a:solidFill>
                <a:latin typeface="Malgun Gothic"/>
              </a:rPr>
              <a:t>바로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손실로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이어집니다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.</a:t>
            </a:r>
            <a:endParaRPr>
              <a:ea typeface="Calibri"/>
              <a:cs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687668" y="2691075"/>
            <a:ext cx="3063240" cy="3323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b="1">
                <a:solidFill>
                  <a:srgbClr val="0F2340"/>
                </a:solidFill>
                <a:latin typeface="Malgun Gothic"/>
              </a:rPr>
              <a:t>기존 판단 기준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7668" y="3184386"/>
            <a:ext cx="3063240" cy="149252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50000"/>
              </a:lnSpc>
            </a:pPr>
            <a:r>
              <a:rPr sz="1600" b="0" dirty="0" err="1">
                <a:solidFill>
                  <a:srgbClr val="0F172A"/>
                </a:solidFill>
                <a:latin typeface="Malgun Gothic"/>
              </a:rPr>
              <a:t>예비창업자는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endParaRPr lang="ko-KR" altLang="en-US" dirty="0">
              <a:cs typeface="Calibri"/>
            </a:endParaRPr>
          </a:p>
          <a:p>
            <a:pPr>
              <a:lnSpc>
                <a:spcPct val="150000"/>
              </a:lnSpc>
            </a:pPr>
            <a:r>
              <a:rPr sz="1600" b="0" err="1">
                <a:solidFill>
                  <a:srgbClr val="0F172A"/>
                </a:solidFill>
                <a:latin typeface="Malgun Gothic"/>
              </a:rPr>
              <a:t>유동인구와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err="1">
                <a:solidFill>
                  <a:srgbClr val="0F172A"/>
                </a:solidFill>
                <a:latin typeface="Malgun Gothic"/>
              </a:rPr>
              <a:t>상권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lang="ko-KR" sz="1600">
                <a:solidFill>
                  <a:srgbClr val="0F172A"/>
                </a:solidFill>
                <a:latin typeface="Malgun Gothic"/>
              </a:rPr>
              <a:t>정보를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>
                <a:solidFill>
                  <a:srgbClr val="0F172A"/>
                </a:solidFill>
                <a:latin typeface="Malgun Gothic"/>
              </a:rPr>
              <a:t>보지만</a:t>
            </a:r>
            <a:endParaRPr lang="ko-KR" dirty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lnSpc>
                <a:spcPct val="150000"/>
              </a:lnSpc>
            </a:pPr>
            <a:r>
              <a:rPr sz="1600" b="0" dirty="0" err="1">
                <a:solidFill>
                  <a:srgbClr val="0F172A"/>
                </a:solidFill>
                <a:latin typeface="Malgun Gothic"/>
              </a:rPr>
              <a:t>공공수요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데이터는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endParaRPr lang="ko-KR">
              <a:solidFill>
                <a:srgbClr val="000000"/>
              </a:solidFill>
              <a:latin typeface="Calibri"/>
              <a:cs typeface="Calibri"/>
            </a:endParaRPr>
          </a:p>
          <a:p>
            <a:pPr algn="l">
              <a:lnSpc>
                <a:spcPct val="150000"/>
              </a:lnSpc>
            </a:pPr>
            <a:r>
              <a:rPr sz="1600" b="0" dirty="0">
                <a:solidFill>
                  <a:srgbClr val="0F172A"/>
                </a:solidFill>
                <a:latin typeface="Malgun Gothic"/>
              </a:rPr>
              <a:t>잘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활용하지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못합니다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.</a:t>
            </a:r>
            <a:endParaRPr>
              <a:ea typeface="Calibri"/>
              <a:cs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39328" y="2691074"/>
            <a:ext cx="3063240" cy="3323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b="1">
                <a:solidFill>
                  <a:srgbClr val="0F2340"/>
                </a:solidFill>
                <a:latin typeface="Malgun Gothic"/>
              </a:rPr>
              <a:t>프로젝트 질문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8" y="3184385"/>
            <a:ext cx="3063240" cy="1123193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50000"/>
              </a:lnSpc>
            </a:pPr>
            <a:r>
              <a:rPr sz="1600" b="0" err="1">
                <a:solidFill>
                  <a:srgbClr val="0F172A"/>
                </a:solidFill>
                <a:latin typeface="Malgun Gothic"/>
              </a:rPr>
              <a:t>입찰공고를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err="1">
                <a:solidFill>
                  <a:srgbClr val="0F172A"/>
                </a:solidFill>
                <a:latin typeface="Malgun Gothic"/>
              </a:rPr>
              <a:t>지역별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err="1">
                <a:solidFill>
                  <a:srgbClr val="0F172A"/>
                </a:solidFill>
                <a:latin typeface="Malgun Gothic"/>
              </a:rPr>
              <a:t>수요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>
                <a:solidFill>
                  <a:srgbClr val="0F172A"/>
                </a:solidFill>
                <a:latin typeface="Malgun Gothic"/>
              </a:rPr>
              <a:t>신호로</a:t>
            </a:r>
            <a:endParaRPr lang="ko-KR" altLang="en-US">
              <a:solidFill>
                <a:srgbClr val="000000"/>
              </a:solidFill>
              <a:latin typeface="Calibri"/>
              <a:ea typeface="맑은 고딕" panose="020B0503020000020004" pitchFamily="34" charset="-127"/>
              <a:cs typeface="Calibri"/>
            </a:endParaRPr>
          </a:p>
          <a:p>
            <a:pPr>
              <a:lnSpc>
                <a:spcPct val="150000"/>
              </a:lnSpc>
            </a:pPr>
            <a:r>
              <a:rPr sz="1600" b="0">
                <a:solidFill>
                  <a:srgbClr val="0F172A"/>
                </a:solidFill>
                <a:latin typeface="Malgun Gothic"/>
              </a:rPr>
              <a:t>보면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err="1">
                <a:solidFill>
                  <a:srgbClr val="0F172A"/>
                </a:solidFill>
                <a:latin typeface="Malgun Gothic"/>
              </a:rPr>
              <a:t>창업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err="1">
                <a:solidFill>
                  <a:srgbClr val="0F172A"/>
                </a:solidFill>
                <a:latin typeface="Malgun Gothic"/>
              </a:rPr>
              <a:t>입지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err="1">
                <a:solidFill>
                  <a:srgbClr val="0F172A"/>
                </a:solidFill>
                <a:latin typeface="Malgun Gothic"/>
              </a:rPr>
              <a:t>사전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err="1">
                <a:solidFill>
                  <a:srgbClr val="0F172A"/>
                </a:solidFill>
                <a:latin typeface="Malgun Gothic"/>
              </a:rPr>
              <a:t>검토에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endParaRPr lang="ko-KR" altLang="en-US">
              <a:solidFill>
                <a:srgbClr val="000000"/>
              </a:solidFill>
              <a:latin typeface="Calibri"/>
              <a:ea typeface="맑은 고딕"/>
              <a:cs typeface="Calibri"/>
            </a:endParaRPr>
          </a:p>
          <a:p>
            <a:pPr>
              <a:lnSpc>
                <a:spcPct val="150000"/>
              </a:lnSpc>
            </a:pPr>
            <a:r>
              <a:rPr sz="1600" b="0">
                <a:solidFill>
                  <a:srgbClr val="0F172A"/>
                </a:solidFill>
                <a:latin typeface="Malgun Gothic"/>
              </a:rPr>
              <a:t>활용할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수 </a:t>
            </a:r>
            <a:r>
              <a:rPr sz="1600" b="0" err="1">
                <a:solidFill>
                  <a:srgbClr val="0F172A"/>
                </a:solidFill>
                <a:latin typeface="Malgun Gothic"/>
              </a:rPr>
              <a:t>있지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err="1">
                <a:solidFill>
                  <a:srgbClr val="0F172A"/>
                </a:solidFill>
                <a:latin typeface="Malgun Gothic"/>
              </a:rPr>
              <a:t>않을까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?</a:t>
            </a:r>
            <a:endParaRPr lang="ko-KR" altLang="en-US">
              <a:ea typeface="맑은 고딕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6">
            <a:extLst>
              <a:ext uri="{FF2B5EF4-FFF2-40B4-BE49-F238E27FC236}">
                <a16:creationId xmlns:a16="http://schemas.microsoft.com/office/drawing/2014/main" id="{09C87E33-E9E1-C4A6-8CCF-3528AC6525D9}"/>
              </a:ext>
            </a:extLst>
          </p:cNvPr>
          <p:cNvSpPr/>
          <p:nvPr/>
        </p:nvSpPr>
        <p:spPr>
          <a:xfrm>
            <a:off x="683210" y="1863402"/>
            <a:ext cx="10764233" cy="1140892"/>
          </a:xfrm>
          <a:prstGeom prst="fram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lnSpc>
                <a:spcPct val="150000"/>
              </a:lnSpc>
            </a:pPr>
            <a:r>
              <a:rPr lang="en-US" sz="2000" b="1" err="1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대표</a:t>
            </a:r>
            <a:r>
              <a:rPr lang="en-US" sz="2000" b="1" dirty="0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en-US" sz="2000" b="1" err="1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시나리오</a:t>
            </a:r>
            <a:r>
              <a:rPr lang="en-US" sz="2000" b="1" dirty="0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: </a:t>
            </a:r>
            <a:r>
              <a:rPr lang="en-US" sz="2000" b="1" err="1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급식·식자재</a:t>
            </a:r>
            <a:endParaRPr lang="en-US" err="1">
              <a:solidFill>
                <a:srgbClr val="FFFFFF"/>
              </a:solidFill>
              <a:latin typeface="Calibri"/>
              <a:ea typeface="Calibri"/>
              <a:cs typeface="+mn-lt"/>
            </a:endParaRPr>
          </a:p>
          <a:p>
            <a:pPr algn="ctr"/>
            <a:r>
              <a:rPr lang="en-US" sz="2000" b="1" dirty="0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       </a:t>
            </a:r>
            <a:r>
              <a:rPr lang="en-US" sz="2000" b="1" dirty="0" err="1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반복</a:t>
            </a:r>
            <a:r>
              <a:rPr lang="en-US" sz="2000" b="1" dirty="0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수요가</a:t>
            </a:r>
            <a:r>
              <a:rPr lang="en-US" sz="2000" b="1" dirty="0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있고</a:t>
            </a:r>
            <a:r>
              <a:rPr lang="en-US" sz="2000" b="1" dirty="0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, </a:t>
            </a:r>
            <a:r>
              <a:rPr lang="en-US" sz="2000" b="1" dirty="0" err="1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납품·보관·이동</a:t>
            </a:r>
            <a:r>
              <a:rPr lang="en-US" sz="2000" b="1" dirty="0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비용이</a:t>
            </a:r>
            <a:r>
              <a:rPr lang="en-US" sz="2000" b="1" dirty="0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입지</a:t>
            </a:r>
            <a:r>
              <a:rPr lang="en-US" sz="2000" b="1" dirty="0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판단에</a:t>
            </a:r>
            <a:r>
              <a:rPr lang="en-US" sz="2000" b="1" dirty="0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직접</a:t>
            </a:r>
            <a:r>
              <a:rPr lang="en-US" sz="2000" b="1" dirty="0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영향을</a:t>
            </a:r>
            <a:r>
              <a:rPr lang="en-US" sz="2000" b="1" dirty="0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주는</a:t>
            </a:r>
            <a:r>
              <a:rPr lang="en-US" sz="2000" b="1" dirty="0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품목입니다</a:t>
            </a:r>
            <a:r>
              <a:rPr lang="en-US" sz="2000" b="1" dirty="0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.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02920" y="256032"/>
            <a:ext cx="969264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400" b="1">
                <a:solidFill>
                  <a:srgbClr val="0F2340"/>
                </a:solidFill>
                <a:latin typeface="Malgun Gothic"/>
              </a:rPr>
              <a:t>서비스 대상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20040"/>
            <a:ext cx="548640" cy="2560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Malgun Gothic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9264"/>
            <a:ext cx="11201400" cy="22860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698480" cy="4401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sz="2500" b="1" dirty="0" err="1">
                <a:solidFill>
                  <a:srgbClr val="0F2340"/>
                </a:solidFill>
                <a:latin typeface="Malgun Gothic"/>
              </a:rPr>
              <a:t>공공조달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sz="2500" b="1" dirty="0" err="1">
                <a:solidFill>
                  <a:srgbClr val="0F2340"/>
                </a:solidFill>
                <a:latin typeface="Malgun Gothic"/>
              </a:rPr>
              <a:t>시장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sz="2500" b="1" dirty="0" err="1">
                <a:solidFill>
                  <a:srgbClr val="0F2340"/>
                </a:solidFill>
                <a:latin typeface="Malgun Gothic"/>
              </a:rPr>
              <a:t>진입을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sz="2500" b="1" dirty="0" err="1">
                <a:solidFill>
                  <a:srgbClr val="0F2340"/>
                </a:solidFill>
                <a:latin typeface="Malgun Gothic"/>
              </a:rPr>
              <a:t>앞둔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lang="ko-KR" sz="2500" b="1" dirty="0" err="1">
                <a:solidFill>
                  <a:srgbClr val="0F2340"/>
                </a:solidFill>
                <a:latin typeface="Malgun Gothic"/>
                <a:ea typeface="Malgun Gothic"/>
              </a:rPr>
              <a:t>사람에게</a:t>
            </a:r>
            <a:r>
              <a:rPr lang="ko-KR" sz="2500" b="1" dirty="0">
                <a:solidFill>
                  <a:srgbClr val="0F2340"/>
                </a:solidFill>
                <a:latin typeface="Malgun Gothic"/>
                <a:ea typeface="Malgun Gothic"/>
              </a:rPr>
              <a:t> </a:t>
            </a:r>
            <a:r>
              <a:rPr lang="ko-KR" sz="2500" b="1" dirty="0" err="1">
                <a:solidFill>
                  <a:srgbClr val="0F2340"/>
                </a:solidFill>
                <a:latin typeface="Malgun Gothic"/>
                <a:ea typeface="Malgun Gothic"/>
              </a:rPr>
              <a:t>지역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sz="2500" b="1" dirty="0" err="1">
                <a:solidFill>
                  <a:srgbClr val="0F2340"/>
                </a:solidFill>
                <a:latin typeface="Malgun Gothic"/>
              </a:rPr>
              <a:t>선택의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sz="2500" b="1" dirty="0" err="1">
                <a:solidFill>
                  <a:srgbClr val="0F2340"/>
                </a:solidFill>
                <a:latin typeface="Malgun Gothic"/>
              </a:rPr>
              <a:t>근거를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sz="2500" b="1" dirty="0" err="1">
                <a:solidFill>
                  <a:srgbClr val="0F2340"/>
                </a:solidFill>
                <a:latin typeface="Malgun Gothic"/>
              </a:rPr>
              <a:t>제공합니다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.</a:t>
            </a:r>
            <a:endParaRPr lang="ko-KR" sz="2500" b="1">
              <a:solidFill>
                <a:srgbClr val="0F2340"/>
              </a:solidFill>
              <a:latin typeface="Malgun Gothic"/>
              <a:ea typeface="Malgun Gothic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3114233"/>
            <a:ext cx="3657600" cy="297180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" name="Rectangle 7"/>
          <p:cNvSpPr/>
          <p:nvPr/>
        </p:nvSpPr>
        <p:spPr>
          <a:xfrm>
            <a:off x="640080" y="3114233"/>
            <a:ext cx="73152" cy="29718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9" name="TextBox 8"/>
          <p:cNvSpPr txBox="1"/>
          <p:nvPr/>
        </p:nvSpPr>
        <p:spPr>
          <a:xfrm>
            <a:off x="841247" y="3278825"/>
            <a:ext cx="3337560" cy="3323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b="1" dirty="0">
                <a:solidFill>
                  <a:srgbClr val="0F2340"/>
                </a:solidFill>
                <a:latin typeface="Malgun Gothic"/>
              </a:rPr>
              <a:t>① </a:t>
            </a:r>
            <a:r>
              <a:rPr b="1" dirty="0" err="1">
                <a:solidFill>
                  <a:srgbClr val="0F2340"/>
                </a:solidFill>
                <a:latin typeface="Malgun Gothic"/>
              </a:rPr>
              <a:t>예비창업자</a:t>
            </a:r>
            <a:endParaRPr lang="ko-KR" altLang="en-US" b="1" dirty="0" err="1">
              <a:solidFill>
                <a:srgbClr val="0F2340"/>
              </a:solidFill>
              <a:latin typeface="Malgun Gothic"/>
              <a:ea typeface="Malgun Gothic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1247" y="3739073"/>
            <a:ext cx="3337560" cy="19791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50000"/>
              </a:lnSpc>
            </a:pPr>
            <a:r>
              <a:rPr sz="1600" b="0" dirty="0" err="1">
                <a:solidFill>
                  <a:srgbClr val="0F172A"/>
                </a:solidFill>
                <a:latin typeface="Malgun Gothic"/>
              </a:rPr>
              <a:t>급식·식자재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납품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창업을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endParaRPr lang="ko-KR" altLang="en-US" dirty="0">
              <a:cs typeface="Calibri"/>
            </a:endParaRPr>
          </a:p>
          <a:p>
            <a:pPr>
              <a:lnSpc>
                <a:spcPct val="150000"/>
              </a:lnSpc>
            </a:pPr>
            <a:r>
              <a:rPr sz="1600" b="0" dirty="0" err="1">
                <a:solidFill>
                  <a:srgbClr val="0F172A"/>
                </a:solidFill>
                <a:latin typeface="Malgun Gothic"/>
              </a:rPr>
              <a:t>고민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중이지만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,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어느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지역부터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endParaRPr lang="ko-KR" sz="1600" dirty="0" err="1">
              <a:solidFill>
                <a:srgbClr val="0F172A"/>
              </a:solidFill>
              <a:latin typeface="Malgun Gothic"/>
            </a:endParaRPr>
          </a:p>
          <a:p>
            <a:r>
              <a:rPr sz="1600" b="0" err="1">
                <a:solidFill>
                  <a:srgbClr val="0F172A"/>
                </a:solidFill>
                <a:latin typeface="Malgun Gothic"/>
              </a:rPr>
              <a:t>진입해야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err="1">
                <a:solidFill>
                  <a:srgbClr val="0F172A"/>
                </a:solidFill>
                <a:latin typeface="Malgun Gothic"/>
              </a:rPr>
              <a:t>할지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err="1">
                <a:solidFill>
                  <a:srgbClr val="0F172A"/>
                </a:solidFill>
                <a:latin typeface="Malgun Gothic"/>
              </a:rPr>
              <a:t>감에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err="1">
                <a:solidFill>
                  <a:srgbClr val="0F172A"/>
                </a:solidFill>
                <a:latin typeface="Malgun Gothic"/>
              </a:rPr>
              <a:t>의존하고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err="1">
                <a:solidFill>
                  <a:srgbClr val="0F172A"/>
                </a:solidFill>
                <a:latin typeface="Malgun Gothic"/>
              </a:rPr>
              <a:t>있음</a:t>
            </a:r>
            <a:br>
              <a:rPr sz="2400" dirty="0"/>
            </a:br>
            <a:br>
              <a:rPr sz="2400" dirty="0"/>
            </a:br>
            <a:r>
              <a:rPr sz="1600" b="0" dirty="0">
                <a:solidFill>
                  <a:srgbClr val="0F172A"/>
                </a:solidFill>
                <a:latin typeface="Malgun Gothic"/>
              </a:rPr>
              <a:t>→ </a:t>
            </a:r>
            <a:r>
              <a:rPr sz="1600" b="0" err="1">
                <a:solidFill>
                  <a:srgbClr val="0F172A"/>
                </a:solidFill>
                <a:latin typeface="Malgun Gothic"/>
              </a:rPr>
              <a:t>지역별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err="1">
                <a:solidFill>
                  <a:srgbClr val="0F172A"/>
                </a:solidFill>
                <a:latin typeface="Malgun Gothic"/>
              </a:rPr>
              <a:t>공공수요·경쟁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>
                <a:solidFill>
                  <a:srgbClr val="0F172A"/>
                </a:solidFill>
                <a:latin typeface="Malgun Gothic"/>
              </a:rPr>
              <a:t>구조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endParaRPr lang="ko-KR" sz="1600">
              <a:solidFill>
                <a:srgbClr val="0F172A"/>
              </a:solidFill>
              <a:latin typeface="Malgun Gothic"/>
            </a:endParaRPr>
          </a:p>
          <a:p>
            <a:pPr>
              <a:lnSpc>
                <a:spcPct val="150000"/>
              </a:lnSpc>
            </a:pPr>
            <a:r>
              <a:rPr lang="ko-KR" sz="1600" dirty="0">
                <a:solidFill>
                  <a:srgbClr val="0F172A"/>
                </a:solidFill>
                <a:latin typeface="Malgun Gothic"/>
                <a:ea typeface="맑은 고딕"/>
              </a:rPr>
              <a:t> 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비교로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후보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지역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압축</a:t>
            </a:r>
            <a:endParaRPr sz="1600" b="0" dirty="0">
              <a:solidFill>
                <a:srgbClr val="0F172A"/>
              </a:solidFill>
              <a:latin typeface="Malgun Gothic"/>
              <a:ea typeface="Malgun Gothic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480560" y="3114233"/>
            <a:ext cx="3474720" cy="297180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2" name="Rectangle 11"/>
          <p:cNvSpPr/>
          <p:nvPr/>
        </p:nvSpPr>
        <p:spPr>
          <a:xfrm>
            <a:off x="4480560" y="3114233"/>
            <a:ext cx="73152" cy="2971800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3" name="TextBox 12"/>
          <p:cNvSpPr txBox="1"/>
          <p:nvPr/>
        </p:nvSpPr>
        <p:spPr>
          <a:xfrm>
            <a:off x="4681728" y="3278825"/>
            <a:ext cx="3154679" cy="3323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b="1">
                <a:solidFill>
                  <a:srgbClr val="0F2340"/>
                </a:solidFill>
                <a:latin typeface="Malgun Gothic"/>
              </a:rPr>
              <a:t>② B2G 납품업체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8" y="3739073"/>
            <a:ext cx="3154679" cy="16098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50000"/>
              </a:lnSpc>
            </a:pPr>
            <a:r>
              <a:rPr sz="1600" b="0" dirty="0" err="1">
                <a:solidFill>
                  <a:srgbClr val="0F172A"/>
                </a:solidFill>
                <a:latin typeface="Malgun Gothic"/>
              </a:rPr>
              <a:t>신규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영업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지역을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확장해야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endParaRPr lang="ko-KR" altLang="en-US" dirty="0">
              <a:cs typeface="Calibri"/>
            </a:endParaRPr>
          </a:p>
          <a:p>
            <a:r>
              <a:rPr sz="1600" b="0" err="1">
                <a:solidFill>
                  <a:srgbClr val="0F172A"/>
                </a:solidFill>
                <a:latin typeface="Malgun Gothic"/>
              </a:rPr>
              <a:t>하지만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err="1">
                <a:solidFill>
                  <a:srgbClr val="0F172A"/>
                </a:solidFill>
                <a:latin typeface="Malgun Gothic"/>
              </a:rPr>
              <a:t>내부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err="1">
                <a:solidFill>
                  <a:srgbClr val="0F172A"/>
                </a:solidFill>
                <a:latin typeface="Malgun Gothic"/>
              </a:rPr>
              <a:t>데이터가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err="1">
                <a:solidFill>
                  <a:srgbClr val="0F172A"/>
                </a:solidFill>
                <a:latin typeface="Malgun Gothic"/>
              </a:rPr>
              <a:t>부족함</a:t>
            </a:r>
            <a:br>
              <a:rPr sz="2400" dirty="0"/>
            </a:br>
            <a:br>
              <a:rPr sz="2400" dirty="0"/>
            </a:br>
            <a:r>
              <a:rPr sz="1600" b="0" dirty="0">
                <a:solidFill>
                  <a:srgbClr val="0F172A"/>
                </a:solidFill>
                <a:latin typeface="Malgun Gothic"/>
              </a:rPr>
              <a:t>→ </a:t>
            </a:r>
            <a:r>
              <a:rPr sz="1600" b="0" err="1">
                <a:solidFill>
                  <a:srgbClr val="0F172A"/>
                </a:solidFill>
                <a:latin typeface="Malgun Gothic"/>
              </a:rPr>
              <a:t>공고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err="1">
                <a:solidFill>
                  <a:srgbClr val="0F172A"/>
                </a:solidFill>
                <a:latin typeface="Malgun Gothic"/>
              </a:rPr>
              <a:t>건수·경쟁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err="1">
                <a:solidFill>
                  <a:srgbClr val="0F172A"/>
                </a:solidFill>
                <a:latin typeface="Malgun Gothic"/>
              </a:rPr>
              <a:t>구조로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endParaRPr lang="ko-KR" sz="1600" dirty="0" err="1">
              <a:solidFill>
                <a:srgbClr val="0F172A"/>
              </a:solidFill>
              <a:latin typeface="Malgun Gothic"/>
            </a:endParaRPr>
          </a:p>
          <a:p>
            <a:pPr>
              <a:lnSpc>
                <a:spcPct val="150000"/>
              </a:lnSpc>
            </a:pPr>
            <a:r>
              <a:rPr lang="ko-KR" sz="1600" dirty="0">
                <a:solidFill>
                  <a:srgbClr val="0F172A"/>
                </a:solidFill>
                <a:latin typeface="Malgun Gothic"/>
                <a:ea typeface="맑은 고딕"/>
              </a:rPr>
              <a:t> 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우선순위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설정</a:t>
            </a:r>
            <a:endParaRPr sz="1600" b="0" dirty="0">
              <a:solidFill>
                <a:srgbClr val="0F172A"/>
              </a:solidFill>
              <a:latin typeface="Malgun Gothic"/>
              <a:ea typeface="Malgun Gothic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138160" y="3114233"/>
            <a:ext cx="3429000" cy="297180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6" name="Rectangle 15"/>
          <p:cNvSpPr/>
          <p:nvPr/>
        </p:nvSpPr>
        <p:spPr>
          <a:xfrm>
            <a:off x="8138160" y="3114233"/>
            <a:ext cx="73152" cy="2971800"/>
          </a:xfrm>
          <a:prstGeom prst="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7" name="TextBox 16"/>
          <p:cNvSpPr txBox="1"/>
          <p:nvPr/>
        </p:nvSpPr>
        <p:spPr>
          <a:xfrm>
            <a:off x="8339328" y="3278825"/>
            <a:ext cx="3108960" cy="3323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b="1">
                <a:solidFill>
                  <a:srgbClr val="0F2340"/>
                </a:solidFill>
                <a:latin typeface="Malgun Gothic"/>
              </a:rPr>
              <a:t>③ 창업 상담기관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8" y="3739073"/>
            <a:ext cx="3108960" cy="16098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50000"/>
              </a:lnSpc>
            </a:pPr>
            <a:r>
              <a:rPr sz="1600" b="0" err="1">
                <a:solidFill>
                  <a:srgbClr val="0F172A"/>
                </a:solidFill>
                <a:latin typeface="Malgun Gothic"/>
              </a:rPr>
              <a:t>상담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시 </a:t>
            </a:r>
            <a:r>
              <a:rPr sz="1600" b="0" err="1">
                <a:solidFill>
                  <a:srgbClr val="0F172A"/>
                </a:solidFill>
                <a:latin typeface="Malgun Gothic"/>
              </a:rPr>
              <a:t>지역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err="1">
                <a:solidFill>
                  <a:srgbClr val="0F172A"/>
                </a:solidFill>
                <a:latin typeface="Malgun Gothic"/>
              </a:rPr>
              <a:t>수요를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>
                <a:solidFill>
                  <a:srgbClr val="0F172A"/>
                </a:solidFill>
                <a:latin typeface="Malgun Gothic"/>
              </a:rPr>
              <a:t>설명할</a:t>
            </a:r>
            <a:endParaRPr lang="ko-KR" altLang="en-US">
              <a:cs typeface="Calibri"/>
            </a:endParaRPr>
          </a:p>
          <a:p>
            <a:r>
              <a:rPr sz="1600" b="0">
                <a:solidFill>
                  <a:srgbClr val="0F172A"/>
                </a:solidFill>
                <a:latin typeface="Malgun Gothic"/>
              </a:rPr>
              <a:t>근거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err="1">
                <a:solidFill>
                  <a:srgbClr val="0F172A"/>
                </a:solidFill>
                <a:latin typeface="Malgun Gothic"/>
              </a:rPr>
              <a:t>자료가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err="1">
                <a:solidFill>
                  <a:srgbClr val="0F172A"/>
                </a:solidFill>
                <a:latin typeface="Malgun Gothic"/>
              </a:rPr>
              <a:t>부족함</a:t>
            </a:r>
            <a:br>
              <a:rPr sz="2400" dirty="0"/>
            </a:br>
            <a:br>
              <a:rPr sz="2400" dirty="0"/>
            </a:br>
            <a:r>
              <a:rPr sz="1600" b="0" dirty="0">
                <a:solidFill>
                  <a:srgbClr val="0F172A"/>
                </a:solidFill>
                <a:latin typeface="Malgun Gothic"/>
              </a:rPr>
              <a:t>→ </a:t>
            </a:r>
            <a:r>
              <a:rPr sz="1600" b="0" err="1">
                <a:solidFill>
                  <a:srgbClr val="0F172A"/>
                </a:solidFill>
                <a:latin typeface="Malgun Gothic"/>
              </a:rPr>
              <a:t>지역별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err="1">
                <a:solidFill>
                  <a:srgbClr val="0F172A"/>
                </a:solidFill>
                <a:latin typeface="Malgun Gothic"/>
              </a:rPr>
              <a:t>수요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err="1">
                <a:solidFill>
                  <a:srgbClr val="0F172A"/>
                </a:solidFill>
                <a:latin typeface="Malgun Gothic"/>
              </a:rPr>
              <a:t>리포트를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endParaRPr lang="ko-KR" sz="1600" dirty="0" err="1">
              <a:solidFill>
                <a:srgbClr val="0F172A"/>
              </a:solidFill>
              <a:latin typeface="Malgun Gothic"/>
            </a:endParaRPr>
          </a:p>
          <a:p>
            <a:pPr>
              <a:lnSpc>
                <a:spcPct val="150000"/>
              </a:lnSpc>
            </a:pPr>
            <a:r>
              <a:rPr lang="ko-KR" sz="1600" dirty="0">
                <a:solidFill>
                  <a:srgbClr val="0F172A"/>
                </a:solidFill>
                <a:latin typeface="Malgun Gothic"/>
                <a:ea typeface="맑은 고딕"/>
              </a:rPr>
              <a:t> 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상담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보조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자료로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활용</a:t>
            </a:r>
            <a:endParaRPr sz="1600" b="0" dirty="0">
              <a:solidFill>
                <a:srgbClr val="0F172A"/>
              </a:solidFill>
              <a:latin typeface="Malgun Gothic"/>
              <a:ea typeface="Malgun Gothic"/>
            </a:endParaRPr>
          </a:p>
        </p:txBody>
      </p:sp>
      <p:pic>
        <p:nvPicPr>
          <p:cNvPr id="20" name="그래픽 19" descr="혼란스러운 사람 단색으로 채워진">
            <a:extLst>
              <a:ext uri="{FF2B5EF4-FFF2-40B4-BE49-F238E27FC236}">
                <a16:creationId xmlns:a16="http://schemas.microsoft.com/office/drawing/2014/main" id="{A7D0759D-6B9A-7437-7058-22484EDCF7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6762" y="2037271"/>
            <a:ext cx="770628" cy="71311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ounded Rectangle 14">
            <a:extLst>
              <a:ext uri="{FF2B5EF4-FFF2-40B4-BE49-F238E27FC236}">
                <a16:creationId xmlns:a16="http://schemas.microsoft.com/office/drawing/2014/main" id="{93A8975D-CA70-9253-C06B-5A8026E1B399}"/>
              </a:ext>
            </a:extLst>
          </p:cNvPr>
          <p:cNvSpPr/>
          <p:nvPr/>
        </p:nvSpPr>
        <p:spPr>
          <a:xfrm>
            <a:off x="8750730" y="2329035"/>
            <a:ext cx="2535782" cy="3554536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502920" y="256032"/>
            <a:ext cx="969264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400" b="1">
                <a:solidFill>
                  <a:srgbClr val="0F2340"/>
                </a:solidFill>
                <a:latin typeface="Malgun Gothic"/>
              </a:rPr>
              <a:t>프로젝트 소개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20040"/>
            <a:ext cx="548640" cy="2560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Malgun Gothic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9264"/>
            <a:ext cx="11201400" cy="22860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143000"/>
            <a:ext cx="10607040" cy="82484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500" b="1" err="1">
                <a:solidFill>
                  <a:srgbClr val="0F2340"/>
                </a:solidFill>
                <a:latin typeface="Malgun Gothic"/>
              </a:rPr>
              <a:t>나라장터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sz="2500" b="1" err="1">
                <a:solidFill>
                  <a:srgbClr val="0F2340"/>
                </a:solidFill>
                <a:latin typeface="Malgun Gothic"/>
              </a:rPr>
              <a:t>입찰공고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 100,083건을 </a:t>
            </a:r>
            <a:r>
              <a:rPr lang="ko-KR" altLang="en-US" sz="2500" b="1">
                <a:solidFill>
                  <a:srgbClr val="0F2340"/>
                </a:solidFill>
                <a:latin typeface="Malgun Gothic"/>
                <a:ea typeface="Malgun Gothic"/>
              </a:rPr>
              <a:t>분석하여,</a:t>
            </a:r>
            <a:br>
              <a:rPr sz="2500" dirty="0"/>
            </a:br>
            <a:r>
              <a:rPr sz="2500" b="1">
                <a:solidFill>
                  <a:srgbClr val="0F2340"/>
                </a:solidFill>
                <a:latin typeface="Malgun Gothic"/>
              </a:rPr>
              <a:t>창업 </a:t>
            </a:r>
            <a:r>
              <a:rPr sz="2500" b="1" err="1">
                <a:solidFill>
                  <a:srgbClr val="0F2340"/>
                </a:solidFill>
                <a:latin typeface="Malgun Gothic"/>
              </a:rPr>
              <a:t>입지·물류</a:t>
            </a:r>
            <a:r>
              <a:rPr sz="2500" b="1">
                <a:solidFill>
                  <a:srgbClr val="0F2340"/>
                </a:solidFill>
                <a:latin typeface="Malgun Gothic"/>
              </a:rPr>
              <a:t> </a:t>
            </a:r>
            <a:r>
              <a:rPr sz="2500" b="1" err="1">
                <a:solidFill>
                  <a:srgbClr val="0F2340"/>
                </a:solidFill>
                <a:latin typeface="Malgun Gothic"/>
              </a:rPr>
              <a:t>거점</a:t>
            </a:r>
            <a:r>
              <a:rPr sz="2500" b="1">
                <a:solidFill>
                  <a:srgbClr val="0F2340"/>
                </a:solidFill>
                <a:latin typeface="Malgun Gothic"/>
              </a:rPr>
              <a:t> </a:t>
            </a:r>
            <a:r>
              <a:rPr sz="2500" b="1" err="1">
                <a:solidFill>
                  <a:srgbClr val="0F2340"/>
                </a:solidFill>
                <a:latin typeface="Malgun Gothic"/>
              </a:rPr>
              <a:t>판단을</a:t>
            </a:r>
            <a:r>
              <a:rPr sz="2500" b="1">
                <a:solidFill>
                  <a:srgbClr val="0F2340"/>
                </a:solidFill>
                <a:latin typeface="Malgun Gothic"/>
              </a:rPr>
              <a:t> </a:t>
            </a:r>
            <a:r>
              <a:rPr sz="2500" b="1" err="1">
                <a:solidFill>
                  <a:srgbClr val="0F2340"/>
                </a:solidFill>
                <a:latin typeface="Malgun Gothic"/>
              </a:rPr>
              <a:t>돕는</a:t>
            </a:r>
            <a:r>
              <a:rPr sz="2500" b="1">
                <a:solidFill>
                  <a:srgbClr val="0F2340"/>
                </a:solidFill>
                <a:latin typeface="Malgun Gothic"/>
              </a:rPr>
              <a:t> </a:t>
            </a:r>
            <a:r>
              <a:rPr sz="2500" b="1" err="1">
                <a:solidFill>
                  <a:srgbClr val="0F2340"/>
                </a:solidFill>
                <a:latin typeface="Malgun Gothic"/>
              </a:rPr>
              <a:t>서비스입니다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.</a:t>
            </a:r>
            <a:endParaRPr lang="ko-KR" altLang="en-US" sz="2500" b="1" dirty="0">
              <a:solidFill>
                <a:srgbClr val="0F2340"/>
              </a:solidFill>
              <a:latin typeface="Malgun Gothic"/>
              <a:ea typeface="Malgun Gothic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02920" y="2331720"/>
            <a:ext cx="2104462" cy="3554536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7839" y="2651760"/>
            <a:ext cx="2128520" cy="486287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2800" b="1">
                <a:solidFill>
                  <a:srgbClr val="1D4ED8"/>
                </a:solidFill>
                <a:latin typeface="Malgun Gothic"/>
              </a:rPr>
              <a:t>100,083건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7839" y="3878967"/>
            <a:ext cx="2128520" cy="36317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2000" b="1">
                <a:solidFill>
                  <a:srgbClr val="0F2340"/>
                </a:solidFill>
                <a:latin typeface="Malgun Gothic"/>
              </a:rPr>
              <a:t>입찰공고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7839" y="5026616"/>
            <a:ext cx="2128520" cy="270843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400" b="0">
                <a:solidFill>
                  <a:srgbClr val="64748B"/>
                </a:solidFill>
                <a:latin typeface="Malgun Gothic"/>
              </a:rPr>
              <a:t>최근 2년 수집·분석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7653" y="2341880"/>
            <a:ext cx="2104462" cy="3554536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30880" y="2651760"/>
            <a:ext cx="2118360" cy="486287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2800" b="1">
                <a:solidFill>
                  <a:srgbClr val="1D4ED8"/>
                </a:solidFill>
                <a:latin typeface="Malgun Gothic"/>
              </a:rPr>
              <a:t>17개 시도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0880" y="3878967"/>
            <a:ext cx="2118360" cy="36317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2000" b="1">
                <a:solidFill>
                  <a:srgbClr val="0F2340"/>
                </a:solidFill>
                <a:latin typeface="Malgun Gothic"/>
              </a:rPr>
              <a:t>전국 범위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30880" y="5026616"/>
            <a:ext cx="2118360" cy="270843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lang="ko-KR" altLang="en-US" sz="1400">
                <a:solidFill>
                  <a:srgbClr val="64748B"/>
                </a:solidFill>
                <a:latin typeface="Malgun Gothic"/>
                <a:ea typeface="Malgun Gothic"/>
              </a:rPr>
              <a:t>광역 단위 전체</a:t>
            </a:r>
            <a:endParaRPr lang="ko-KR" sz="1400" dirty="0">
              <a:solidFill>
                <a:srgbClr val="64748B"/>
              </a:solidFill>
              <a:latin typeface="Malgun Gothic"/>
              <a:ea typeface="Malgun Gothic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992386" y="2349356"/>
            <a:ext cx="2118839" cy="3554536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764628" y="2651760"/>
            <a:ext cx="2545080" cy="486287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2800" b="1">
                <a:solidFill>
                  <a:srgbClr val="1D4ED8"/>
                </a:solidFill>
                <a:latin typeface="Malgun Gothic"/>
              </a:rPr>
              <a:t>5종 AI 해석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64628" y="3878967"/>
            <a:ext cx="2545080" cy="36317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2000" b="1">
                <a:solidFill>
                  <a:srgbClr val="0F2340"/>
                </a:solidFill>
                <a:latin typeface="Malgun Gothic"/>
              </a:rPr>
              <a:t>보조 설명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64628" y="5026616"/>
            <a:ext cx="2545080" cy="270843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400" b="0">
                <a:solidFill>
                  <a:srgbClr val="64748B"/>
                </a:solidFill>
                <a:latin typeface="Malgun Gothic"/>
              </a:rPr>
              <a:t>수치를 자연어로 변환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A288FE9-DF63-D48B-E4C0-26A247E2A0B1}"/>
              </a:ext>
            </a:extLst>
          </p:cNvPr>
          <p:cNvSpPr txBox="1"/>
          <p:nvPr/>
        </p:nvSpPr>
        <p:spPr>
          <a:xfrm>
            <a:off x="6004751" y="2661919"/>
            <a:ext cx="2108200" cy="486287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lang="en-US" sz="2800" b="1">
                <a:solidFill>
                  <a:srgbClr val="1D4ED8"/>
                </a:solidFill>
                <a:latin typeface="Malgun Gothic"/>
              </a:rPr>
              <a:t>220</a:t>
            </a:r>
            <a:r>
              <a:rPr lang="ko-KR" altLang="en-US" sz="2800" b="1">
                <a:solidFill>
                  <a:srgbClr val="1D4ED8"/>
                </a:solidFill>
                <a:latin typeface="Malgun Gothic"/>
                <a:ea typeface="Malgun Gothic"/>
              </a:rPr>
              <a:t>개</a:t>
            </a:r>
            <a:r>
              <a:rPr lang="en-US" sz="2800" b="1">
                <a:solidFill>
                  <a:srgbClr val="1D4ED8"/>
                </a:solidFill>
                <a:latin typeface="Malgun Gothic"/>
              </a:rPr>
              <a:t> </a:t>
            </a:r>
            <a:r>
              <a:rPr lang="ko-KR" altLang="en-US" sz="2800" b="1">
                <a:solidFill>
                  <a:srgbClr val="1D4ED8"/>
                </a:solidFill>
                <a:latin typeface="Malgun Gothic"/>
                <a:ea typeface="Malgun Gothic"/>
              </a:rPr>
              <a:t>지역</a:t>
            </a:r>
            <a:endParaRPr lang="ko-KR" altLang="en-US" sz="2800" b="1">
              <a:solidFill>
                <a:srgbClr val="1D4ED8"/>
              </a:solidFill>
              <a:latin typeface="Malgun Gothic"/>
              <a:ea typeface="맑은 고딕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5653F72-7C8D-7CF6-2268-DEF52AA664B6}"/>
              </a:ext>
            </a:extLst>
          </p:cNvPr>
          <p:cNvSpPr txBox="1"/>
          <p:nvPr/>
        </p:nvSpPr>
        <p:spPr>
          <a:xfrm>
            <a:off x="6004751" y="3889126"/>
            <a:ext cx="2108200" cy="36317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lang="ko-KR" altLang="en-US" sz="2000" b="1">
                <a:solidFill>
                  <a:srgbClr val="0F2340"/>
                </a:solidFill>
                <a:latin typeface="Malgun Gothic"/>
                <a:ea typeface="Malgun Gothic"/>
              </a:rPr>
              <a:t>시</a:t>
            </a:r>
            <a:r>
              <a:rPr lang="ko-KR" sz="2000" b="1">
                <a:solidFill>
                  <a:srgbClr val="0F2340"/>
                </a:solidFill>
                <a:latin typeface="Malgun Gothic"/>
                <a:ea typeface="Malgun Gothic"/>
              </a:rPr>
              <a:t>·</a:t>
            </a:r>
            <a:r>
              <a:rPr lang="ko-KR" altLang="en-US" sz="2000" b="1">
                <a:solidFill>
                  <a:srgbClr val="0F2340"/>
                </a:solidFill>
                <a:latin typeface="Malgun Gothic"/>
                <a:ea typeface="Malgun Gothic"/>
              </a:rPr>
              <a:t>군</a:t>
            </a:r>
            <a:r>
              <a:rPr lang="ko-KR" sz="2000" b="1">
                <a:solidFill>
                  <a:srgbClr val="0F2340"/>
                </a:solidFill>
                <a:latin typeface="Malgun Gothic"/>
                <a:ea typeface="Malgun Gothic"/>
              </a:rPr>
              <a:t>·</a:t>
            </a:r>
            <a:r>
              <a:rPr lang="ko-KR" altLang="en-US" sz="2000" b="1">
                <a:solidFill>
                  <a:srgbClr val="0F2340"/>
                </a:solidFill>
                <a:latin typeface="Malgun Gothic"/>
                <a:ea typeface="Malgun Gothic"/>
              </a:rPr>
              <a:t>구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70C20CE-7FE7-3201-C4B3-4DE6B14EFC70}"/>
              </a:ext>
            </a:extLst>
          </p:cNvPr>
          <p:cNvSpPr txBox="1"/>
          <p:nvPr/>
        </p:nvSpPr>
        <p:spPr>
          <a:xfrm>
            <a:off x="6004751" y="5036775"/>
            <a:ext cx="2108200" cy="270843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lang="ko-KR" altLang="en-US" sz="1400">
                <a:solidFill>
                  <a:srgbClr val="64748B"/>
                </a:solidFill>
                <a:latin typeface="Malgun Gothic"/>
                <a:ea typeface="Malgun Gothic"/>
              </a:rPr>
              <a:t>세부 지역 분석</a:t>
            </a:r>
            <a:endParaRPr lang="ko-KR" altLang="en-US" sz="1400" dirty="0">
              <a:solidFill>
                <a:srgbClr val="64748B"/>
              </a:solidFill>
              <a:latin typeface="Malgun Gothic"/>
              <a:ea typeface="Malgun Goth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969264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400" b="1">
                <a:solidFill>
                  <a:srgbClr val="0F2340"/>
                </a:solidFill>
                <a:latin typeface="Malgun Gothic"/>
              </a:rPr>
              <a:t>왜 조달청 데이터인가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20040"/>
            <a:ext cx="548640" cy="2560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Malgun Gothic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9264"/>
            <a:ext cx="11201400" cy="22860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143000"/>
            <a:ext cx="10607040" cy="82484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sz="2500" b="1" dirty="0" err="1">
                <a:solidFill>
                  <a:srgbClr val="0F2340"/>
                </a:solidFill>
                <a:latin typeface="Malgun Gothic"/>
              </a:rPr>
              <a:t>입찰공고는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sz="2500" b="1" dirty="0" err="1">
                <a:solidFill>
                  <a:srgbClr val="0F2340"/>
                </a:solidFill>
                <a:latin typeface="Malgun Gothic"/>
              </a:rPr>
              <a:t>공공기관이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sz="2500" b="1" dirty="0" err="1">
                <a:solidFill>
                  <a:srgbClr val="0F2340"/>
                </a:solidFill>
                <a:latin typeface="Malgun Gothic"/>
              </a:rPr>
              <a:t>예산을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sz="2500" b="1" dirty="0" err="1">
                <a:solidFill>
                  <a:srgbClr val="0F2340"/>
                </a:solidFill>
                <a:latin typeface="Malgun Gothic"/>
              </a:rPr>
              <a:t>편성해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 </a:t>
            </a:r>
            <a:endParaRPr lang="ko-KR" altLang="en-US" sz="2500" b="1">
              <a:solidFill>
                <a:srgbClr val="0F2340"/>
              </a:solidFill>
              <a:latin typeface="Malgun Gothic"/>
            </a:endParaRPr>
          </a:p>
          <a:p>
            <a:pPr algn="l"/>
            <a:r>
              <a:rPr sz="2500" b="1">
                <a:solidFill>
                  <a:srgbClr val="0F2340"/>
                </a:solidFill>
                <a:latin typeface="Malgun Gothic"/>
              </a:rPr>
              <a:t>구매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sz="2500" b="1" err="1">
                <a:solidFill>
                  <a:srgbClr val="0F2340"/>
                </a:solidFill>
                <a:latin typeface="Malgun Gothic"/>
              </a:rPr>
              <a:t>의사를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sz="2500" b="1" err="1">
                <a:solidFill>
                  <a:srgbClr val="0F2340"/>
                </a:solidFill>
                <a:latin typeface="Malgun Gothic"/>
              </a:rPr>
              <a:t>공표한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sz="2500" b="1" err="1">
                <a:solidFill>
                  <a:srgbClr val="0F2340"/>
                </a:solidFill>
                <a:latin typeface="Malgun Gothic"/>
              </a:rPr>
              <a:t>수요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sz="2500" b="1" err="1">
                <a:solidFill>
                  <a:srgbClr val="0F2340"/>
                </a:solidFill>
                <a:latin typeface="Malgun Gothic"/>
              </a:rPr>
              <a:t>신호입니다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.</a:t>
            </a:r>
            <a:endParaRPr lang="ko-KR" altLang="en-US" sz="2500" b="1">
              <a:solidFill>
                <a:srgbClr val="0F2340"/>
              </a:solidFill>
              <a:latin typeface="Malgun Gothic"/>
              <a:ea typeface="Malgun Gothic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032007" y="2333445"/>
            <a:ext cx="4754880" cy="345440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49960" y="2362200"/>
            <a:ext cx="83312" cy="3434080"/>
          </a:xfrm>
          <a:prstGeom prst="rect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61288" y="2526792"/>
            <a:ext cx="4434840" cy="3323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b="1">
                <a:solidFill>
                  <a:srgbClr val="0F2340"/>
                </a:solidFill>
                <a:latin typeface="Malgun Gothic"/>
              </a:rPr>
              <a:t>상권</a:t>
            </a:r>
            <a:r>
              <a:rPr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b="1" err="1">
                <a:solidFill>
                  <a:srgbClr val="0F2340"/>
                </a:solidFill>
                <a:latin typeface="Malgun Gothic"/>
              </a:rPr>
              <a:t>데이터</a:t>
            </a:r>
            <a:endParaRPr lang="ko-KR" altLang="en-US" b="1" err="1">
              <a:solidFill>
                <a:srgbClr val="0F2340"/>
              </a:solidFill>
              <a:latin typeface="Malgun Gothic"/>
              <a:ea typeface="Malgun Gothic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61288" y="2987040"/>
            <a:ext cx="4434840" cy="91717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0" dirty="0" err="1">
                <a:solidFill>
                  <a:srgbClr val="0F172A"/>
                </a:solidFill>
                <a:latin typeface="Malgun Gothic"/>
              </a:rPr>
              <a:t>소비자가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“</a:t>
            </a:r>
            <a:r>
              <a:rPr sz="1600" b="1" dirty="0">
                <a:solidFill>
                  <a:srgbClr val="0F172A"/>
                </a:solidFill>
                <a:latin typeface="Malgun Gothic"/>
              </a:rPr>
              <a:t>살 것 </a:t>
            </a:r>
            <a:r>
              <a:rPr sz="1600" b="1" dirty="0" err="1">
                <a:solidFill>
                  <a:srgbClr val="0F172A"/>
                </a:solidFill>
                <a:latin typeface="Malgun Gothic"/>
              </a:rPr>
              <a:t>같다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”는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추정에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가깝습니다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.</a:t>
            </a:r>
            <a:br>
              <a:rPr sz="2400" dirty="0"/>
            </a:br>
            <a:br>
              <a:rPr sz="2400" dirty="0"/>
            </a:br>
            <a:r>
              <a:rPr sz="1600" b="0" dirty="0" err="1">
                <a:solidFill>
                  <a:srgbClr val="0F172A"/>
                </a:solidFill>
                <a:latin typeface="Malgun Gothic"/>
              </a:rPr>
              <a:t>민간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소비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흐름을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보는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데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강점이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있습니다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27800" y="2341880"/>
            <a:ext cx="4754880" cy="345440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36360" y="2362200"/>
            <a:ext cx="83312" cy="343408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47688" y="2526792"/>
            <a:ext cx="4434840" cy="3323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b="1">
                <a:solidFill>
                  <a:srgbClr val="0F2340"/>
                </a:solidFill>
                <a:latin typeface="Malgun Gothic"/>
              </a:rPr>
              <a:t>입찰공고 데이터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47688" y="2987040"/>
            <a:ext cx="4434840" cy="1163395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sz="1600" b="0" dirty="0" err="1">
                <a:solidFill>
                  <a:srgbClr val="0F172A"/>
                </a:solidFill>
                <a:latin typeface="Malgun Gothic"/>
              </a:rPr>
              <a:t>공공기관이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“</a:t>
            </a:r>
            <a:r>
              <a:rPr sz="1600" b="1" dirty="0">
                <a:solidFill>
                  <a:srgbClr val="0F172A"/>
                </a:solidFill>
                <a:latin typeface="Malgun Gothic"/>
              </a:rPr>
              <a:t>살 </a:t>
            </a:r>
            <a:r>
              <a:rPr sz="1600" b="1" dirty="0" err="1">
                <a:solidFill>
                  <a:srgbClr val="0F172A"/>
                </a:solidFill>
                <a:latin typeface="Malgun Gothic"/>
              </a:rPr>
              <a:t>것이다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”라고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endParaRPr lang="ko-KR" altLang="en-US" dirty="0"/>
          </a:p>
          <a:p>
            <a:pPr algn="l"/>
            <a:r>
              <a:rPr sz="1600" b="0" dirty="0" err="1">
                <a:solidFill>
                  <a:srgbClr val="0F172A"/>
                </a:solidFill>
                <a:latin typeface="Malgun Gothic"/>
              </a:rPr>
              <a:t>공표한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수요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신호입니다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.</a:t>
            </a:r>
            <a:br>
              <a:rPr sz="2400" dirty="0"/>
            </a:br>
            <a:br>
              <a:rPr sz="2400" dirty="0"/>
            </a:br>
            <a:r>
              <a:rPr sz="1600" b="0" dirty="0" err="1">
                <a:solidFill>
                  <a:srgbClr val="0F172A"/>
                </a:solidFill>
                <a:latin typeface="Malgun Gothic"/>
              </a:rPr>
              <a:t>지역별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발주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품목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차이를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볼 수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있습니다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.</a:t>
            </a:r>
            <a:endParaRPr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5E434AE-0D44-6429-AA8F-09A02A355E5D}"/>
              </a:ext>
            </a:extLst>
          </p:cNvPr>
          <p:cNvSpPr txBox="1"/>
          <p:nvPr/>
        </p:nvSpPr>
        <p:spPr>
          <a:xfrm>
            <a:off x="1029207" y="5229352"/>
            <a:ext cx="4749800" cy="3323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lang="en-US" b="1">
                <a:solidFill>
                  <a:srgbClr val="0F2340"/>
                </a:solidFill>
                <a:latin typeface="Malgun Gothic"/>
                <a:ea typeface="Malgun Gothic"/>
              </a:rPr>
              <a:t>- BEFORE -</a:t>
            </a:r>
            <a:endParaRPr lang="ko-KR" b="1">
              <a:solidFill>
                <a:srgbClr val="0F2340"/>
              </a:solidFill>
              <a:latin typeface="Malgun Gothic"/>
              <a:ea typeface="Malgun Gothic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FB6B91C-7C09-6196-D218-00FF27CEC436}"/>
              </a:ext>
            </a:extLst>
          </p:cNvPr>
          <p:cNvSpPr txBox="1"/>
          <p:nvPr/>
        </p:nvSpPr>
        <p:spPr>
          <a:xfrm>
            <a:off x="6535926" y="5198872"/>
            <a:ext cx="4749800" cy="3323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lang="en-US" b="1">
                <a:solidFill>
                  <a:srgbClr val="0F2340"/>
                </a:solidFill>
                <a:latin typeface="Malgun Gothic"/>
                <a:ea typeface="Malgun Gothic"/>
              </a:rPr>
              <a:t>- AFTER -</a:t>
            </a:r>
            <a:endParaRPr lang="ko-KR" b="1">
              <a:solidFill>
                <a:srgbClr val="0F2340"/>
              </a:solidFill>
              <a:latin typeface="Malgun Gothic"/>
              <a:ea typeface="Malgun Gothi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CF6B4905-16DF-109C-2A8C-3DDCB58C21DA}"/>
              </a:ext>
            </a:extLst>
          </p:cNvPr>
          <p:cNvSpPr/>
          <p:nvPr/>
        </p:nvSpPr>
        <p:spPr>
          <a:xfrm>
            <a:off x="1910080" y="4739640"/>
            <a:ext cx="8290560" cy="9144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/>
          <p:cNvSpPr txBox="1"/>
          <p:nvPr/>
        </p:nvSpPr>
        <p:spPr>
          <a:xfrm>
            <a:off x="502920" y="256032"/>
            <a:ext cx="969264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400" b="1">
                <a:solidFill>
                  <a:srgbClr val="0F2340"/>
                </a:solidFill>
                <a:latin typeface="Malgun Gothic"/>
              </a:rPr>
              <a:t>데이터 결합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20040"/>
            <a:ext cx="548640" cy="2560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Malgun Gothic"/>
              </a:rP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9264"/>
            <a:ext cx="11201400" cy="22860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143000"/>
            <a:ext cx="10698480" cy="4401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500" b="1">
                <a:solidFill>
                  <a:srgbClr val="0F2340"/>
                </a:solidFill>
                <a:latin typeface="Malgun Gothic"/>
              </a:rPr>
              <a:t>공공수요 하나만으로는 입지를 판단하기 어렵습니다.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965960"/>
            <a:ext cx="2606040" cy="192024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4360" y="1965960"/>
            <a:ext cx="73152" cy="192024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5528" y="2130552"/>
            <a:ext cx="2286000" cy="3323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800" b="1">
                <a:solidFill>
                  <a:srgbClr val="0F2340"/>
                </a:solidFill>
                <a:latin typeface="Malgun Gothic"/>
              </a:rPr>
              <a:t>조달청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540000"/>
            <a:ext cx="2286000" cy="75386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0F172A"/>
                </a:solidFill>
                <a:latin typeface="Malgun Gothic"/>
              </a:rPr>
              <a:t>어떤 품목이</a:t>
            </a:r>
            <a:br>
              <a:rPr sz="1600"/>
            </a:br>
            <a:r>
              <a:rPr sz="1600" b="0">
                <a:solidFill>
                  <a:srgbClr val="0F172A"/>
                </a:solidFill>
                <a:latin typeface="Malgun Gothic"/>
              </a:rPr>
              <a:t>얼마나 발주되는가</a:t>
            </a:r>
            <a:endParaRPr lang="ko-KR" altLang="en-US"/>
          </a:p>
        </p:txBody>
      </p:sp>
      <p:sp>
        <p:nvSpPr>
          <p:cNvPr id="11" name="Rounded Rectangle 10"/>
          <p:cNvSpPr/>
          <p:nvPr/>
        </p:nvSpPr>
        <p:spPr>
          <a:xfrm>
            <a:off x="3502152" y="1965960"/>
            <a:ext cx="2606040" cy="192024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502152" y="1965960"/>
            <a:ext cx="73152" cy="1920240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03320" y="2130552"/>
            <a:ext cx="2286000" cy="3323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800" b="1">
                <a:solidFill>
                  <a:srgbClr val="0F2340"/>
                </a:solidFill>
                <a:latin typeface="Malgun Gothic"/>
              </a:rPr>
              <a:t>행안부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2540000"/>
            <a:ext cx="2286000" cy="75386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0F172A"/>
                </a:solidFill>
                <a:latin typeface="Malgun Gothic"/>
              </a:rPr>
              <a:t>지역 인구 규모와</a:t>
            </a:r>
            <a:br>
              <a:rPr sz="1600"/>
            </a:br>
            <a:r>
              <a:rPr sz="1600" b="0">
                <a:solidFill>
                  <a:srgbClr val="0F172A"/>
                </a:solidFill>
                <a:latin typeface="Malgun Gothic"/>
              </a:rPr>
              <a:t>소비층 구성</a:t>
            </a:r>
            <a:endParaRPr lang="ko-KR" altLang="en-US"/>
          </a:p>
        </p:txBody>
      </p:sp>
      <p:sp>
        <p:nvSpPr>
          <p:cNvPr id="15" name="Rounded Rectangle 14"/>
          <p:cNvSpPr/>
          <p:nvPr/>
        </p:nvSpPr>
        <p:spPr>
          <a:xfrm>
            <a:off x="6409944" y="1965960"/>
            <a:ext cx="2606040" cy="192024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09944" y="1965960"/>
            <a:ext cx="73152" cy="192024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11112" y="2130552"/>
            <a:ext cx="2286000" cy="3323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800" b="1">
                <a:solidFill>
                  <a:srgbClr val="0F2340"/>
                </a:solidFill>
                <a:latin typeface="Malgun Gothic"/>
              </a:rPr>
              <a:t>소상공인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11112" y="2540000"/>
            <a:ext cx="2286000" cy="75386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0F172A"/>
                </a:solidFill>
                <a:latin typeface="Malgun Gothic"/>
              </a:rPr>
              <a:t>업종별 점포 수와</a:t>
            </a:r>
            <a:br>
              <a:rPr sz="1600"/>
            </a:br>
            <a:r>
              <a:rPr sz="1600" b="0">
                <a:solidFill>
                  <a:srgbClr val="0F172A"/>
                </a:solidFill>
                <a:latin typeface="Malgun Gothic"/>
              </a:rPr>
              <a:t>경쟁 포화도</a:t>
            </a:r>
            <a:endParaRPr lang="ko-KR" altLang="en-US"/>
          </a:p>
        </p:txBody>
      </p:sp>
      <p:sp>
        <p:nvSpPr>
          <p:cNvPr id="19" name="Rounded Rectangle 18"/>
          <p:cNvSpPr/>
          <p:nvPr/>
        </p:nvSpPr>
        <p:spPr>
          <a:xfrm>
            <a:off x="9317736" y="1965960"/>
            <a:ext cx="2606040" cy="192024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317736" y="1965960"/>
            <a:ext cx="73152" cy="1920240"/>
          </a:xfrm>
          <a:prstGeom prst="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518904" y="2130552"/>
            <a:ext cx="2286000" cy="3323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800" b="1">
                <a:solidFill>
                  <a:srgbClr val="0F2340"/>
                </a:solidFill>
                <a:latin typeface="Malgun Gothic"/>
              </a:rPr>
              <a:t>KOSIS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18904" y="2540000"/>
            <a:ext cx="2286000" cy="75386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0F172A"/>
                </a:solidFill>
                <a:latin typeface="Malgun Gothic"/>
              </a:rPr>
              <a:t>업종별 생존율과</a:t>
            </a:r>
            <a:br>
              <a:rPr sz="1600"/>
            </a:br>
            <a:r>
              <a:rPr sz="1600" b="0">
                <a:solidFill>
                  <a:srgbClr val="0F172A"/>
                </a:solidFill>
                <a:latin typeface="Malgun Gothic"/>
              </a:rPr>
              <a:t>진입 리스크</a:t>
            </a:r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F70DF8D-2EB7-6AFA-3447-6907EB85BB25}"/>
              </a:ext>
            </a:extLst>
          </p:cNvPr>
          <p:cNvSpPr txBox="1"/>
          <p:nvPr/>
        </p:nvSpPr>
        <p:spPr>
          <a:xfrm>
            <a:off x="0" y="5004990"/>
            <a:ext cx="1219200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Malgun Gothic"/>
                <a:ea typeface="Malgun Gothic"/>
                <a:cs typeface="Courier New"/>
              </a:rPr>
              <a:t>     </a:t>
            </a:r>
            <a:r>
              <a:rPr lang="en-US" sz="2000" i="0" dirty="0">
                <a:solidFill>
                  <a:schemeClr val="bg1"/>
                </a:solidFill>
                <a:latin typeface="Malgun Gothic"/>
                <a:ea typeface="Malgun Gothic"/>
                <a:cs typeface="Courier New"/>
              </a:rPr>
              <a:t>4개 </a:t>
            </a:r>
            <a:r>
              <a:rPr lang="en-US" sz="2000" i="0" dirty="0" err="1">
                <a:solidFill>
                  <a:schemeClr val="bg1"/>
                </a:solidFill>
                <a:latin typeface="Malgun Gothic"/>
                <a:ea typeface="Malgun Gothic"/>
                <a:cs typeface="Courier New"/>
              </a:rPr>
              <a:t>기관</a:t>
            </a:r>
            <a:r>
              <a:rPr lang="en-US" sz="2000" i="0" dirty="0">
                <a:solidFill>
                  <a:schemeClr val="bg1"/>
                </a:solidFill>
                <a:latin typeface="Malgun Gothic"/>
                <a:ea typeface="Malgun Gothic"/>
                <a:cs typeface="Courier New"/>
              </a:rPr>
              <a:t> </a:t>
            </a:r>
            <a:r>
              <a:rPr lang="en-US" sz="2000" i="0" dirty="0" err="1">
                <a:solidFill>
                  <a:schemeClr val="bg1"/>
                </a:solidFill>
                <a:latin typeface="Malgun Gothic"/>
                <a:ea typeface="Malgun Gothic"/>
                <a:cs typeface="Courier New"/>
              </a:rPr>
              <a:t>데이터를</a:t>
            </a:r>
            <a:r>
              <a:rPr lang="en-US" sz="2000" i="0" dirty="0">
                <a:solidFill>
                  <a:schemeClr val="bg1"/>
                </a:solidFill>
                <a:latin typeface="Malgun Gothic"/>
                <a:ea typeface="Malgun Gothic"/>
                <a:cs typeface="Courier New"/>
              </a:rPr>
              <a:t> </a:t>
            </a:r>
            <a:r>
              <a:rPr lang="en-US" sz="2000" i="0" dirty="0" err="1">
                <a:solidFill>
                  <a:schemeClr val="bg1"/>
                </a:solidFill>
                <a:latin typeface="Malgun Gothic"/>
                <a:ea typeface="Malgun Gothic"/>
                <a:cs typeface="Courier New"/>
              </a:rPr>
              <a:t>결합해야</a:t>
            </a:r>
            <a:r>
              <a:rPr lang="en-US" sz="2000" i="0" dirty="0">
                <a:solidFill>
                  <a:schemeClr val="bg1"/>
                </a:solidFill>
                <a:latin typeface="Malgun Gothic"/>
                <a:ea typeface="Malgun Gothic"/>
                <a:cs typeface="Courier New"/>
              </a:rPr>
              <a:t> </a:t>
            </a:r>
            <a:r>
              <a:rPr lang="en-US" sz="2000" b="1" i="0" dirty="0" err="1">
                <a:solidFill>
                  <a:schemeClr val="bg1"/>
                </a:solidFill>
                <a:latin typeface="Malgun Gothic"/>
                <a:ea typeface="Malgun Gothic"/>
                <a:cs typeface="Courier New"/>
              </a:rPr>
              <a:t>기회</a:t>
            </a:r>
            <a:r>
              <a:rPr lang="en-US" sz="2000" i="0" dirty="0" err="1">
                <a:solidFill>
                  <a:schemeClr val="bg1"/>
                </a:solidFill>
                <a:latin typeface="Malgun Gothic"/>
                <a:ea typeface="Malgun Gothic"/>
                <a:cs typeface="Courier New"/>
              </a:rPr>
              <a:t>와</a:t>
            </a:r>
            <a:r>
              <a:rPr lang="en-US" sz="2000" i="0" dirty="0">
                <a:solidFill>
                  <a:schemeClr val="bg1"/>
                </a:solidFill>
                <a:latin typeface="Malgun Gothic"/>
                <a:ea typeface="Malgun Gothic"/>
                <a:cs typeface="Courier New"/>
              </a:rPr>
              <a:t> </a:t>
            </a:r>
            <a:r>
              <a:rPr lang="en-US" sz="2000" b="1" i="0" dirty="0" err="1">
                <a:solidFill>
                  <a:schemeClr val="bg1"/>
                </a:solidFill>
                <a:latin typeface="Malgun Gothic"/>
                <a:ea typeface="Malgun Gothic"/>
                <a:cs typeface="Courier New"/>
              </a:rPr>
              <a:t>위험</a:t>
            </a:r>
            <a:r>
              <a:rPr lang="en-US" sz="2000" i="0" dirty="0" err="1">
                <a:solidFill>
                  <a:schemeClr val="bg1"/>
                </a:solidFill>
                <a:latin typeface="Malgun Gothic"/>
                <a:ea typeface="Malgun Gothic"/>
                <a:cs typeface="Courier New"/>
              </a:rPr>
              <a:t>을</a:t>
            </a:r>
            <a:r>
              <a:rPr lang="en-US" sz="2000" i="0" dirty="0">
                <a:solidFill>
                  <a:schemeClr val="bg1"/>
                </a:solidFill>
                <a:latin typeface="Malgun Gothic"/>
                <a:ea typeface="Malgun Gothic"/>
                <a:cs typeface="Courier New"/>
              </a:rPr>
              <a:t> </a:t>
            </a:r>
            <a:r>
              <a:rPr lang="en-US" sz="2000" i="0" dirty="0" err="1">
                <a:solidFill>
                  <a:schemeClr val="bg1"/>
                </a:solidFill>
                <a:latin typeface="Malgun Gothic"/>
                <a:ea typeface="Malgun Gothic"/>
                <a:cs typeface="Courier New"/>
              </a:rPr>
              <a:t>구분할</a:t>
            </a:r>
            <a:r>
              <a:rPr lang="en-US" sz="2000" i="0" dirty="0">
                <a:solidFill>
                  <a:schemeClr val="bg1"/>
                </a:solidFill>
                <a:latin typeface="Malgun Gothic"/>
                <a:ea typeface="Malgun Gothic"/>
                <a:cs typeface="Courier New"/>
              </a:rPr>
              <a:t> 수 </a:t>
            </a:r>
            <a:r>
              <a:rPr lang="en-US" sz="2000" i="0" dirty="0" err="1">
                <a:solidFill>
                  <a:schemeClr val="bg1"/>
                </a:solidFill>
                <a:latin typeface="Malgun Gothic"/>
                <a:ea typeface="Malgun Gothic"/>
                <a:cs typeface="Courier New"/>
              </a:rPr>
              <a:t>있습니다</a:t>
            </a:r>
            <a:r>
              <a:rPr lang="en-US" sz="2000" i="0" dirty="0">
                <a:solidFill>
                  <a:schemeClr val="bg1"/>
                </a:solidFill>
                <a:latin typeface="Malgun Gothic"/>
                <a:ea typeface="Malgun Gothic"/>
                <a:cs typeface="Courier New"/>
              </a:rPr>
              <a:t>.</a:t>
            </a:r>
            <a:endParaRPr lang="en-US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pic>
        <p:nvPicPr>
          <p:cNvPr id="29" name="그래픽 28" descr="갈매기형 화살표 단색으로 채워진">
            <a:extLst>
              <a:ext uri="{FF2B5EF4-FFF2-40B4-BE49-F238E27FC236}">
                <a16:creationId xmlns:a16="http://schemas.microsoft.com/office/drawing/2014/main" id="{5B82A0A7-7BE2-63DE-A685-EAE216333E6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940560" y="4861560"/>
            <a:ext cx="680720" cy="660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969264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400" b="1">
                <a:solidFill>
                  <a:srgbClr val="0F2340"/>
                </a:solidFill>
                <a:latin typeface="Malgun Gothic"/>
              </a:rPr>
              <a:t>핵심 분석 흐름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20040"/>
            <a:ext cx="548640" cy="2560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Malgun Gothic"/>
              </a:rP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9264"/>
            <a:ext cx="11201400" cy="22860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115568"/>
            <a:ext cx="10607040" cy="4401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500" b="1" dirty="0" err="1">
                <a:solidFill>
                  <a:srgbClr val="0F2340"/>
                </a:solidFill>
                <a:latin typeface="Malgun Gothic"/>
              </a:rPr>
              <a:t>사용자는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sz="2500" b="1" dirty="0" err="1">
                <a:solidFill>
                  <a:srgbClr val="0F2340"/>
                </a:solidFill>
                <a:latin typeface="Malgun Gothic"/>
              </a:rPr>
              <a:t>지역을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sz="2500" b="1" dirty="0" err="1">
                <a:solidFill>
                  <a:srgbClr val="0F2340"/>
                </a:solidFill>
                <a:latin typeface="Malgun Gothic"/>
              </a:rPr>
              <a:t>고르고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, </a:t>
            </a:r>
            <a:r>
              <a:rPr sz="2500" b="1" dirty="0" err="1">
                <a:solidFill>
                  <a:srgbClr val="0F2340"/>
                </a:solidFill>
                <a:latin typeface="Malgun Gothic"/>
              </a:rPr>
              <a:t>서비스는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 5가지 </a:t>
            </a:r>
            <a:r>
              <a:rPr sz="2500" b="1" dirty="0" err="1">
                <a:solidFill>
                  <a:srgbClr val="0F2340"/>
                </a:solidFill>
                <a:latin typeface="Malgun Gothic"/>
              </a:rPr>
              <a:t>질문에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sz="2500" b="1" dirty="0" err="1">
                <a:solidFill>
                  <a:srgbClr val="0F2340"/>
                </a:solidFill>
                <a:latin typeface="Malgun Gothic"/>
              </a:rPr>
              <a:t>답합니다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74519"/>
            <a:ext cx="3246120" cy="184404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874519"/>
            <a:ext cx="73152" cy="184404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8408" y="2039112"/>
            <a:ext cx="2926079" cy="3323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b="1">
                <a:solidFill>
                  <a:srgbClr val="0F2340"/>
                </a:solidFill>
                <a:latin typeface="Malgun Gothic"/>
              </a:rPr>
              <a:t>공공수요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499359"/>
            <a:ext cx="2926079" cy="75386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50000"/>
              </a:lnSpc>
            </a:pPr>
            <a:r>
              <a:rPr sz="1600" b="0" dirty="0">
                <a:solidFill>
                  <a:srgbClr val="0F172A"/>
                </a:solidFill>
                <a:latin typeface="Malgun Gothic"/>
              </a:rPr>
              <a:t>이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지역에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endParaRPr lang="ko-KR" altLang="en-US" dirty="0">
              <a:cs typeface="Calibri"/>
            </a:endParaRPr>
          </a:p>
          <a:p>
            <a:pPr algn="l">
              <a:lnSpc>
                <a:spcPct val="150000"/>
              </a:lnSpc>
            </a:pPr>
            <a:r>
              <a:rPr sz="1600" b="1" dirty="0" err="1">
                <a:solidFill>
                  <a:srgbClr val="0F172A"/>
                </a:solidFill>
                <a:latin typeface="Malgun Gothic"/>
              </a:rPr>
              <a:t>실제</a:t>
            </a:r>
            <a:r>
              <a:rPr sz="1600" b="1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1" dirty="0" err="1">
                <a:solidFill>
                  <a:srgbClr val="0F172A"/>
                </a:solidFill>
                <a:latin typeface="Malgun Gothic"/>
              </a:rPr>
              <a:t>발주</a:t>
            </a:r>
            <a:r>
              <a:rPr sz="1600" b="1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1" dirty="0" err="1">
                <a:solidFill>
                  <a:srgbClr val="0F172A"/>
                </a:solidFill>
                <a:latin typeface="Malgun Gothic"/>
              </a:rPr>
              <a:t>수요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가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있는가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?</a:t>
            </a:r>
            <a:endParaRPr dirty="0">
              <a:ea typeface="Calibri"/>
              <a:cs typeface="Calibri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526279" y="1874519"/>
            <a:ext cx="3246120" cy="184404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26279" y="1874519"/>
            <a:ext cx="73152" cy="1844040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27447" y="2039112"/>
            <a:ext cx="2926079" cy="3323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b="1">
                <a:solidFill>
                  <a:srgbClr val="0F2340"/>
                </a:solidFill>
                <a:latin typeface="Malgun Gothic"/>
              </a:rPr>
              <a:t>소비층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7" y="2499359"/>
            <a:ext cx="2926079" cy="75386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50000"/>
              </a:lnSpc>
            </a:pPr>
            <a:r>
              <a:rPr sz="1600" b="0" dirty="0" err="1">
                <a:solidFill>
                  <a:srgbClr val="0F172A"/>
                </a:solidFill>
                <a:latin typeface="Malgun Gothic"/>
              </a:rPr>
              <a:t>품목과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지역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인구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endParaRPr lang="ko-KR" altLang="en-US" dirty="0">
              <a:cs typeface="Calibri"/>
            </a:endParaRPr>
          </a:p>
          <a:p>
            <a:pPr algn="l">
              <a:lnSpc>
                <a:spcPct val="150000"/>
              </a:lnSpc>
            </a:pPr>
            <a:r>
              <a:rPr sz="1600" b="1" dirty="0" err="1">
                <a:solidFill>
                  <a:srgbClr val="0F172A"/>
                </a:solidFill>
                <a:latin typeface="Malgun Gothic"/>
              </a:rPr>
              <a:t>구조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가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맞는가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?</a:t>
            </a:r>
            <a:endParaRPr dirty="0">
              <a:ea typeface="Calibri"/>
              <a:cs typeface="Calibri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275319" y="1874519"/>
            <a:ext cx="3246120" cy="184404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75319" y="1874519"/>
            <a:ext cx="73152" cy="184404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76488" y="2039112"/>
            <a:ext cx="2926079" cy="3323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b="1">
                <a:solidFill>
                  <a:srgbClr val="0F2340"/>
                </a:solidFill>
                <a:latin typeface="Malgun Gothic"/>
              </a:rPr>
              <a:t>경쟁 구조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6488" y="2499359"/>
            <a:ext cx="2926079" cy="75386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50000"/>
              </a:lnSpc>
            </a:pPr>
            <a:r>
              <a:rPr sz="1600" b="0" dirty="0" err="1">
                <a:solidFill>
                  <a:srgbClr val="0F172A"/>
                </a:solidFill>
                <a:latin typeface="Malgun Gothic"/>
              </a:rPr>
              <a:t>이미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경쟁이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endParaRPr lang="ko-KR">
              <a:cs typeface="Calibri"/>
            </a:endParaRPr>
          </a:p>
          <a:p>
            <a:pPr algn="l">
              <a:lnSpc>
                <a:spcPct val="150000"/>
              </a:lnSpc>
            </a:pPr>
            <a:r>
              <a:rPr sz="1600" b="1" dirty="0" err="1">
                <a:solidFill>
                  <a:srgbClr val="0F172A"/>
                </a:solidFill>
                <a:latin typeface="Malgun Gothic"/>
              </a:rPr>
              <a:t>과열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되어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있지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않은가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?</a:t>
            </a:r>
            <a:endParaRPr>
              <a:ea typeface="Calibri"/>
              <a:cs typeface="Calibri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2616200" y="4216400"/>
            <a:ext cx="3246120" cy="184404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616200" y="4216400"/>
            <a:ext cx="73152" cy="1844040"/>
          </a:xfrm>
          <a:prstGeom prst="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817368" y="4380992"/>
            <a:ext cx="2926079" cy="3323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b="1">
                <a:solidFill>
                  <a:srgbClr val="0F2340"/>
                </a:solidFill>
                <a:latin typeface="Malgun Gothic"/>
              </a:rPr>
              <a:t>지역 비교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17368" y="4841239"/>
            <a:ext cx="2926079" cy="75386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50000"/>
              </a:lnSpc>
            </a:pPr>
            <a:r>
              <a:rPr sz="1600" b="0" dirty="0" err="1">
                <a:solidFill>
                  <a:srgbClr val="0F172A"/>
                </a:solidFill>
                <a:latin typeface="Malgun Gothic"/>
              </a:rPr>
              <a:t>인근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지역과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수요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1" dirty="0" err="1">
                <a:solidFill>
                  <a:srgbClr val="0F172A"/>
                </a:solidFill>
                <a:latin typeface="Malgun Gothic"/>
              </a:rPr>
              <a:t>구조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가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endParaRPr lang="ko-KR" altLang="en-US" dirty="0">
              <a:cs typeface="Calibri"/>
            </a:endParaRPr>
          </a:p>
          <a:p>
            <a:pPr algn="l">
              <a:lnSpc>
                <a:spcPct val="150000"/>
              </a:lnSpc>
            </a:pPr>
            <a:r>
              <a:rPr sz="1600" b="0" dirty="0" err="1">
                <a:solidFill>
                  <a:srgbClr val="0F172A"/>
                </a:solidFill>
                <a:latin typeface="Malgun Gothic"/>
              </a:rPr>
              <a:t>어떻게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다른가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?</a:t>
            </a:r>
            <a:endParaRPr dirty="0">
              <a:ea typeface="Calibri"/>
              <a:cs typeface="Calibri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365239" y="4216400"/>
            <a:ext cx="3246120" cy="184404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365239" y="4216400"/>
            <a:ext cx="73152" cy="1844040"/>
          </a:xfrm>
          <a:prstGeom prst="rect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66407" y="4380992"/>
            <a:ext cx="2926079" cy="3323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lang="ko-KR" altLang="af-ZA" b="1">
                <a:solidFill>
                  <a:srgbClr val="0F2340"/>
                </a:solidFill>
                <a:latin typeface="Malgun Gothic"/>
                <a:ea typeface="맑은 고딕"/>
              </a:rPr>
              <a:t>물류 거점</a:t>
            </a:r>
            <a:endParaRPr lang="ko-KR" altLang="af-ZA" b="1">
              <a:solidFill>
                <a:srgbClr val="0F2340"/>
              </a:solidFill>
              <a:latin typeface="맑은 고딕"/>
              <a:ea typeface="맑은 고딕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566407" y="4841239"/>
            <a:ext cx="2926079" cy="746423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>
                <a:solidFill>
                  <a:srgbClr val="0F172A"/>
                </a:solidFill>
                <a:latin typeface="Malgun Gothic"/>
                <a:ea typeface="Malgun Gothic"/>
              </a:rPr>
              <a:t>이 지역이 </a:t>
            </a:r>
            <a:endParaRPr lang="ko-KR" sz="1600" dirty="0">
              <a:solidFill>
                <a:srgbClr val="0F172A"/>
              </a:solidFill>
              <a:latin typeface="Malgun Gothic"/>
              <a:ea typeface="Malgun Gothic"/>
            </a:endParaRPr>
          </a:p>
          <a:p>
            <a:pPr>
              <a:lnSpc>
                <a:spcPct val="150000"/>
              </a:lnSpc>
            </a:pPr>
            <a:r>
              <a:rPr lang="ko-KR" altLang="en-US" sz="1600" b="1">
                <a:solidFill>
                  <a:srgbClr val="0F172A"/>
                </a:solidFill>
                <a:latin typeface="Malgun Gothic"/>
                <a:ea typeface="Malgun Gothic"/>
              </a:rPr>
              <a:t>거점 후보</a:t>
            </a:r>
            <a:r>
              <a:rPr lang="ko-KR" altLang="en-US" sz="1600">
                <a:solidFill>
                  <a:srgbClr val="0F172A"/>
                </a:solidFill>
                <a:latin typeface="Malgun Gothic"/>
                <a:ea typeface="Malgun Gothic"/>
              </a:rPr>
              <a:t>가 될 수 있는가?</a:t>
            </a:r>
            <a:endParaRPr lang="ko-KR" sz="1600" b="0">
              <a:solidFill>
                <a:srgbClr val="0F172A"/>
              </a:solidFill>
              <a:latin typeface="Malgun Gothic"/>
              <a:ea typeface="Malgun Gothi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0">
            <a:extLst>
              <a:ext uri="{FF2B5EF4-FFF2-40B4-BE49-F238E27FC236}">
                <a16:creationId xmlns:a16="http://schemas.microsoft.com/office/drawing/2014/main" id="{24956D8E-61FF-BBD7-BCB9-FA1C76DC53F4}"/>
              </a:ext>
            </a:extLst>
          </p:cNvPr>
          <p:cNvSpPr/>
          <p:nvPr/>
        </p:nvSpPr>
        <p:spPr>
          <a:xfrm>
            <a:off x="3491992" y="5979160"/>
            <a:ext cx="5196840" cy="75184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502920" y="256032"/>
            <a:ext cx="969264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400" b="1">
                <a:solidFill>
                  <a:srgbClr val="0F2340"/>
                </a:solidFill>
                <a:latin typeface="Malgun Gothic"/>
              </a:rPr>
              <a:t>데모 1 — 전국 지도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20040"/>
            <a:ext cx="548640" cy="2560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Malgun Gothic"/>
              </a:rPr>
              <a:t>07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9264"/>
            <a:ext cx="11201400" cy="22860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5E5C7D3-CFD6-D2B2-06B4-D42BBC4AB695}"/>
              </a:ext>
            </a:extLst>
          </p:cNvPr>
          <p:cNvSpPr txBox="1"/>
          <p:nvPr/>
        </p:nvSpPr>
        <p:spPr>
          <a:xfrm>
            <a:off x="0" y="5957729"/>
            <a:ext cx="12192000" cy="79079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600">
                <a:solidFill>
                  <a:schemeClr val="tx2"/>
                </a:solidFill>
                <a:latin typeface="Calibri"/>
                <a:ea typeface="Malgun Gothic"/>
                <a:cs typeface="Calibri"/>
              </a:rPr>
              <a:t>전국 </a:t>
            </a:r>
            <a:r>
              <a:rPr lang="en-US" altLang="ko-KR" sz="1600">
                <a:solidFill>
                  <a:schemeClr val="tx2"/>
                </a:solidFill>
                <a:latin typeface="Calibri"/>
                <a:ea typeface="Calibri"/>
                <a:cs typeface="Calibri"/>
              </a:rPr>
              <a:t>17</a:t>
            </a:r>
            <a:r>
              <a:rPr lang="ko-KR" altLang="en-US" sz="1600" i="0">
                <a:solidFill>
                  <a:schemeClr val="tx2"/>
                </a:solidFill>
                <a:latin typeface="Calibri"/>
                <a:ea typeface="Malgun Gothic"/>
                <a:cs typeface="Calibri"/>
              </a:rPr>
              <a:t>개 </a:t>
            </a:r>
            <a:r>
              <a:rPr lang="ko-KR" altLang="en-US" sz="1600">
                <a:solidFill>
                  <a:schemeClr val="tx2"/>
                </a:solidFill>
                <a:latin typeface="Calibri"/>
                <a:ea typeface="Malgun Gothic"/>
                <a:cs typeface="Calibri"/>
              </a:rPr>
              <a:t>시도 </a:t>
            </a:r>
            <a:r>
              <a:rPr lang="ko-KR" altLang="en-US" sz="1600" b="1">
                <a:solidFill>
                  <a:schemeClr val="tx2"/>
                </a:solidFill>
                <a:latin typeface="Calibri"/>
                <a:ea typeface="Malgun Gothic"/>
                <a:cs typeface="Calibri"/>
              </a:rPr>
              <a:t>보정점수</a:t>
            </a:r>
            <a:r>
              <a:rPr lang="ko-KR" altLang="en-US" sz="1600">
                <a:solidFill>
                  <a:schemeClr val="tx2"/>
                </a:solidFill>
                <a:latin typeface="Calibri"/>
                <a:ea typeface="Malgun Gothic"/>
                <a:cs typeface="Calibri"/>
              </a:rPr>
              <a:t> 분포 </a:t>
            </a:r>
            <a:endParaRPr lang="ko-KR" altLang="en-US" sz="1600">
              <a:solidFill>
                <a:schemeClr val="tx2"/>
              </a:solidFill>
              <a:latin typeface="Calibri"/>
              <a:ea typeface="Calibri"/>
              <a:cs typeface="Calibri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600">
                <a:solidFill>
                  <a:schemeClr val="tx2"/>
                </a:solidFill>
                <a:latin typeface="Calibri"/>
                <a:ea typeface="Malgun Gothic"/>
                <a:cs typeface="Calibri"/>
              </a:rPr>
              <a:t> 부산에서 입지를 찾는 상황으로 따라가겠습니다</a:t>
            </a:r>
            <a:r>
              <a:rPr lang="en-US" altLang="ko-KR" sz="1600" i="0">
                <a:solidFill>
                  <a:schemeClr val="tx2"/>
                </a:solidFill>
                <a:latin typeface="Calibri"/>
                <a:ea typeface="Calibri"/>
                <a:cs typeface="Calibri"/>
              </a:rPr>
              <a:t>.</a:t>
            </a:r>
            <a:endParaRPr lang="ko-KR" altLang="en-US" sz="1600">
              <a:solidFill>
                <a:schemeClr val="tx2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6" name="그림 15" descr="텍스트, 지도, 스크린샷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B1EFD47-0B42-C708-F3CB-A31ADA30111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5" t="-300" r="45" b="2083"/>
          <a:stretch>
            <a:fillRect/>
          </a:stretch>
        </p:blipFill>
        <p:spPr>
          <a:xfrm>
            <a:off x="502920" y="974344"/>
            <a:ext cx="11257288" cy="4914958"/>
          </a:xfrm>
          <a:prstGeom prst="rect">
            <a:avLst/>
          </a:prstGeom>
        </p:spPr>
      </p:pic>
      <p:pic>
        <p:nvPicPr>
          <p:cNvPr id="17" name="그림 16" descr="텍스트, 스크린샷, 폰트, 문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556E988-5850-743B-3AD5-4E3B2C1FBF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325" y="3515360"/>
            <a:ext cx="1840230" cy="2936240"/>
          </a:xfrm>
          <a:prstGeom prst="rect">
            <a:avLst/>
          </a:prstGeom>
        </p:spPr>
      </p:pic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0EECE2F3-D98E-16D8-60D4-01A8D8C4BDA1}"/>
              </a:ext>
            </a:extLst>
          </p:cNvPr>
          <p:cNvSpPr/>
          <p:nvPr/>
        </p:nvSpPr>
        <p:spPr>
          <a:xfrm>
            <a:off x="822960" y="4180840"/>
            <a:ext cx="1838960" cy="426720"/>
          </a:xfrm>
          <a:prstGeom prst="round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969264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400" b="1">
                <a:solidFill>
                  <a:srgbClr val="0F2340"/>
                </a:solidFill>
                <a:latin typeface="Malgun Gothic"/>
              </a:rPr>
              <a:t>데모 2 — 부산 진입 흐름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20040"/>
            <a:ext cx="548640" cy="2560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Malgun Gothic"/>
              </a:rPr>
              <a:t>08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9264"/>
            <a:ext cx="11201400" cy="22860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078992"/>
            <a:ext cx="5394960" cy="21945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100" b="1">
                <a:solidFill>
                  <a:srgbClr val="1D4ED8"/>
                </a:solidFill>
                <a:latin typeface="Malgun Gothic"/>
              </a:rPr>
              <a:t>① 부산 선택 후 자치구 분포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078992"/>
            <a:ext cx="5394960" cy="21945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100" b="1">
                <a:solidFill>
                  <a:srgbClr val="1D4ED8"/>
                </a:solidFill>
                <a:latin typeface="Malgun Gothic"/>
              </a:rPr>
              <a:t>② 해운대구 선택 후 상세 지표</a:t>
            </a:r>
          </a:p>
        </p:txBody>
      </p:sp>
      <p:sp>
        <p:nvSpPr>
          <p:cNvPr id="14" name="Rounded Rectangle 10">
            <a:extLst>
              <a:ext uri="{FF2B5EF4-FFF2-40B4-BE49-F238E27FC236}">
                <a16:creationId xmlns:a16="http://schemas.microsoft.com/office/drawing/2014/main" id="{EBF852E1-DB45-FF72-4034-50BE902901D1}"/>
              </a:ext>
            </a:extLst>
          </p:cNvPr>
          <p:cNvSpPr/>
          <p:nvPr/>
        </p:nvSpPr>
        <p:spPr>
          <a:xfrm>
            <a:off x="3491992" y="5979160"/>
            <a:ext cx="5196840" cy="75184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lnSpc>
                <a:spcPct val="150000"/>
              </a:lnSpc>
            </a:pPr>
            <a:endParaRPr lang="ko-KR" altLang="en-US">
              <a:cs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0080" y="5985231"/>
            <a:ext cx="10972800" cy="746423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600" dirty="0" err="1">
                <a:solidFill>
                  <a:schemeClr val="tx2"/>
                </a:solidFill>
                <a:latin typeface="Malgun Gothic"/>
              </a:rPr>
              <a:t>부산을</a:t>
            </a:r>
            <a:r>
              <a:rPr sz="1600" dirty="0">
                <a:solidFill>
                  <a:schemeClr val="tx2"/>
                </a:solidFill>
                <a:latin typeface="Malgun Gothic"/>
              </a:rPr>
              <a:t> </a:t>
            </a:r>
            <a:r>
              <a:rPr sz="1600" dirty="0" err="1">
                <a:solidFill>
                  <a:schemeClr val="tx2"/>
                </a:solidFill>
                <a:latin typeface="Malgun Gothic"/>
              </a:rPr>
              <a:t>선택하면</a:t>
            </a:r>
            <a:r>
              <a:rPr sz="1600" dirty="0">
                <a:solidFill>
                  <a:schemeClr val="tx2"/>
                </a:solidFill>
                <a:latin typeface="Malgun Gothic"/>
              </a:rPr>
              <a:t> </a:t>
            </a:r>
            <a:r>
              <a:rPr sz="1600" b="1" dirty="0" err="1">
                <a:solidFill>
                  <a:schemeClr val="tx2"/>
                </a:solidFill>
                <a:latin typeface="Malgun Gothic"/>
              </a:rPr>
              <a:t>자치구별</a:t>
            </a:r>
            <a:r>
              <a:rPr sz="1600" b="1" dirty="0">
                <a:solidFill>
                  <a:schemeClr val="tx2"/>
                </a:solidFill>
                <a:latin typeface="Malgun Gothic"/>
              </a:rPr>
              <a:t> </a:t>
            </a:r>
            <a:r>
              <a:rPr sz="1600" b="1" dirty="0" err="1">
                <a:solidFill>
                  <a:schemeClr val="tx2"/>
                </a:solidFill>
                <a:latin typeface="Malgun Gothic"/>
              </a:rPr>
              <a:t>수요</a:t>
            </a:r>
            <a:r>
              <a:rPr sz="1600" dirty="0" err="1">
                <a:solidFill>
                  <a:schemeClr val="tx2"/>
                </a:solidFill>
                <a:latin typeface="Malgun Gothic"/>
              </a:rPr>
              <a:t>가</a:t>
            </a:r>
            <a:r>
              <a:rPr sz="1600" dirty="0">
                <a:solidFill>
                  <a:schemeClr val="tx2"/>
                </a:solidFill>
                <a:latin typeface="Malgun Gothic"/>
              </a:rPr>
              <a:t> </a:t>
            </a:r>
            <a:r>
              <a:rPr sz="1600" dirty="0" err="1">
                <a:solidFill>
                  <a:schemeClr val="tx2"/>
                </a:solidFill>
                <a:latin typeface="Malgun Gothic"/>
              </a:rPr>
              <a:t>나뉘고</a:t>
            </a:r>
            <a:r>
              <a:rPr sz="1600" dirty="0">
                <a:solidFill>
                  <a:schemeClr val="tx2"/>
                </a:solidFill>
                <a:latin typeface="Malgun Gothic"/>
              </a:rPr>
              <a:t>, </a:t>
            </a:r>
            <a:endParaRPr lang="ko-KR" altLang="en-US" sz="1600">
              <a:solidFill>
                <a:schemeClr val="tx2"/>
              </a:solidFill>
              <a:latin typeface="Malgun Gothic"/>
              <a:ea typeface="맑은 고딕"/>
            </a:endParaRPr>
          </a:p>
          <a:p>
            <a:pPr algn="ctr">
              <a:lnSpc>
                <a:spcPct val="150000"/>
              </a:lnSpc>
            </a:pPr>
            <a:r>
              <a:rPr sz="1600" b="1">
                <a:solidFill>
                  <a:schemeClr val="tx2"/>
                </a:solidFill>
                <a:latin typeface="Malgun Gothic"/>
              </a:rPr>
              <a:t>특정</a:t>
            </a:r>
            <a:r>
              <a:rPr sz="1600" b="1" dirty="0">
                <a:solidFill>
                  <a:schemeClr val="tx2"/>
                </a:solidFill>
                <a:latin typeface="Malgun Gothic"/>
              </a:rPr>
              <a:t> </a:t>
            </a:r>
            <a:r>
              <a:rPr sz="1600" b="1" err="1">
                <a:solidFill>
                  <a:schemeClr val="tx2"/>
                </a:solidFill>
                <a:latin typeface="Malgun Gothic"/>
              </a:rPr>
              <a:t>구</a:t>
            </a:r>
            <a:r>
              <a:rPr sz="1600" err="1">
                <a:solidFill>
                  <a:schemeClr val="tx2"/>
                </a:solidFill>
                <a:latin typeface="Malgun Gothic"/>
              </a:rPr>
              <a:t>를</a:t>
            </a:r>
            <a:r>
              <a:rPr sz="1600" dirty="0">
                <a:solidFill>
                  <a:schemeClr val="tx2"/>
                </a:solidFill>
                <a:latin typeface="Malgun Gothic"/>
              </a:rPr>
              <a:t> </a:t>
            </a:r>
            <a:r>
              <a:rPr sz="1600" err="1">
                <a:solidFill>
                  <a:schemeClr val="tx2"/>
                </a:solidFill>
                <a:latin typeface="Malgun Gothic"/>
              </a:rPr>
              <a:t>선택하면</a:t>
            </a:r>
            <a:r>
              <a:rPr sz="1600" dirty="0">
                <a:solidFill>
                  <a:schemeClr val="tx2"/>
                </a:solidFill>
                <a:latin typeface="Malgun Gothic"/>
              </a:rPr>
              <a:t> </a:t>
            </a:r>
            <a:r>
              <a:rPr sz="1600" b="1" err="1">
                <a:solidFill>
                  <a:schemeClr val="tx2"/>
                </a:solidFill>
                <a:latin typeface="Malgun Gothic"/>
              </a:rPr>
              <a:t>상세</a:t>
            </a:r>
            <a:r>
              <a:rPr sz="1600" b="1" dirty="0">
                <a:solidFill>
                  <a:schemeClr val="tx2"/>
                </a:solidFill>
                <a:latin typeface="Malgun Gothic"/>
              </a:rPr>
              <a:t> </a:t>
            </a:r>
            <a:r>
              <a:rPr sz="1600" b="1" err="1">
                <a:solidFill>
                  <a:schemeClr val="tx2"/>
                </a:solidFill>
                <a:latin typeface="Malgun Gothic"/>
              </a:rPr>
              <a:t>지표</a:t>
            </a:r>
            <a:r>
              <a:rPr sz="1600" err="1">
                <a:solidFill>
                  <a:schemeClr val="tx2"/>
                </a:solidFill>
                <a:latin typeface="Malgun Gothic"/>
              </a:rPr>
              <a:t>로</a:t>
            </a:r>
            <a:r>
              <a:rPr sz="1600" dirty="0">
                <a:solidFill>
                  <a:schemeClr val="tx2"/>
                </a:solidFill>
                <a:latin typeface="Malgun Gothic"/>
              </a:rPr>
              <a:t> </a:t>
            </a:r>
            <a:r>
              <a:rPr sz="1600" err="1">
                <a:solidFill>
                  <a:schemeClr val="tx2"/>
                </a:solidFill>
                <a:latin typeface="Malgun Gothic"/>
              </a:rPr>
              <a:t>이어집니다</a:t>
            </a:r>
            <a:r>
              <a:rPr sz="1600" dirty="0">
                <a:solidFill>
                  <a:schemeClr val="tx2"/>
                </a:solidFill>
                <a:latin typeface="Malgun Gothic"/>
              </a:rPr>
              <a:t>.</a:t>
            </a:r>
            <a:endParaRPr lang="ko-KR" altLang="en-US" sz="1600">
              <a:solidFill>
                <a:schemeClr val="tx2"/>
              </a:solidFill>
              <a:latin typeface="Malgun Gothic"/>
              <a:ea typeface="Malgun Gothic"/>
            </a:endParaRPr>
          </a:p>
        </p:txBody>
      </p:sp>
      <p:pic>
        <p:nvPicPr>
          <p:cNvPr id="15" name="그림 14" descr="텍스트, 스크린샷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9F1D65B-907F-7E54-4DC6-D609D3EC1F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76" r="1449" b="21407"/>
          <a:stretch>
            <a:fillRect/>
          </a:stretch>
        </p:blipFill>
        <p:spPr>
          <a:xfrm>
            <a:off x="487680" y="1298825"/>
            <a:ext cx="5733876" cy="3142483"/>
          </a:xfrm>
          <a:prstGeom prst="rect">
            <a:avLst/>
          </a:prstGeom>
        </p:spPr>
      </p:pic>
      <p:pic>
        <p:nvPicPr>
          <p:cNvPr id="16" name="그림 15" descr="텍스트, 스크린샷, 도표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9C112CD-59BD-AEF3-14B8-DB1698E910D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6" t="86" r="46" b="21613"/>
          <a:stretch>
            <a:fillRect/>
          </a:stretch>
        </p:blipFill>
        <p:spPr>
          <a:xfrm>
            <a:off x="6614160" y="1302512"/>
            <a:ext cx="4993652" cy="3032433"/>
          </a:xfrm>
          <a:prstGeom prst="rect">
            <a:avLst/>
          </a:prstGeom>
        </p:spPr>
      </p:pic>
      <p:pic>
        <p:nvPicPr>
          <p:cNvPr id="18" name="그림 17" descr="텍스트, 스크린샷, 폰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E75145B-9680-EE86-A9B5-7566DBD4663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4493" r="-247" b="-1042"/>
          <a:stretch>
            <a:fillRect/>
          </a:stretch>
        </p:blipFill>
        <p:spPr>
          <a:xfrm>
            <a:off x="499110" y="4440555"/>
            <a:ext cx="5599454" cy="1211021"/>
          </a:xfrm>
          <a:prstGeom prst="rect">
            <a:avLst/>
          </a:prstGeom>
        </p:spPr>
      </p:pic>
      <p:pic>
        <p:nvPicPr>
          <p:cNvPr id="19" name="그림 18" descr="텍스트, 스크린샷, 폰트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125D62D-5E25-457E-072D-C5B95B91B3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3502" y="4344035"/>
            <a:ext cx="5258435" cy="1217930"/>
          </a:xfrm>
          <a:prstGeom prst="rect">
            <a:avLst/>
          </a:prstGeom>
        </p:spPr>
      </p:pic>
      <p:sp>
        <p:nvSpPr>
          <p:cNvPr id="20" name="화살표: 오른쪽 19">
            <a:extLst>
              <a:ext uri="{FF2B5EF4-FFF2-40B4-BE49-F238E27FC236}">
                <a16:creationId xmlns:a16="http://schemas.microsoft.com/office/drawing/2014/main" id="{C524A42D-30A4-01F8-CF1D-F135649E7C79}"/>
              </a:ext>
            </a:extLst>
          </p:cNvPr>
          <p:cNvSpPr/>
          <p:nvPr/>
        </p:nvSpPr>
        <p:spPr>
          <a:xfrm>
            <a:off x="6124956" y="3146044"/>
            <a:ext cx="470408" cy="565912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10">
            <a:extLst>
              <a:ext uri="{FF2B5EF4-FFF2-40B4-BE49-F238E27FC236}">
                <a16:creationId xmlns:a16="http://schemas.microsoft.com/office/drawing/2014/main" id="{FAE3A322-FF7D-E7C4-0E46-A5AD13551EEF}"/>
              </a:ext>
            </a:extLst>
          </p:cNvPr>
          <p:cNvSpPr/>
          <p:nvPr/>
        </p:nvSpPr>
        <p:spPr>
          <a:xfrm>
            <a:off x="3491992" y="5979160"/>
            <a:ext cx="5196840" cy="75184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502920" y="256032"/>
            <a:ext cx="969264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400" b="1">
                <a:solidFill>
                  <a:srgbClr val="0F2340"/>
                </a:solidFill>
                <a:latin typeface="Malgun Gothic"/>
              </a:rPr>
              <a:t>데모 3 — 해운대구 품목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20040"/>
            <a:ext cx="548640" cy="2560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Malgun Gothic"/>
              </a:rPr>
              <a:t>09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9264"/>
            <a:ext cx="11201400" cy="22860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S09_지역분석_해운대구_급식식자재.png"/>
          <p:cNvPicPr>
            <a:picLocks noChangeAspect="1"/>
          </p:cNvPicPr>
          <p:nvPr/>
        </p:nvPicPr>
        <p:blipFill>
          <a:blip r:embed="rId2"/>
          <a:srcRect l="89" r="357" b="9725"/>
          <a:stretch>
            <a:fillRect/>
          </a:stretch>
        </p:blipFill>
        <p:spPr>
          <a:xfrm>
            <a:off x="502920" y="1129991"/>
            <a:ext cx="11262387" cy="4613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495040" y="5969000"/>
            <a:ext cx="5191760" cy="75386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sz="1600" dirty="0">
                <a:solidFill>
                  <a:schemeClr val="tx2"/>
                </a:solidFill>
                <a:latin typeface="Malgun Gothic"/>
                <a:ea typeface="Malgun Gothic"/>
                <a:cs typeface="+mn-lt"/>
              </a:rPr>
              <a:t>해운대구 </a:t>
            </a:r>
            <a:r>
              <a:rPr lang="ko-KR" sz="1600" b="1" dirty="0">
                <a:solidFill>
                  <a:schemeClr val="tx2"/>
                </a:solidFill>
                <a:latin typeface="Malgun Gothic"/>
                <a:ea typeface="Malgun Gothic"/>
                <a:cs typeface="+mn-lt"/>
              </a:rPr>
              <a:t>급식</a:t>
            </a:r>
            <a:r>
              <a:rPr lang="en-US" altLang="ko-KR" sz="1600" b="1" dirty="0">
                <a:solidFill>
                  <a:schemeClr val="tx2"/>
                </a:solidFill>
                <a:latin typeface="Malgun Gothic"/>
                <a:ea typeface="Malgun Gothic"/>
                <a:cs typeface="+mn-lt"/>
              </a:rPr>
              <a:t>·</a:t>
            </a:r>
            <a:r>
              <a:rPr lang="ko-KR" sz="1600" b="1" dirty="0">
                <a:solidFill>
                  <a:schemeClr val="tx2"/>
                </a:solidFill>
                <a:latin typeface="Malgun Gothic"/>
                <a:ea typeface="Malgun Gothic"/>
                <a:cs typeface="+mn-lt"/>
              </a:rPr>
              <a:t>식자재</a:t>
            </a:r>
            <a:r>
              <a:rPr lang="ko-KR" sz="1600" dirty="0">
                <a:solidFill>
                  <a:schemeClr val="tx2"/>
                </a:solidFill>
                <a:latin typeface="Malgun Gothic"/>
                <a:ea typeface="Malgun Gothic"/>
                <a:cs typeface="+mn-lt"/>
              </a:rPr>
              <a:t> </a:t>
            </a:r>
            <a:endParaRPr lang="ko-KR" sz="2000">
              <a:solidFill>
                <a:schemeClr val="tx2"/>
              </a:solidFill>
              <a:cs typeface="Calibri"/>
            </a:endParaRPr>
          </a:p>
          <a:p>
            <a:pPr algn="ctr">
              <a:lnSpc>
                <a:spcPct val="150000"/>
              </a:lnSpc>
            </a:pPr>
            <a:r>
              <a:rPr lang="ko-KR" sz="1600">
                <a:solidFill>
                  <a:schemeClr val="tx2"/>
                </a:solidFill>
                <a:latin typeface="Malgun Gothic"/>
                <a:ea typeface="Malgun Gothic"/>
                <a:cs typeface="+mn-lt"/>
              </a:rPr>
              <a:t>공고 </a:t>
            </a:r>
            <a:r>
              <a:rPr lang="en-US" altLang="ko-KR" sz="1600" b="1" dirty="0">
                <a:solidFill>
                  <a:schemeClr val="tx2"/>
                </a:solidFill>
                <a:latin typeface="Malgun Gothic"/>
                <a:ea typeface="Malgun Gothic"/>
                <a:cs typeface="+mn-lt"/>
              </a:rPr>
              <a:t>62</a:t>
            </a:r>
            <a:r>
              <a:rPr lang="ko-KR" sz="1600" b="1" dirty="0">
                <a:solidFill>
                  <a:schemeClr val="tx2"/>
                </a:solidFill>
                <a:latin typeface="Malgun Gothic"/>
                <a:ea typeface="Malgun Gothic"/>
                <a:cs typeface="+mn-lt"/>
              </a:rPr>
              <a:t>건</a:t>
            </a:r>
            <a:r>
              <a:rPr lang="ko-KR" altLang="en-US" sz="1600" dirty="0">
                <a:solidFill>
                  <a:schemeClr val="tx2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en-US" altLang="ko-KR" sz="1600" dirty="0">
                <a:solidFill>
                  <a:schemeClr val="tx2"/>
                </a:solidFill>
                <a:latin typeface="Malgun Gothic"/>
                <a:ea typeface="Malgun Gothic"/>
                <a:cs typeface="+mn-lt"/>
              </a:rPr>
              <a:t>·</a:t>
            </a:r>
            <a:r>
              <a:rPr lang="ko-KR" altLang="en-US" sz="1600" dirty="0">
                <a:solidFill>
                  <a:schemeClr val="tx2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ko-KR" sz="1600" dirty="0">
                <a:solidFill>
                  <a:schemeClr val="tx2"/>
                </a:solidFill>
                <a:latin typeface="Malgun Gothic"/>
                <a:ea typeface="Malgun Gothic"/>
                <a:cs typeface="+mn-lt"/>
              </a:rPr>
              <a:t>총 발주금액 </a:t>
            </a:r>
            <a:r>
              <a:rPr lang="ko-KR" sz="1600" b="1" dirty="0">
                <a:solidFill>
                  <a:schemeClr val="tx2"/>
                </a:solidFill>
                <a:latin typeface="Malgun Gothic"/>
                <a:ea typeface="Malgun Gothic"/>
                <a:cs typeface="+mn-lt"/>
              </a:rPr>
              <a:t>약 </a:t>
            </a:r>
            <a:r>
              <a:rPr lang="en-US" altLang="ko-KR" sz="1600" b="1" dirty="0">
                <a:solidFill>
                  <a:schemeClr val="tx2"/>
                </a:solidFill>
                <a:latin typeface="Malgun Gothic"/>
                <a:ea typeface="Malgun Gothic"/>
                <a:cs typeface="+mn-lt"/>
              </a:rPr>
              <a:t>21</a:t>
            </a:r>
            <a:r>
              <a:rPr lang="ko-KR" sz="1600" b="1" dirty="0">
                <a:solidFill>
                  <a:schemeClr val="tx2"/>
                </a:solidFill>
                <a:latin typeface="Malgun Gothic"/>
                <a:ea typeface="Malgun Gothic"/>
                <a:cs typeface="+mn-lt"/>
              </a:rPr>
              <a:t>억 원</a:t>
            </a:r>
            <a:endParaRPr lang="ko-KR" sz="2000">
              <a:solidFill>
                <a:schemeClr val="tx2"/>
              </a:solidFill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969264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400" b="1">
                <a:solidFill>
                  <a:srgbClr val="0F2340"/>
                </a:solidFill>
                <a:latin typeface="Malgun Gothic"/>
              </a:rPr>
              <a:t>데모 4 — 자치구 비교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20040"/>
            <a:ext cx="548640" cy="2560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Malgun Gothic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9264"/>
            <a:ext cx="11201400" cy="22860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S11_자치구비교_해운대vs동래_AI해석.png"/>
          <p:cNvPicPr>
            <a:picLocks noChangeAspect="1"/>
          </p:cNvPicPr>
          <p:nvPr/>
        </p:nvPicPr>
        <p:blipFill>
          <a:blip r:embed="rId2"/>
          <a:srcRect l="-24" r="590" b="204"/>
          <a:stretch>
            <a:fillRect/>
          </a:stretch>
        </p:blipFill>
        <p:spPr>
          <a:xfrm>
            <a:off x="502920" y="1153160"/>
            <a:ext cx="11267335" cy="4739654"/>
          </a:xfrm>
          <a:prstGeom prst="rect">
            <a:avLst/>
          </a:prstGeom>
        </p:spPr>
      </p:pic>
      <p:sp>
        <p:nvSpPr>
          <p:cNvPr id="10" name="Rounded Rectangle 10">
            <a:extLst>
              <a:ext uri="{FF2B5EF4-FFF2-40B4-BE49-F238E27FC236}">
                <a16:creationId xmlns:a16="http://schemas.microsoft.com/office/drawing/2014/main" id="{8CCE2605-F770-6B73-DB96-8350BFA59B35}"/>
              </a:ext>
            </a:extLst>
          </p:cNvPr>
          <p:cNvSpPr/>
          <p:nvPr/>
        </p:nvSpPr>
        <p:spPr>
          <a:xfrm>
            <a:off x="3491992" y="5979160"/>
            <a:ext cx="5196840" cy="75184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4EBE175-6FEC-1BD3-BA51-ED02A6368E1F}"/>
              </a:ext>
            </a:extLst>
          </p:cNvPr>
          <p:cNvSpPr txBox="1"/>
          <p:nvPr/>
        </p:nvSpPr>
        <p:spPr>
          <a:xfrm>
            <a:off x="3505200" y="5958840"/>
            <a:ext cx="5191760" cy="79406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lang="en-US" sz="1600" dirty="0" err="1">
                <a:solidFill>
                  <a:srgbClr val="1F497D"/>
                </a:solidFill>
                <a:latin typeface="Malgun Gothic"/>
                <a:ea typeface="Malgun Gothic"/>
                <a:cs typeface="+mn-lt"/>
              </a:rPr>
              <a:t>해운대구는</a:t>
            </a:r>
            <a:r>
              <a:rPr lang="en-US" sz="1600" b="1" dirty="0">
                <a:solidFill>
                  <a:srgbClr val="1F497D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en-US" sz="1600" b="1" dirty="0" err="1">
                <a:solidFill>
                  <a:srgbClr val="1F497D"/>
                </a:solidFill>
                <a:latin typeface="Malgun Gothic"/>
                <a:ea typeface="Malgun Gothic"/>
                <a:cs typeface="+mn-lt"/>
              </a:rPr>
              <a:t>급식·서비스</a:t>
            </a:r>
            <a:r>
              <a:rPr lang="en-US" sz="1600" b="1" dirty="0">
                <a:solidFill>
                  <a:srgbClr val="1F497D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en-US" sz="1600" b="1" dirty="0" err="1">
                <a:solidFill>
                  <a:srgbClr val="1F497D"/>
                </a:solidFill>
                <a:latin typeface="Malgun Gothic"/>
                <a:ea typeface="Malgun Gothic"/>
                <a:cs typeface="+mn-lt"/>
              </a:rPr>
              <a:t>중심</a:t>
            </a:r>
            <a:r>
              <a:rPr lang="en-US" sz="1600" dirty="0">
                <a:solidFill>
                  <a:srgbClr val="1F497D"/>
                </a:solidFill>
                <a:latin typeface="Malgun Gothic"/>
                <a:ea typeface="Malgun Gothic"/>
                <a:cs typeface="+mn-lt"/>
              </a:rPr>
              <a:t>, </a:t>
            </a:r>
            <a:endParaRPr lang="en-US" sz="2000" dirty="0">
              <a:solidFill>
                <a:srgbClr val="000000"/>
              </a:solidFill>
              <a:latin typeface="Calibri"/>
              <a:ea typeface="Calibri"/>
              <a:cs typeface="+mn-lt"/>
            </a:endParaRPr>
          </a:p>
          <a:p>
            <a:pPr algn="ctr"/>
            <a:r>
              <a:rPr lang="en-US" sz="1600" dirty="0" err="1">
                <a:solidFill>
                  <a:srgbClr val="1F497D"/>
                </a:solidFill>
                <a:latin typeface="Malgun Gothic"/>
                <a:ea typeface="Malgun Gothic"/>
                <a:cs typeface="+mn-lt"/>
              </a:rPr>
              <a:t>동래구는</a:t>
            </a:r>
            <a:r>
              <a:rPr lang="en-US" sz="1600" b="1" dirty="0">
                <a:solidFill>
                  <a:srgbClr val="1F497D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en-US" sz="1600" b="1" dirty="0" err="1">
                <a:solidFill>
                  <a:srgbClr val="1F497D"/>
                </a:solidFill>
                <a:latin typeface="Malgun Gothic"/>
                <a:ea typeface="Malgun Gothic"/>
                <a:cs typeface="+mn-lt"/>
              </a:rPr>
              <a:t>시설유지·환경관리</a:t>
            </a:r>
            <a:r>
              <a:rPr lang="en-US" sz="1600" b="1" dirty="0">
                <a:solidFill>
                  <a:srgbClr val="1F497D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en-US" sz="1600" b="1" dirty="0" err="1">
                <a:solidFill>
                  <a:srgbClr val="1F497D"/>
                </a:solidFill>
                <a:latin typeface="Malgun Gothic"/>
                <a:ea typeface="Malgun Gothic"/>
                <a:cs typeface="+mn-lt"/>
              </a:rPr>
              <a:t>중심</a:t>
            </a:r>
            <a:r>
              <a:rPr lang="en-US" sz="1600" dirty="0">
                <a:solidFill>
                  <a:srgbClr val="1F497D"/>
                </a:solidFill>
                <a:latin typeface="Malgun Gothic"/>
                <a:ea typeface="Malgun Gothic"/>
                <a:cs typeface="+mn-lt"/>
              </a:rPr>
              <a:t> </a:t>
            </a:r>
            <a:endParaRPr lang="en-US" sz="2000">
              <a:solidFill>
                <a:srgbClr val="000000"/>
              </a:solidFill>
              <a:latin typeface="Calibri"/>
              <a:ea typeface="Calibri"/>
              <a:cs typeface="+mn-lt"/>
            </a:endParaRPr>
          </a:p>
          <a:p>
            <a:pPr algn="ctr"/>
            <a:r>
              <a:rPr lang="en-US" sz="1600" dirty="0" err="1">
                <a:solidFill>
                  <a:srgbClr val="1F497D"/>
                </a:solidFill>
                <a:latin typeface="Malgun Gothic"/>
                <a:ea typeface="Malgun Gothic"/>
                <a:cs typeface="+mn-lt"/>
              </a:rPr>
              <a:t>같은</a:t>
            </a:r>
            <a:r>
              <a:rPr lang="en-US" sz="1600" dirty="0">
                <a:solidFill>
                  <a:srgbClr val="1F497D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en-US" sz="1600" dirty="0" err="1">
                <a:solidFill>
                  <a:srgbClr val="1F497D"/>
                </a:solidFill>
                <a:latin typeface="Malgun Gothic"/>
                <a:ea typeface="Malgun Gothic"/>
                <a:cs typeface="+mn-lt"/>
              </a:rPr>
              <a:t>부산이라도</a:t>
            </a:r>
            <a:r>
              <a:rPr lang="en-US" sz="1600" dirty="0">
                <a:solidFill>
                  <a:srgbClr val="1F497D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en-US" sz="1600" b="1" dirty="0" err="1">
                <a:solidFill>
                  <a:srgbClr val="1F497D"/>
                </a:solidFill>
                <a:latin typeface="Malgun Gothic"/>
                <a:ea typeface="Malgun Gothic"/>
                <a:cs typeface="+mn-lt"/>
              </a:rPr>
              <a:t>진입</a:t>
            </a:r>
            <a:r>
              <a:rPr lang="en-US" sz="1600" b="1" dirty="0">
                <a:solidFill>
                  <a:srgbClr val="1F497D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en-US" sz="1600" b="1" dirty="0" err="1">
                <a:solidFill>
                  <a:srgbClr val="1F497D"/>
                </a:solidFill>
                <a:latin typeface="Malgun Gothic"/>
                <a:ea typeface="Malgun Gothic"/>
                <a:cs typeface="+mn-lt"/>
              </a:rPr>
              <a:t>전략</a:t>
            </a:r>
            <a:r>
              <a:rPr lang="en-US" sz="1600" dirty="0" err="1">
                <a:solidFill>
                  <a:srgbClr val="1F497D"/>
                </a:solidFill>
                <a:latin typeface="Malgun Gothic"/>
                <a:ea typeface="Malgun Gothic"/>
                <a:cs typeface="+mn-lt"/>
              </a:rPr>
              <a:t>이</a:t>
            </a:r>
            <a:r>
              <a:rPr lang="en-US" sz="1600" dirty="0">
                <a:solidFill>
                  <a:srgbClr val="1F497D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en-US" sz="1600" dirty="0" err="1">
                <a:solidFill>
                  <a:srgbClr val="1F497D"/>
                </a:solidFill>
                <a:latin typeface="Malgun Gothic"/>
                <a:ea typeface="Malgun Gothic"/>
                <a:cs typeface="+mn-lt"/>
              </a:rPr>
              <a:t>달라집니다</a:t>
            </a:r>
            <a:r>
              <a:rPr lang="en-US" sz="1600" dirty="0">
                <a:solidFill>
                  <a:srgbClr val="1F497D"/>
                </a:solidFill>
                <a:latin typeface="Malgun Gothic"/>
                <a:ea typeface="Malgun Gothic"/>
                <a:cs typeface="+mn-lt"/>
              </a:rPr>
              <a:t>.</a:t>
            </a:r>
            <a:endParaRPr lang="en-US" sz="2000">
              <a:ea typeface="Calibri"/>
              <a:cs typeface="Calibri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5796D1D8-0725-751A-9605-09C56F5581AF}"/>
              </a:ext>
            </a:extLst>
          </p:cNvPr>
          <p:cNvSpPr/>
          <p:nvPr/>
        </p:nvSpPr>
        <p:spPr>
          <a:xfrm>
            <a:off x="833120" y="4790440"/>
            <a:ext cx="1584960" cy="365760"/>
          </a:xfrm>
          <a:prstGeom prst="round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9692640" cy="4247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sz="2400" b="1" err="1">
                <a:solidFill>
                  <a:srgbClr val="0F2340"/>
                </a:solidFill>
                <a:latin typeface="Malgun Gothic"/>
              </a:rPr>
              <a:t>데모</a:t>
            </a:r>
            <a:r>
              <a:rPr sz="2400"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lang="en-US" sz="2400" b="1" dirty="0">
                <a:solidFill>
                  <a:srgbClr val="0F2340"/>
                </a:solidFill>
                <a:latin typeface="Malgun Gothic"/>
              </a:rPr>
              <a:t>5</a:t>
            </a:r>
            <a:r>
              <a:rPr sz="2400" b="1">
                <a:solidFill>
                  <a:srgbClr val="0F2340"/>
                </a:solidFill>
                <a:latin typeface="Malgun Gothic"/>
              </a:rPr>
              <a:t> — </a:t>
            </a:r>
            <a:r>
              <a:rPr lang="ko-KR" sz="2400" b="1">
                <a:solidFill>
                  <a:srgbClr val="0F2340"/>
                </a:solidFill>
                <a:latin typeface="Malgun Gothic"/>
                <a:ea typeface="Malgun Gothic"/>
              </a:rPr>
              <a:t>물류 거점 </a:t>
            </a:r>
            <a:r>
              <a:rPr lang="ko-KR" altLang="en-US" sz="2400" b="1">
                <a:solidFill>
                  <a:srgbClr val="0F2340"/>
                </a:solidFill>
                <a:latin typeface="Malgun Gothic"/>
                <a:ea typeface="Malgun Gothic"/>
              </a:rPr>
              <a:t>분석</a:t>
            </a:r>
            <a:endParaRPr lang="ko-KR" sz="2400" b="1" dirty="0">
              <a:solidFill>
                <a:srgbClr val="0F2340"/>
              </a:solidFill>
              <a:latin typeface="Malgun Gothic"/>
              <a:ea typeface="Malgun Gothic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201400" y="320040"/>
            <a:ext cx="548640" cy="2560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Malgun Gothic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9264"/>
            <a:ext cx="11201400" cy="22860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10">
            <a:extLst>
              <a:ext uri="{FF2B5EF4-FFF2-40B4-BE49-F238E27FC236}">
                <a16:creationId xmlns:a16="http://schemas.microsoft.com/office/drawing/2014/main" id="{8EFA2991-BA3A-E1C6-78C6-FD98D7221949}"/>
              </a:ext>
            </a:extLst>
          </p:cNvPr>
          <p:cNvSpPr/>
          <p:nvPr/>
        </p:nvSpPr>
        <p:spPr>
          <a:xfrm>
            <a:off x="3491992" y="5979160"/>
            <a:ext cx="5196840" cy="75184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FFBD4C0-C519-FBF4-FF9D-70D923FB8F47}"/>
              </a:ext>
            </a:extLst>
          </p:cNvPr>
          <p:cNvSpPr txBox="1"/>
          <p:nvPr/>
        </p:nvSpPr>
        <p:spPr>
          <a:xfrm>
            <a:off x="3495040" y="5962558"/>
            <a:ext cx="5191760" cy="75386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600" b="1" dirty="0" err="1">
                <a:solidFill>
                  <a:srgbClr val="1F497D"/>
                </a:solidFill>
                <a:latin typeface="Malgun Gothic"/>
                <a:ea typeface="Malgun Gothic"/>
                <a:cs typeface="+mn-lt"/>
              </a:rPr>
              <a:t>부산</a:t>
            </a:r>
            <a:r>
              <a:rPr lang="en-US" sz="1600" dirty="0">
                <a:solidFill>
                  <a:srgbClr val="1F497D"/>
                </a:solidFill>
                <a:latin typeface="Malgun Gothic"/>
                <a:ea typeface="Malgun Gothic"/>
                <a:cs typeface="+mn-lt"/>
              </a:rPr>
              <a:t> 1티어, </a:t>
            </a:r>
            <a:r>
              <a:rPr lang="en-US" sz="1600" b="1" dirty="0" err="1">
                <a:solidFill>
                  <a:srgbClr val="1F497D"/>
                </a:solidFill>
                <a:latin typeface="Malgun Gothic"/>
                <a:ea typeface="Malgun Gothic"/>
                <a:cs typeface="+mn-lt"/>
              </a:rPr>
              <a:t>대전·세종</a:t>
            </a:r>
            <a:r>
              <a:rPr lang="en-US" sz="1600" dirty="0">
                <a:solidFill>
                  <a:srgbClr val="1F497D"/>
                </a:solidFill>
                <a:latin typeface="Malgun Gothic"/>
                <a:ea typeface="Malgun Gothic"/>
                <a:cs typeface="+mn-lt"/>
              </a:rPr>
              <a:t> 2티어, </a:t>
            </a:r>
            <a:r>
              <a:rPr lang="en-US" sz="1600" b="1" dirty="0" err="1">
                <a:solidFill>
                  <a:srgbClr val="1F497D"/>
                </a:solidFill>
                <a:latin typeface="Malgun Gothic"/>
                <a:ea typeface="Malgun Gothic"/>
                <a:cs typeface="+mn-lt"/>
              </a:rPr>
              <a:t>수도권·광주</a:t>
            </a:r>
            <a:r>
              <a:rPr lang="en-US" sz="1600" dirty="0">
                <a:solidFill>
                  <a:srgbClr val="1F497D"/>
                </a:solidFill>
                <a:latin typeface="Malgun Gothic"/>
                <a:ea typeface="Malgun Gothic"/>
                <a:cs typeface="+mn-lt"/>
              </a:rPr>
              <a:t> 3티어</a:t>
            </a:r>
            <a:endParaRPr lang="en-US" dirty="0">
              <a:solidFill>
                <a:srgbClr val="000000"/>
              </a:solidFill>
              <a:latin typeface="Calibri"/>
              <a:ea typeface="Calibri"/>
              <a:cs typeface="+mn-lt"/>
            </a:endParaRPr>
          </a:p>
          <a:p>
            <a:pPr algn="ctr">
              <a:lnSpc>
                <a:spcPct val="150000"/>
              </a:lnSpc>
            </a:pPr>
            <a:r>
              <a:rPr lang="en-US" sz="1600" dirty="0" err="1">
                <a:solidFill>
                  <a:srgbClr val="1F497D"/>
                </a:solidFill>
                <a:latin typeface="Malgun Gothic"/>
                <a:ea typeface="Malgun Gothic"/>
                <a:cs typeface="+mn-lt"/>
              </a:rPr>
              <a:t>급식·식자재</a:t>
            </a:r>
            <a:r>
              <a:rPr lang="en-US" sz="1600" dirty="0">
                <a:solidFill>
                  <a:srgbClr val="1F497D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en-US" sz="1600" dirty="0" err="1">
                <a:solidFill>
                  <a:srgbClr val="1F497D"/>
                </a:solidFill>
                <a:latin typeface="Malgun Gothic"/>
                <a:ea typeface="Malgun Gothic"/>
                <a:cs typeface="+mn-lt"/>
              </a:rPr>
              <a:t>물류</a:t>
            </a:r>
            <a:r>
              <a:rPr lang="en-US" sz="1600" dirty="0">
                <a:solidFill>
                  <a:srgbClr val="1F497D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en-US" sz="1600" dirty="0" err="1">
                <a:solidFill>
                  <a:srgbClr val="1F497D"/>
                </a:solidFill>
                <a:latin typeface="Malgun Gothic"/>
                <a:ea typeface="Malgun Gothic"/>
                <a:cs typeface="+mn-lt"/>
              </a:rPr>
              <a:t>거점</a:t>
            </a:r>
            <a:r>
              <a:rPr lang="en-US" sz="1600" dirty="0">
                <a:solidFill>
                  <a:srgbClr val="1F497D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en-US" sz="1600" dirty="0" err="1">
                <a:solidFill>
                  <a:srgbClr val="1F497D"/>
                </a:solidFill>
                <a:latin typeface="Malgun Gothic"/>
                <a:ea typeface="Malgun Gothic"/>
                <a:cs typeface="+mn-lt"/>
              </a:rPr>
              <a:t>구조를</a:t>
            </a:r>
            <a:r>
              <a:rPr lang="en-US" sz="1600" dirty="0">
                <a:solidFill>
                  <a:srgbClr val="1F497D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en-US" sz="1600" b="1" dirty="0" err="1">
                <a:solidFill>
                  <a:srgbClr val="1F497D"/>
                </a:solidFill>
                <a:latin typeface="Malgun Gothic"/>
                <a:ea typeface="Malgun Gothic"/>
                <a:cs typeface="+mn-lt"/>
              </a:rPr>
              <a:t>자동</a:t>
            </a:r>
            <a:r>
              <a:rPr lang="en-US" sz="1600" b="1" dirty="0">
                <a:solidFill>
                  <a:srgbClr val="1F497D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en-US" sz="1600" b="1" dirty="0" err="1">
                <a:solidFill>
                  <a:srgbClr val="1F497D"/>
                </a:solidFill>
                <a:latin typeface="Malgun Gothic"/>
                <a:ea typeface="Malgun Gothic"/>
                <a:cs typeface="+mn-lt"/>
              </a:rPr>
              <a:t>제안</a:t>
            </a:r>
            <a:r>
              <a:rPr lang="en-US" sz="1600" dirty="0" err="1">
                <a:solidFill>
                  <a:srgbClr val="1F497D"/>
                </a:solidFill>
                <a:latin typeface="Malgun Gothic"/>
                <a:ea typeface="Malgun Gothic"/>
                <a:cs typeface="+mn-lt"/>
              </a:rPr>
              <a:t>합니다</a:t>
            </a:r>
            <a:r>
              <a:rPr lang="en-US" sz="1600" dirty="0">
                <a:solidFill>
                  <a:srgbClr val="1F497D"/>
                </a:solidFill>
                <a:latin typeface="Malgun Gothic"/>
                <a:ea typeface="Malgun Gothic"/>
                <a:cs typeface="+mn-lt"/>
              </a:rPr>
              <a:t>.</a:t>
            </a:r>
            <a:endParaRPr lang="en-US" dirty="0">
              <a:ea typeface="Calibri"/>
              <a:cs typeface="Calibri"/>
            </a:endParaRPr>
          </a:p>
        </p:txBody>
      </p:sp>
      <p:pic>
        <p:nvPicPr>
          <p:cNvPr id="3" name="그림 2" descr="텍스트, 스크린샷, 디스플레이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941DA31-585A-65D5-113F-E0E62458A6A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6" r="382" b="25100"/>
          <a:stretch>
            <a:fillRect/>
          </a:stretch>
        </p:blipFill>
        <p:spPr>
          <a:xfrm>
            <a:off x="1431073" y="1216887"/>
            <a:ext cx="9351034" cy="2827999"/>
          </a:xfrm>
          <a:prstGeom prst="rect">
            <a:avLst/>
          </a:prstGeom>
        </p:spPr>
      </p:pic>
      <p:pic>
        <p:nvPicPr>
          <p:cNvPr id="6" name="그림 5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91119A5-9006-2B59-0703-8DACA4A2A3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415" y="4041899"/>
            <a:ext cx="10705172" cy="1933714"/>
          </a:xfrm>
          <a:prstGeom prst="rect">
            <a:avLst/>
          </a:prstGeom>
        </p:spPr>
      </p:pic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A625945D-0A23-7882-2FEE-5C099BEC6351}"/>
              </a:ext>
            </a:extLst>
          </p:cNvPr>
          <p:cNvSpPr/>
          <p:nvPr/>
        </p:nvSpPr>
        <p:spPr>
          <a:xfrm>
            <a:off x="740193" y="4037733"/>
            <a:ext cx="2765130" cy="895442"/>
          </a:xfrm>
          <a:prstGeom prst="round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18973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9692640" cy="4247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400" b="1" dirty="0" err="1">
                <a:solidFill>
                  <a:srgbClr val="0F2340"/>
                </a:solidFill>
                <a:latin typeface="Malgun Gothic"/>
              </a:rPr>
              <a:t>데모</a:t>
            </a:r>
            <a:r>
              <a:rPr sz="2400"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lang="en-US" sz="2400" b="1" dirty="0">
                <a:solidFill>
                  <a:srgbClr val="0F2340"/>
                </a:solidFill>
                <a:latin typeface="Malgun Gothic"/>
              </a:rPr>
              <a:t>6</a:t>
            </a:r>
            <a:r>
              <a:rPr sz="2400" b="1" dirty="0">
                <a:solidFill>
                  <a:srgbClr val="0F2340"/>
                </a:solidFill>
                <a:latin typeface="Malgun Gothic"/>
              </a:rPr>
              <a:t> — AI </a:t>
            </a:r>
            <a:r>
              <a:rPr sz="2400" b="1" dirty="0" err="1">
                <a:solidFill>
                  <a:srgbClr val="0F2340"/>
                </a:solidFill>
                <a:latin typeface="Malgun Gothic"/>
              </a:rPr>
              <a:t>해석</a:t>
            </a:r>
            <a:r>
              <a:rPr sz="2400"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sz="2400" b="1" dirty="0" err="1">
                <a:solidFill>
                  <a:srgbClr val="0F2340"/>
                </a:solidFill>
                <a:latin typeface="Malgun Gothic"/>
              </a:rPr>
              <a:t>결과</a:t>
            </a:r>
            <a:endParaRPr lang="ko-KR" altLang="en-US" sz="2400" b="1" dirty="0" err="1">
              <a:solidFill>
                <a:srgbClr val="0F2340"/>
              </a:solidFill>
              <a:latin typeface="Malgun Gothic"/>
              <a:ea typeface="Malgun Gothic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201400" y="320040"/>
            <a:ext cx="548640" cy="24006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lang="en-US" sz="1200" b="1">
                <a:solidFill>
                  <a:srgbClr val="2563EB"/>
                </a:solidFill>
                <a:latin typeface="Malgun Gothic"/>
              </a:rPr>
              <a:t>12</a:t>
            </a:r>
            <a:endParaRPr sz="1200" b="1">
              <a:solidFill>
                <a:srgbClr val="2563EB"/>
              </a:solidFill>
              <a:latin typeface="Malgun Gothic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969264"/>
            <a:ext cx="11201400" cy="22860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S10c_AI경쟁구조해석_진입검토.png"/>
          <p:cNvPicPr>
            <a:picLocks noChangeAspect="1"/>
          </p:cNvPicPr>
          <p:nvPr/>
        </p:nvPicPr>
        <p:blipFill>
          <a:blip r:embed="rId2"/>
          <a:srcRect l="90" t="1168" r="541"/>
          <a:stretch>
            <a:fillRect/>
          </a:stretch>
        </p:blipFill>
        <p:spPr>
          <a:xfrm>
            <a:off x="502920" y="1252750"/>
            <a:ext cx="11201444" cy="4367752"/>
          </a:xfrm>
          <a:prstGeom prst="rect">
            <a:avLst/>
          </a:prstGeom>
        </p:spPr>
      </p:pic>
      <p:sp>
        <p:nvSpPr>
          <p:cNvPr id="10" name="Rounded Rectangle 10">
            <a:extLst>
              <a:ext uri="{FF2B5EF4-FFF2-40B4-BE49-F238E27FC236}">
                <a16:creationId xmlns:a16="http://schemas.microsoft.com/office/drawing/2014/main" id="{8EFA2991-BA3A-E1C6-78C6-FD98D7221949}"/>
              </a:ext>
            </a:extLst>
          </p:cNvPr>
          <p:cNvSpPr/>
          <p:nvPr/>
        </p:nvSpPr>
        <p:spPr>
          <a:xfrm>
            <a:off x="3491992" y="5979160"/>
            <a:ext cx="5196840" cy="75184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FFBD4C0-C519-FBF4-FF9D-70D923FB8F47}"/>
              </a:ext>
            </a:extLst>
          </p:cNvPr>
          <p:cNvSpPr txBox="1"/>
          <p:nvPr/>
        </p:nvSpPr>
        <p:spPr>
          <a:xfrm>
            <a:off x="3495040" y="5979160"/>
            <a:ext cx="5191760" cy="75386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600" b="1">
                <a:solidFill>
                  <a:schemeClr val="tx2"/>
                </a:solidFill>
                <a:latin typeface="Malgun Gothic"/>
                <a:ea typeface="Malgun Gothic"/>
                <a:cs typeface="+mn-lt"/>
              </a:rPr>
              <a:t>AI 해석</a:t>
            </a:r>
            <a:r>
              <a:rPr lang="en-US" sz="1600">
                <a:solidFill>
                  <a:schemeClr val="tx2"/>
                </a:solidFill>
                <a:latin typeface="Malgun Gothic"/>
                <a:ea typeface="Malgun Gothic"/>
                <a:cs typeface="+mn-lt"/>
              </a:rPr>
              <a:t>은 최종 판단이 아니라 수치 지표를</a:t>
            </a:r>
            <a:endParaRPr lang="ko-KR" sz="1600" dirty="0">
              <a:solidFill>
                <a:schemeClr val="tx2"/>
              </a:solidFill>
              <a:latin typeface="Calibri"/>
              <a:ea typeface="맑은 고딕"/>
              <a:cs typeface="+mn-lt"/>
            </a:endParaRPr>
          </a:p>
          <a:p>
            <a:pPr algn="ctr">
              <a:lnSpc>
                <a:spcPct val="150000"/>
              </a:lnSpc>
            </a:pPr>
            <a:r>
              <a:rPr lang="en-US" sz="1600">
                <a:solidFill>
                  <a:schemeClr val="tx2"/>
                </a:solidFill>
                <a:latin typeface="Malgun Gothic"/>
                <a:ea typeface="Malgun Gothic"/>
                <a:cs typeface="+mn-lt"/>
              </a:rPr>
              <a:t>읽기 쉬운 문장으로 바꾸는 </a:t>
            </a:r>
            <a:r>
              <a:rPr lang="en-US" sz="1600" b="1">
                <a:solidFill>
                  <a:schemeClr val="tx2"/>
                </a:solidFill>
                <a:latin typeface="Malgun Gothic"/>
                <a:ea typeface="Malgun Gothic"/>
                <a:cs typeface="+mn-lt"/>
              </a:rPr>
              <a:t>보조 기능</a:t>
            </a:r>
            <a:r>
              <a:rPr lang="en-US" sz="1600">
                <a:solidFill>
                  <a:schemeClr val="tx2"/>
                </a:solidFill>
                <a:latin typeface="Malgun Gothic"/>
                <a:ea typeface="Malgun Gothic"/>
                <a:cs typeface="+mn-lt"/>
              </a:rPr>
              <a:t>입니다.</a:t>
            </a:r>
            <a:endParaRPr lang="ko-KR" sz="1600">
              <a:solidFill>
                <a:schemeClr val="tx2"/>
              </a:solidFill>
              <a:ea typeface="맑은 고딕"/>
              <a:cs typeface="Calibri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45C91CF0-18CE-02F1-DB67-4EAB556D9CF7}"/>
              </a:ext>
            </a:extLst>
          </p:cNvPr>
          <p:cNvSpPr/>
          <p:nvPr/>
        </p:nvSpPr>
        <p:spPr>
          <a:xfrm>
            <a:off x="902753" y="4759093"/>
            <a:ext cx="10588330" cy="854802"/>
          </a:xfrm>
          <a:prstGeom prst="round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60B1DA32-5BBC-64B1-DCE2-EA2927ACD040}"/>
              </a:ext>
            </a:extLst>
          </p:cNvPr>
          <p:cNvSpPr/>
          <p:nvPr/>
        </p:nvSpPr>
        <p:spPr>
          <a:xfrm>
            <a:off x="902752" y="1609493"/>
            <a:ext cx="6910410" cy="1017362"/>
          </a:xfrm>
          <a:prstGeom prst="round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ounded Rectangle 10">
            <a:extLst>
              <a:ext uri="{FF2B5EF4-FFF2-40B4-BE49-F238E27FC236}">
                <a16:creationId xmlns:a16="http://schemas.microsoft.com/office/drawing/2014/main" id="{937123AA-AA7C-82C2-0625-2B9485C490A3}"/>
              </a:ext>
            </a:extLst>
          </p:cNvPr>
          <p:cNvSpPr/>
          <p:nvPr/>
        </p:nvSpPr>
        <p:spPr>
          <a:xfrm>
            <a:off x="777367" y="5360574"/>
            <a:ext cx="4577715" cy="105664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10">
            <a:extLst>
              <a:ext uri="{FF2B5EF4-FFF2-40B4-BE49-F238E27FC236}">
                <a16:creationId xmlns:a16="http://schemas.microsoft.com/office/drawing/2014/main" id="{41D2EFC5-8473-96DF-6AC2-6F7449BB400A}"/>
              </a:ext>
            </a:extLst>
          </p:cNvPr>
          <p:cNvSpPr/>
          <p:nvPr/>
        </p:nvSpPr>
        <p:spPr>
          <a:xfrm>
            <a:off x="6844791" y="5360573"/>
            <a:ext cx="4634865" cy="105664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502920" y="256032"/>
            <a:ext cx="969264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400" b="1">
                <a:solidFill>
                  <a:srgbClr val="0F2340"/>
                </a:solidFill>
                <a:latin typeface="Malgun Gothic"/>
              </a:rPr>
              <a:t>AI 해석 역할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20040"/>
            <a:ext cx="548640" cy="24006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lang="en-US" sz="1200" b="1">
                <a:solidFill>
                  <a:srgbClr val="2563EB"/>
                </a:solidFill>
                <a:latin typeface="Malgun Gothic"/>
              </a:rPr>
              <a:t>13</a:t>
            </a:r>
            <a:endParaRPr sz="1200" b="1">
              <a:solidFill>
                <a:srgbClr val="2563EB"/>
              </a:solidFill>
              <a:latin typeface="Malgun Gothic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969264"/>
            <a:ext cx="11201400" cy="22860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051560"/>
            <a:ext cx="5394960" cy="36317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2000" b="1">
                <a:solidFill>
                  <a:srgbClr val="0F2340"/>
                </a:solidFill>
                <a:latin typeface="Malgun Gothic"/>
              </a:rPr>
              <a:t>정량 지표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051560"/>
            <a:ext cx="5394960" cy="36317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2000" b="1">
                <a:solidFill>
                  <a:srgbClr val="0F2340"/>
                </a:solidFill>
                <a:latin typeface="Malgun Gothic"/>
              </a:rPr>
              <a:t>AI 해석 문장</a:t>
            </a:r>
          </a:p>
        </p:txBody>
      </p:sp>
      <p:pic>
        <p:nvPicPr>
          <p:cNvPr id="9" name="Picture 8" descr="S09_지역분석_해운대구_급식식자재.png"/>
          <p:cNvPicPr>
            <a:picLocks noChangeAspect="1"/>
          </p:cNvPicPr>
          <p:nvPr/>
        </p:nvPicPr>
        <p:blipFill>
          <a:blip r:embed="rId2"/>
          <a:srcRect l="183" b="10044"/>
          <a:stretch>
            <a:fillRect/>
          </a:stretch>
        </p:blipFill>
        <p:spPr>
          <a:xfrm>
            <a:off x="502920" y="1900016"/>
            <a:ext cx="5400055" cy="2212773"/>
          </a:xfrm>
          <a:prstGeom prst="rect">
            <a:avLst/>
          </a:prstGeom>
        </p:spPr>
      </p:pic>
      <p:pic>
        <p:nvPicPr>
          <p:cNvPr id="11" name="Picture 10" descr="S10c_AI경쟁구조해석_진입검토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872" y="2018917"/>
            <a:ext cx="5552440" cy="209778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462061"/>
            <a:ext cx="10640971" cy="732508"/>
          </a:xfrm>
          <a:prstGeom prst="rect">
            <a:avLst/>
          </a:prstGeom>
          <a:solidFill>
            <a:srgbClr val="1D4ED8"/>
          </a:solidFill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lang="en-US" b="1" dirty="0" err="1">
                <a:solidFill>
                  <a:srgbClr val="FFFFFF"/>
                </a:solidFill>
                <a:latin typeface="Malgun Gothic"/>
                <a:ea typeface="Malgun Gothic"/>
                <a:cs typeface="+mn-lt"/>
              </a:rPr>
              <a:t>AI</a:t>
            </a:r>
            <a:r>
              <a:rPr lang="en-US" dirty="0" err="1">
                <a:solidFill>
                  <a:srgbClr val="FFFFFF"/>
                </a:solidFill>
                <a:latin typeface="Malgun Gothic"/>
                <a:ea typeface="Malgun Gothic"/>
                <a:cs typeface="+mn-lt"/>
              </a:rPr>
              <a:t>는</a:t>
            </a:r>
            <a:r>
              <a:rPr lang="en-US" dirty="0">
                <a:solidFill>
                  <a:srgbClr val="FFFFFF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en-US" b="1" dirty="0" err="1">
                <a:solidFill>
                  <a:srgbClr val="FFFFFF"/>
                </a:solidFill>
                <a:latin typeface="Malgun Gothic"/>
                <a:ea typeface="Malgun Gothic"/>
                <a:cs typeface="+mn-lt"/>
              </a:rPr>
              <a:t>정량</a:t>
            </a:r>
            <a:r>
              <a:rPr lang="en-US" b="1" dirty="0">
                <a:solidFill>
                  <a:srgbClr val="FFFFFF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en-US" b="1" dirty="0" err="1">
                <a:solidFill>
                  <a:srgbClr val="FFFFFF"/>
                </a:solidFill>
                <a:latin typeface="Malgun Gothic"/>
                <a:ea typeface="Malgun Gothic"/>
                <a:cs typeface="+mn-lt"/>
              </a:rPr>
              <a:t>지표</a:t>
            </a:r>
            <a:r>
              <a:rPr lang="en-US" dirty="0" err="1">
                <a:solidFill>
                  <a:srgbClr val="FFFFFF"/>
                </a:solidFill>
                <a:latin typeface="Malgun Gothic"/>
                <a:ea typeface="Malgun Gothic"/>
                <a:cs typeface="+mn-lt"/>
              </a:rPr>
              <a:t>를</a:t>
            </a:r>
            <a:r>
              <a:rPr lang="en-US" dirty="0">
                <a:solidFill>
                  <a:srgbClr val="FFFFFF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Malgun Gothic"/>
                <a:ea typeface="Malgun Gothic"/>
                <a:cs typeface="+mn-lt"/>
              </a:rPr>
              <a:t>기반으로</a:t>
            </a:r>
            <a:r>
              <a:rPr lang="en-US" dirty="0">
                <a:solidFill>
                  <a:srgbClr val="FFFFFF"/>
                </a:solidFill>
                <a:latin typeface="Malgun Gothic"/>
                <a:ea typeface="Malgun Gothic"/>
                <a:cs typeface="+mn-lt"/>
              </a:rPr>
              <a:t> </a:t>
            </a:r>
            <a:endParaRPr lang="ko-KR" altLang="en-US">
              <a:cs typeface="Calibri"/>
            </a:endParaRPr>
          </a:p>
          <a:p>
            <a:pPr algn="ctr"/>
            <a:endParaRPr lang="en-US" sz="800" dirty="0">
              <a:solidFill>
                <a:srgbClr val="FFFFFF"/>
              </a:solidFill>
              <a:latin typeface="Malgun Gothic"/>
              <a:ea typeface="Malgun Gothic"/>
              <a:cs typeface="+mn-lt"/>
            </a:endParaRPr>
          </a:p>
          <a:p>
            <a:pPr algn="ctr"/>
            <a:r>
              <a:rPr lang="en-US" dirty="0" err="1">
                <a:solidFill>
                  <a:srgbClr val="FFFFFF"/>
                </a:solidFill>
                <a:latin typeface="Malgun Gothic"/>
                <a:ea typeface="Malgun Gothic"/>
                <a:cs typeface="+mn-lt"/>
              </a:rPr>
              <a:t>지역별</a:t>
            </a:r>
            <a:r>
              <a:rPr lang="en-US" dirty="0">
                <a:solidFill>
                  <a:srgbClr val="FFFFFF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Malgun Gothic"/>
                <a:ea typeface="Malgun Gothic"/>
                <a:cs typeface="+mn-lt"/>
              </a:rPr>
              <a:t>수요·경쟁·물류</a:t>
            </a:r>
            <a:r>
              <a:rPr lang="en-US" dirty="0">
                <a:solidFill>
                  <a:srgbClr val="FFFFFF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Malgun Gothic"/>
                <a:ea typeface="Malgun Gothic"/>
                <a:cs typeface="+mn-lt"/>
              </a:rPr>
              <a:t>특성을</a:t>
            </a:r>
            <a:r>
              <a:rPr lang="en-US" dirty="0">
                <a:solidFill>
                  <a:srgbClr val="FFFFFF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Malgun Gothic"/>
                <a:ea typeface="Malgun Gothic"/>
                <a:cs typeface="+mn-lt"/>
              </a:rPr>
              <a:t>설명하는</a:t>
            </a:r>
            <a:r>
              <a:rPr lang="en-US" dirty="0">
                <a:solidFill>
                  <a:srgbClr val="FFFFFF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en-US" b="1" dirty="0" err="1">
                <a:solidFill>
                  <a:srgbClr val="FFFFFF"/>
                </a:solidFill>
                <a:latin typeface="Malgun Gothic"/>
                <a:ea typeface="Malgun Gothic"/>
                <a:cs typeface="+mn-lt"/>
              </a:rPr>
              <a:t>해석</a:t>
            </a:r>
            <a:r>
              <a:rPr lang="en-US" b="1" dirty="0">
                <a:solidFill>
                  <a:srgbClr val="FFFFFF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en-US" b="1" dirty="0" err="1">
                <a:solidFill>
                  <a:srgbClr val="FFFFFF"/>
                </a:solidFill>
                <a:latin typeface="Malgun Gothic"/>
                <a:ea typeface="Malgun Gothic"/>
                <a:cs typeface="+mn-lt"/>
              </a:rPr>
              <a:t>보조</a:t>
            </a:r>
            <a:r>
              <a:rPr lang="en-US" b="1" dirty="0">
                <a:solidFill>
                  <a:srgbClr val="FFFFFF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en-US" b="1" dirty="0" err="1">
                <a:solidFill>
                  <a:srgbClr val="FFFFFF"/>
                </a:solidFill>
                <a:latin typeface="Malgun Gothic"/>
                <a:ea typeface="Malgun Gothic"/>
                <a:cs typeface="+mn-lt"/>
              </a:rPr>
              <a:t>역할</a:t>
            </a:r>
            <a:r>
              <a:rPr lang="en-US" dirty="0" err="1">
                <a:solidFill>
                  <a:srgbClr val="FFFFFF"/>
                </a:solidFill>
                <a:latin typeface="Malgun Gothic"/>
                <a:ea typeface="Malgun Gothic"/>
                <a:cs typeface="+mn-lt"/>
              </a:rPr>
              <a:t>을</a:t>
            </a:r>
            <a:r>
              <a:rPr lang="en-US" dirty="0">
                <a:solidFill>
                  <a:srgbClr val="FFFFFF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Malgun Gothic"/>
                <a:ea typeface="Malgun Gothic"/>
                <a:cs typeface="+mn-lt"/>
              </a:rPr>
              <a:t>수행합니다</a:t>
            </a:r>
            <a:r>
              <a:rPr lang="en-US" dirty="0">
                <a:solidFill>
                  <a:srgbClr val="FFFFFF"/>
                </a:solidFill>
                <a:latin typeface="Malgun Gothic"/>
                <a:ea typeface="Malgun Gothic"/>
                <a:cs typeface="+mn-lt"/>
              </a:rPr>
              <a:t>.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15" name="화살표: 오른쪽 14">
            <a:extLst>
              <a:ext uri="{FF2B5EF4-FFF2-40B4-BE49-F238E27FC236}">
                <a16:creationId xmlns:a16="http://schemas.microsoft.com/office/drawing/2014/main" id="{61D9A619-32D6-59C3-F0B2-2546F3003975}"/>
              </a:ext>
            </a:extLst>
          </p:cNvPr>
          <p:cNvSpPr/>
          <p:nvPr/>
        </p:nvSpPr>
        <p:spPr>
          <a:xfrm>
            <a:off x="5870956" y="2871724"/>
            <a:ext cx="470408" cy="565912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B01970F-EC64-61A0-3F79-1CD8D057FC98}"/>
              </a:ext>
            </a:extLst>
          </p:cNvPr>
          <p:cNvSpPr txBox="1"/>
          <p:nvPr/>
        </p:nvSpPr>
        <p:spPr>
          <a:xfrm>
            <a:off x="780415" y="5388059"/>
            <a:ext cx="4572635" cy="3323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lang="ko-KR" altLang="en-US" b="1">
                <a:solidFill>
                  <a:schemeClr val="tx2"/>
                </a:solidFill>
                <a:latin typeface="Malgun Gothic"/>
                <a:ea typeface="Malgun Gothic"/>
                <a:cs typeface="Calibri"/>
              </a:rPr>
              <a:t>AI가 하는 것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F1618B5-52A1-E57F-FE42-0DD5036D513F}"/>
              </a:ext>
            </a:extLst>
          </p:cNvPr>
          <p:cNvSpPr txBox="1"/>
          <p:nvPr/>
        </p:nvSpPr>
        <p:spPr>
          <a:xfrm>
            <a:off x="6862216" y="5388058"/>
            <a:ext cx="4572635" cy="3323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lang="ko-KR" altLang="en-US" b="1">
                <a:solidFill>
                  <a:schemeClr val="tx2"/>
                </a:solidFill>
                <a:latin typeface="Malgun Gothic"/>
                <a:ea typeface="Malgun Gothic"/>
                <a:cs typeface="Calibri"/>
              </a:rPr>
              <a:t>AI가 하지 않는 것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9BDC17F-E9C5-F89D-AF99-C698B158D2F2}"/>
              </a:ext>
            </a:extLst>
          </p:cNvPr>
          <p:cNvSpPr txBox="1"/>
          <p:nvPr/>
        </p:nvSpPr>
        <p:spPr>
          <a:xfrm>
            <a:off x="924188" y="5763307"/>
            <a:ext cx="4572635" cy="486287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lang="ko-KR" sz="1400">
                <a:solidFill>
                  <a:srgbClr val="0F172A"/>
                </a:solidFill>
                <a:latin typeface="맑은 고딕"/>
                <a:ea typeface="맑은 고딕"/>
                <a:cs typeface="+mn-lt"/>
              </a:rPr>
              <a:t>수요 설명 / 수요 공백 /</a:t>
            </a:r>
            <a:r>
              <a:rPr lang="ko-KR" altLang="en-US" sz="1400" dirty="0">
                <a:solidFill>
                  <a:srgbClr val="0F172A"/>
                </a:solidFill>
                <a:latin typeface="맑은 고딕"/>
                <a:ea typeface="맑은 고딕"/>
                <a:cs typeface="+mn-lt"/>
              </a:rPr>
              <a:t> </a:t>
            </a:r>
            <a:endParaRPr lang="ko-KR" altLang="en-US" sz="1400" dirty="0">
              <a:latin typeface="맑은 고딕"/>
              <a:ea typeface="맑은 고딕"/>
            </a:endParaRPr>
          </a:p>
          <a:p>
            <a:pPr algn="ctr"/>
            <a:r>
              <a:rPr lang="ko-KR" sz="1400">
                <a:solidFill>
                  <a:srgbClr val="0F172A"/>
                </a:solidFill>
                <a:latin typeface="맑은 고딕"/>
                <a:ea typeface="맑은 고딕"/>
                <a:cs typeface="+mn-lt"/>
              </a:rPr>
              <a:t>경쟁 구조 / 물류 거점 / 지역 비교 </a:t>
            </a:r>
            <a:r>
              <a:rPr lang="ko-KR" sz="1400" b="1">
                <a:solidFill>
                  <a:srgbClr val="0F172A"/>
                </a:solidFill>
                <a:latin typeface="맑은 고딕"/>
                <a:ea typeface="맑은 고딕"/>
                <a:cs typeface="+mn-lt"/>
              </a:rPr>
              <a:t>5종 해석</a:t>
            </a:r>
            <a:endParaRPr lang="ko-KR" sz="1400" b="1">
              <a:latin typeface="맑은 고딕"/>
              <a:ea typeface="맑은 고딕"/>
              <a:cs typeface="Calibri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CFCCAF3-C0DA-1707-3F61-BE50B21C5473}"/>
              </a:ext>
            </a:extLst>
          </p:cNvPr>
          <p:cNvSpPr txBox="1"/>
          <p:nvPr/>
        </p:nvSpPr>
        <p:spPr>
          <a:xfrm>
            <a:off x="6847839" y="5892703"/>
            <a:ext cx="4572635" cy="270843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lang="ko-KR" altLang="en-US" sz="1400" dirty="0">
                <a:solidFill>
                  <a:srgbClr val="0F172A"/>
                </a:solidFill>
                <a:latin typeface="맑은 고딕"/>
                <a:ea typeface="맑은 고딕"/>
                <a:cs typeface="Calibri"/>
              </a:rPr>
              <a:t>창업</a:t>
            </a:r>
            <a:r>
              <a:rPr lang="en-US" altLang="ko-KR" sz="1400" dirty="0">
                <a:solidFill>
                  <a:srgbClr val="0F172A"/>
                </a:solidFill>
                <a:latin typeface="맑은 고딕"/>
                <a:ea typeface="맑은 고딕"/>
                <a:cs typeface="Calibri"/>
              </a:rPr>
              <a:t> </a:t>
            </a:r>
            <a:r>
              <a:rPr lang="en-US" sz="1400" dirty="0" err="1">
                <a:solidFill>
                  <a:srgbClr val="0F172A"/>
                </a:solidFill>
                <a:latin typeface="맑은 고딕"/>
                <a:ea typeface="맑은 고딕"/>
                <a:cs typeface="Calibri"/>
              </a:rPr>
              <a:t>성공</a:t>
            </a:r>
            <a:r>
              <a:rPr lang="en-US" altLang="ko-KR" sz="1400" dirty="0">
                <a:solidFill>
                  <a:srgbClr val="0F172A"/>
                </a:solidFill>
                <a:latin typeface="맑은 고딕"/>
                <a:ea typeface="맑은 고딕"/>
                <a:cs typeface="Calibri"/>
              </a:rPr>
              <a:t> </a:t>
            </a:r>
            <a:r>
              <a:rPr lang="en-US" sz="1400" dirty="0" err="1">
                <a:solidFill>
                  <a:srgbClr val="0F172A"/>
                </a:solidFill>
                <a:latin typeface="맑은 고딕"/>
                <a:ea typeface="맑은 고딕"/>
                <a:cs typeface="Calibri"/>
              </a:rPr>
              <a:t>예측</a:t>
            </a:r>
            <a:r>
              <a:rPr lang="en-US" altLang="ko-KR" sz="1400" dirty="0">
                <a:solidFill>
                  <a:srgbClr val="0F172A"/>
                </a:solidFill>
                <a:latin typeface="맑은 고딕"/>
                <a:ea typeface="맑은 고딕"/>
                <a:cs typeface="Calibri"/>
              </a:rPr>
              <a:t>, </a:t>
            </a:r>
            <a:r>
              <a:rPr lang="ko-KR" altLang="en-US" sz="1400" dirty="0">
                <a:solidFill>
                  <a:srgbClr val="0F172A"/>
                </a:solidFill>
                <a:latin typeface="맑은 고딕"/>
                <a:ea typeface="맑은 고딕"/>
                <a:cs typeface="Calibri"/>
              </a:rPr>
              <a:t>입지</a:t>
            </a:r>
            <a:r>
              <a:rPr lang="en-US" sz="1400" dirty="0">
                <a:solidFill>
                  <a:srgbClr val="0F172A"/>
                </a:solidFill>
                <a:latin typeface="맑은 고딕"/>
                <a:ea typeface="맑은 고딕"/>
                <a:cs typeface="Calibri"/>
              </a:rPr>
              <a:t> </a:t>
            </a:r>
            <a:r>
              <a:rPr lang="ko-KR" altLang="en-US" sz="1400" dirty="0">
                <a:solidFill>
                  <a:srgbClr val="0F172A"/>
                </a:solidFill>
                <a:latin typeface="맑은 고딕"/>
                <a:ea typeface="맑은 고딕"/>
                <a:cs typeface="Calibri"/>
              </a:rPr>
              <a:t>확정</a:t>
            </a:r>
            <a:endParaRPr lang="ko-KR" sz="1400" dirty="0">
              <a:latin typeface="맑은 고딕"/>
              <a:ea typeface="맑은 고딕"/>
              <a:cs typeface="Calibri"/>
            </a:endParaRPr>
          </a:p>
        </p:txBody>
      </p:sp>
      <p:pic>
        <p:nvPicPr>
          <p:cNvPr id="35" name="그래픽 34" descr="확인 표시 단색으로 채워진">
            <a:extLst>
              <a:ext uri="{FF2B5EF4-FFF2-40B4-BE49-F238E27FC236}">
                <a16:creationId xmlns:a16="http://schemas.microsoft.com/office/drawing/2014/main" id="{FEFA3E59-197A-76D0-B226-25DA5BF12A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5350" y="5458364"/>
            <a:ext cx="781050" cy="800100"/>
          </a:xfrm>
          <a:prstGeom prst="rect">
            <a:avLst/>
          </a:prstGeom>
        </p:spPr>
      </p:pic>
      <p:pic>
        <p:nvPicPr>
          <p:cNvPr id="36" name="그래픽 35" descr="닫기 단색으로 채워진">
            <a:extLst>
              <a:ext uri="{FF2B5EF4-FFF2-40B4-BE49-F238E27FC236}">
                <a16:creationId xmlns:a16="http://schemas.microsoft.com/office/drawing/2014/main" id="{AB33FD7B-442A-BD52-9CD9-C93DD5CDA2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48500" y="5525039"/>
            <a:ext cx="771525" cy="73342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969264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400" b="1">
                <a:solidFill>
                  <a:srgbClr val="0F2340"/>
                </a:solidFill>
                <a:latin typeface="Malgun Gothic"/>
              </a:rPr>
              <a:t>비즈니스 모델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20040"/>
            <a:ext cx="548640" cy="24006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lang="en-US" sz="1200" b="1">
                <a:solidFill>
                  <a:srgbClr val="2563EB"/>
                </a:solidFill>
                <a:latin typeface="Malgun Gothic"/>
              </a:rPr>
              <a:t>14</a:t>
            </a:r>
            <a:endParaRPr sz="1200" b="1">
              <a:solidFill>
                <a:srgbClr val="2563EB"/>
              </a:solidFill>
              <a:latin typeface="Malgun Gothic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969264"/>
            <a:ext cx="11201400" cy="22860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143000"/>
            <a:ext cx="10698480" cy="4401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500" b="1" dirty="0" err="1">
                <a:solidFill>
                  <a:srgbClr val="0F2340"/>
                </a:solidFill>
                <a:latin typeface="Malgun Gothic"/>
              </a:rPr>
              <a:t>현재는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sz="2500" b="1" dirty="0" err="1">
                <a:solidFill>
                  <a:srgbClr val="0F2340"/>
                </a:solidFill>
                <a:latin typeface="Malgun Gothic"/>
              </a:rPr>
              <a:t>무료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sz="2500" b="1" dirty="0" err="1">
                <a:solidFill>
                  <a:srgbClr val="0F2340"/>
                </a:solidFill>
                <a:latin typeface="Malgun Gothic"/>
              </a:rPr>
              <a:t>데모로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sz="2500" b="1" dirty="0" err="1">
                <a:solidFill>
                  <a:srgbClr val="0F2340"/>
                </a:solidFill>
                <a:latin typeface="Malgun Gothic"/>
              </a:rPr>
              <a:t>공개한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 POC </a:t>
            </a:r>
            <a:r>
              <a:rPr sz="2500" b="1" dirty="0" err="1">
                <a:solidFill>
                  <a:srgbClr val="0F2340"/>
                </a:solidFill>
                <a:latin typeface="Malgun Gothic"/>
              </a:rPr>
              <a:t>단계입니다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.</a:t>
            </a:r>
            <a:endParaRPr lang="ko-KR" altLang="en-US" sz="2500" b="1" dirty="0">
              <a:solidFill>
                <a:srgbClr val="0F2340"/>
              </a:solidFill>
              <a:latin typeface="Malgun Gothic"/>
              <a:ea typeface="Malgun Gothic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22960" y="2103120"/>
            <a:ext cx="3246120" cy="271780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2960" y="2103120"/>
            <a:ext cx="73152" cy="27178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4128" y="2267712"/>
            <a:ext cx="2926079" cy="3323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b="1">
                <a:solidFill>
                  <a:srgbClr val="0F2340"/>
                </a:solidFill>
                <a:latin typeface="Malgun Gothic"/>
              </a:rPr>
              <a:t>현재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708258"/>
            <a:ext cx="2926079" cy="1163395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Malgun Gothic"/>
              </a:rPr>
              <a:t>B2C 무료 데모</a:t>
            </a:r>
            <a:br>
              <a:rPr sz="2400"/>
            </a:br>
            <a:br>
              <a:rPr sz="2400"/>
            </a:br>
            <a:r>
              <a:rPr sz="1600" b="0">
                <a:solidFill>
                  <a:srgbClr val="0F172A"/>
                </a:solidFill>
                <a:latin typeface="Malgun Gothic"/>
              </a:rPr>
              <a:t>예비창업자가 직접 지역·품목 탐색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2103120"/>
            <a:ext cx="3246120" cy="271780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26280" y="2103120"/>
            <a:ext cx="73152" cy="2717800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27448" y="2267712"/>
            <a:ext cx="2926079" cy="3323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b="1">
                <a:solidFill>
                  <a:srgbClr val="0F2340"/>
                </a:solidFill>
                <a:latin typeface="Malgun Gothic"/>
              </a:rPr>
              <a:t>다음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2708258"/>
            <a:ext cx="2926079" cy="190205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sz="1600" b="0" dirty="0">
                <a:solidFill>
                  <a:srgbClr val="0F172A"/>
                </a:solidFill>
                <a:latin typeface="Malgun Gothic"/>
              </a:rPr>
              <a:t>B2B </a:t>
            </a:r>
            <a:r>
              <a:rPr sz="1600" b="0" err="1">
                <a:solidFill>
                  <a:srgbClr val="0F172A"/>
                </a:solidFill>
                <a:latin typeface="Malgun Gothic"/>
              </a:rPr>
              <a:t>상담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>
                <a:solidFill>
                  <a:srgbClr val="0F172A"/>
                </a:solidFill>
                <a:latin typeface="Malgun Gothic"/>
              </a:rPr>
              <a:t>도구</a:t>
            </a:r>
            <a:endParaRPr lang="ko-KR" altLang="en-US">
              <a:solidFill>
                <a:srgbClr val="000000"/>
              </a:solidFill>
              <a:latin typeface="Calibri"/>
              <a:ea typeface="맑은 고딕" panose="020B0503020000020004" pitchFamily="34" charset="-127"/>
              <a:cs typeface="Calibri"/>
            </a:endParaRPr>
          </a:p>
          <a:p>
            <a:pPr algn="l"/>
            <a:br>
              <a:rPr sz="2400" dirty="0"/>
            </a:br>
            <a:r>
              <a:rPr sz="1600" b="0">
                <a:solidFill>
                  <a:srgbClr val="0F172A"/>
                </a:solidFill>
                <a:latin typeface="Malgun Gothic"/>
              </a:rPr>
              <a:t>창업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err="1">
                <a:solidFill>
                  <a:srgbClr val="0F172A"/>
                </a:solidFill>
                <a:latin typeface="Malgun Gothic"/>
              </a:rPr>
              <a:t>지원기관·상담사가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err="1">
                <a:solidFill>
                  <a:srgbClr val="0F172A"/>
                </a:solidFill>
                <a:latin typeface="Malgun Gothic"/>
              </a:rPr>
              <a:t>지역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err="1">
                <a:solidFill>
                  <a:srgbClr val="0F172A"/>
                </a:solidFill>
                <a:latin typeface="Malgun Gothic"/>
              </a:rPr>
              <a:t>수요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err="1">
                <a:solidFill>
                  <a:srgbClr val="0F172A"/>
                </a:solidFill>
                <a:latin typeface="Malgun Gothic"/>
              </a:rPr>
              <a:t>리포트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err="1">
                <a:solidFill>
                  <a:srgbClr val="0F172A"/>
                </a:solidFill>
                <a:latin typeface="Malgun Gothic"/>
              </a:rPr>
              <a:t>활용</a:t>
            </a:r>
            <a:endParaRPr lang="ko-KR" altLang="en-US">
              <a:ea typeface="맑은 고딕"/>
              <a:cs typeface="Calibri"/>
            </a:endParaRPr>
          </a:p>
          <a:p>
            <a:endParaRPr lang="ko-KR" sz="1600" dirty="0">
              <a:solidFill>
                <a:srgbClr val="0F172A"/>
              </a:solidFill>
              <a:latin typeface="Malgun Gothic"/>
              <a:ea typeface="Malgun Gothic"/>
            </a:endParaRPr>
          </a:p>
          <a:p>
            <a:r>
              <a:rPr lang="ko-KR" sz="1600">
                <a:solidFill>
                  <a:srgbClr val="0F172A"/>
                </a:solidFill>
                <a:latin typeface="Malgun Gothic"/>
                <a:ea typeface="Malgun Gothic"/>
                <a:cs typeface="+mn-lt"/>
              </a:rPr>
              <a:t>→ 상담 자료 준비 시간</a:t>
            </a:r>
            <a:endParaRPr lang="ko-KR">
              <a:solidFill>
                <a:srgbClr val="000000"/>
              </a:solidFill>
              <a:latin typeface="Calibri"/>
              <a:ea typeface="맑은 고딕" panose="020B0503020000020004" pitchFamily="34" charset="-127"/>
              <a:cs typeface="+mn-lt"/>
            </a:endParaRPr>
          </a:p>
          <a:p>
            <a:r>
              <a:rPr lang="ko-KR" altLang="en-US" sz="1600">
                <a:solidFill>
                  <a:srgbClr val="0F172A"/>
                </a:solidFill>
                <a:latin typeface="Malgun Gothic"/>
                <a:ea typeface="Malgun Gothic"/>
                <a:cs typeface="+mn-lt"/>
              </a:rPr>
              <a:t> </a:t>
            </a:r>
            <a:r>
              <a:rPr lang="ko-KR" sz="1600">
                <a:solidFill>
                  <a:srgbClr val="0F172A"/>
                </a:solidFill>
                <a:latin typeface="Malgun Gothic"/>
                <a:ea typeface="Malgun Gothic"/>
                <a:cs typeface="+mn-lt"/>
              </a:rPr>
              <a:t>단축 · 후보 지역 압축</a:t>
            </a:r>
            <a:endParaRPr lang="ko-KR">
              <a:ea typeface="맑은 고딕"/>
              <a:cs typeface="Calibri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229600" y="2103120"/>
            <a:ext cx="3246120" cy="271780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29600" y="2103120"/>
            <a:ext cx="73152" cy="2717800"/>
          </a:xfrm>
          <a:prstGeom prst="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30768" y="2267712"/>
            <a:ext cx="2926079" cy="3323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b="1">
                <a:solidFill>
                  <a:srgbClr val="0F2340"/>
                </a:solidFill>
                <a:latin typeface="Malgun Gothic"/>
              </a:rPr>
              <a:t>확장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0768" y="2708258"/>
            <a:ext cx="2926079" cy="1163395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Malgun Gothic"/>
              </a:rPr>
              <a:t>플랫폼 연계</a:t>
            </a:r>
            <a:br>
              <a:rPr sz="2400"/>
            </a:br>
            <a:br>
              <a:rPr sz="2400"/>
            </a:br>
            <a:r>
              <a:rPr sz="1600" b="0">
                <a:solidFill>
                  <a:srgbClr val="0F172A"/>
                </a:solidFill>
                <a:latin typeface="Malgun Gothic"/>
              </a:rPr>
              <a:t>납품업체 영업 거점·지자체 정책 자료로 확대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8C402D46-D6BB-53A0-D47A-5EA3A6C9BA77}"/>
              </a:ext>
            </a:extLst>
          </p:cNvPr>
          <p:cNvSpPr/>
          <p:nvPr/>
        </p:nvSpPr>
        <p:spPr>
          <a:xfrm>
            <a:off x="1967230" y="5168265"/>
            <a:ext cx="8290560" cy="9144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A4479F2-30E5-31D5-A0BB-212067B255F1}"/>
              </a:ext>
            </a:extLst>
          </p:cNvPr>
          <p:cNvSpPr txBox="1"/>
          <p:nvPr/>
        </p:nvSpPr>
        <p:spPr>
          <a:xfrm>
            <a:off x="1971675" y="5274965"/>
            <a:ext cx="8258175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2000" dirty="0">
                <a:solidFill>
                  <a:schemeClr val="bg1"/>
                </a:solidFill>
                <a:latin typeface="Malgun Gothic"/>
                <a:ea typeface="Malgun Gothic"/>
                <a:cs typeface="Courier New"/>
              </a:rPr>
              <a:t>핵심 수익화 방향은 </a:t>
            </a:r>
            <a:r>
              <a:rPr lang="ko-KR" altLang="en-US" sz="2000" b="1" dirty="0">
                <a:solidFill>
                  <a:schemeClr val="bg1"/>
                </a:solidFill>
                <a:latin typeface="Malgun Gothic"/>
                <a:ea typeface="Malgun Gothic"/>
                <a:cs typeface="Courier New"/>
              </a:rPr>
              <a:t>창업 상담기관</a:t>
            </a:r>
            <a:r>
              <a:rPr lang="ko-KR" altLang="en-US" sz="2000" dirty="0">
                <a:solidFill>
                  <a:schemeClr val="bg1"/>
                </a:solidFill>
                <a:latin typeface="Malgun Gothic"/>
                <a:ea typeface="Malgun Gothic"/>
                <a:cs typeface="Courier New"/>
              </a:rPr>
              <a:t> 및 </a:t>
            </a:r>
            <a:r>
              <a:rPr lang="ko-KR" altLang="en-US" sz="2000" b="1" dirty="0">
                <a:solidFill>
                  <a:schemeClr val="bg1"/>
                </a:solidFill>
                <a:latin typeface="Malgun Gothic"/>
                <a:ea typeface="Malgun Gothic"/>
                <a:cs typeface="Courier New"/>
              </a:rPr>
              <a:t>소상공인 지원센터</a:t>
            </a:r>
            <a:r>
              <a:rPr lang="ko-KR" altLang="en-US" sz="2000">
                <a:solidFill>
                  <a:schemeClr val="bg1"/>
                </a:solidFill>
                <a:latin typeface="Malgun Gothic"/>
                <a:ea typeface="Malgun Gothic"/>
                <a:cs typeface="Courier New"/>
              </a:rPr>
              <a:t> 대상의</a:t>
            </a:r>
            <a:endParaRPr lang="ko-KR">
              <a:solidFill>
                <a:schemeClr val="bg1"/>
              </a:solidFill>
            </a:endParaRPr>
          </a:p>
          <a:p>
            <a:pPr algn="ctr"/>
            <a:r>
              <a:rPr lang="ko-KR" altLang="en-US" sz="2000" dirty="0">
                <a:solidFill>
                  <a:schemeClr val="bg1"/>
                </a:solidFill>
                <a:latin typeface="Malgun Gothic"/>
                <a:ea typeface="Malgun Gothic"/>
                <a:cs typeface="Courier New"/>
              </a:rPr>
              <a:t> 상담 </a:t>
            </a:r>
            <a:r>
              <a:rPr lang="ko-KR" altLang="en-US" sz="2000">
                <a:solidFill>
                  <a:schemeClr val="bg1"/>
                </a:solidFill>
                <a:latin typeface="Malgun Gothic"/>
                <a:ea typeface="Malgun Gothic"/>
                <a:cs typeface="Courier New"/>
              </a:rPr>
              <a:t>보조 리포트/도구입니다.</a:t>
            </a:r>
            <a:endParaRPr lang="ko-KR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969264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400" b="1">
                <a:solidFill>
                  <a:srgbClr val="0F2340"/>
                </a:solidFill>
                <a:latin typeface="Malgun Gothic"/>
              </a:rPr>
              <a:t>기대 효과와 한계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20040"/>
            <a:ext cx="548640" cy="24006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lang="en-US" sz="1200" b="1">
                <a:solidFill>
                  <a:srgbClr val="2563EB"/>
                </a:solidFill>
                <a:latin typeface="Malgun Gothic"/>
              </a:rPr>
              <a:t>15</a:t>
            </a:r>
            <a:endParaRPr sz="1200" b="1">
              <a:solidFill>
                <a:srgbClr val="2563EB"/>
              </a:solidFill>
              <a:latin typeface="Malgun Gothic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969264"/>
            <a:ext cx="11201400" cy="22860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143000"/>
            <a:ext cx="10698480" cy="82484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sz="2500" b="1" dirty="0">
                <a:solidFill>
                  <a:srgbClr val="0F2340"/>
                </a:solidFill>
                <a:latin typeface="Malgun Gothic"/>
              </a:rPr>
              <a:t>이 </a:t>
            </a:r>
            <a:r>
              <a:rPr sz="2500" b="1" dirty="0" err="1">
                <a:solidFill>
                  <a:srgbClr val="0F2340"/>
                </a:solidFill>
                <a:latin typeface="Malgun Gothic"/>
              </a:rPr>
              <a:t>서비스는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sz="2500" b="1" dirty="0" err="1">
                <a:solidFill>
                  <a:srgbClr val="0F2340"/>
                </a:solidFill>
                <a:latin typeface="Malgun Gothic"/>
              </a:rPr>
              <a:t>공공수요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sz="2500" b="1" dirty="0" err="1">
                <a:solidFill>
                  <a:srgbClr val="0F2340"/>
                </a:solidFill>
                <a:latin typeface="Malgun Gothic"/>
              </a:rPr>
              <a:t>관점의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sz="2500" b="1" dirty="0" err="1">
                <a:solidFill>
                  <a:srgbClr val="0F2340"/>
                </a:solidFill>
                <a:latin typeface="Malgun Gothic"/>
              </a:rPr>
              <a:t>참고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sz="2500" b="1" dirty="0" err="1">
                <a:solidFill>
                  <a:srgbClr val="0F2340"/>
                </a:solidFill>
                <a:latin typeface="Malgun Gothic"/>
              </a:rPr>
              <a:t>자료이며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, </a:t>
            </a:r>
            <a:endParaRPr lang="ko-KR" altLang="en-US" sz="2500" b="1" dirty="0">
              <a:solidFill>
                <a:srgbClr val="0F2340"/>
              </a:solidFill>
              <a:latin typeface="Malgun Gothic"/>
            </a:endParaRPr>
          </a:p>
          <a:p>
            <a:pPr algn="l"/>
            <a:r>
              <a:rPr sz="2500" b="1">
                <a:solidFill>
                  <a:srgbClr val="0F2340"/>
                </a:solidFill>
                <a:latin typeface="Malgun Gothic"/>
              </a:rPr>
              <a:t>창업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sz="2500" b="1" err="1">
                <a:solidFill>
                  <a:srgbClr val="0F2340"/>
                </a:solidFill>
                <a:latin typeface="Malgun Gothic"/>
              </a:rPr>
              <a:t>성공을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sz="2500" b="1" err="1">
                <a:solidFill>
                  <a:srgbClr val="0F2340"/>
                </a:solidFill>
                <a:latin typeface="Malgun Gothic"/>
              </a:rPr>
              <a:t>예측하지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sz="2500" b="1" err="1">
                <a:solidFill>
                  <a:srgbClr val="0F2340"/>
                </a:solidFill>
                <a:latin typeface="Malgun Gothic"/>
              </a:rPr>
              <a:t>않습니다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.</a:t>
            </a:r>
            <a:endParaRPr lang="ko-KR" altLang="en-US" sz="2500" b="1">
              <a:solidFill>
                <a:srgbClr val="0F2340"/>
              </a:solidFill>
              <a:latin typeface="Malgun Gothic"/>
              <a:ea typeface="Malgun Gothic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22960" y="2095500"/>
            <a:ext cx="5166360" cy="274320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2960" y="2095500"/>
            <a:ext cx="73152" cy="27432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4128" y="2260092"/>
            <a:ext cx="4846320" cy="3323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b="1">
                <a:solidFill>
                  <a:srgbClr val="0F2340"/>
                </a:solidFill>
                <a:latin typeface="Malgun Gothic"/>
              </a:rPr>
              <a:t>기대 효과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779395"/>
            <a:ext cx="4846320" cy="1532727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Malgun Gothic"/>
              </a:rPr>
              <a:t>공공조달 시장 진입 전 지역·품목 수요를 사전 검토</a:t>
            </a:r>
            <a:br>
              <a:rPr sz="2400"/>
            </a:br>
            <a:br>
              <a:rPr sz="2400"/>
            </a:br>
            <a:r>
              <a:rPr sz="1600" b="0">
                <a:solidFill>
                  <a:srgbClr val="0F172A"/>
                </a:solidFill>
                <a:latin typeface="Malgun Gothic"/>
              </a:rPr>
              <a:t>4개 공공데이터 결합으로 다각도 분석 제공</a:t>
            </a:r>
            <a:br>
              <a:rPr sz="2400"/>
            </a:br>
            <a:br>
              <a:rPr sz="2400"/>
            </a:br>
            <a:r>
              <a:rPr sz="1600" b="0">
                <a:solidFill>
                  <a:srgbClr val="0F172A"/>
                </a:solidFill>
                <a:latin typeface="Malgun Gothic"/>
              </a:rPr>
              <a:t>상담 현장에서 지역별 수요 리포트로 활용 가능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095500"/>
            <a:ext cx="5166360" cy="274320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55080" y="2095500"/>
            <a:ext cx="73152" cy="2743200"/>
          </a:xfrm>
          <a:prstGeom prst="rect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56248" y="2260092"/>
            <a:ext cx="4846320" cy="3323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b="1" dirty="0" err="1">
                <a:solidFill>
                  <a:srgbClr val="0F2340"/>
                </a:solidFill>
                <a:latin typeface="Malgun Gothic"/>
              </a:rPr>
              <a:t>현재</a:t>
            </a:r>
            <a:r>
              <a:rPr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b="1" dirty="0" err="1">
                <a:solidFill>
                  <a:srgbClr val="0F2340"/>
                </a:solidFill>
                <a:latin typeface="Malgun Gothic"/>
              </a:rPr>
              <a:t>한계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6248" y="2779395"/>
            <a:ext cx="4846320" cy="1532727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0" dirty="0" err="1">
                <a:solidFill>
                  <a:srgbClr val="0F172A"/>
                </a:solidFill>
                <a:latin typeface="Malgun Gothic"/>
              </a:rPr>
              <a:t>공공조달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B2G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관점만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반영</a:t>
            </a:r>
            <a:br>
              <a:rPr sz="2400"/>
            </a:br>
            <a:br>
              <a:rPr sz="2400"/>
            </a:br>
            <a:r>
              <a:rPr sz="1600" b="0" dirty="0" err="1">
                <a:solidFill>
                  <a:srgbClr val="0F172A"/>
                </a:solidFill>
                <a:latin typeface="Malgun Gothic"/>
              </a:rPr>
              <a:t>민간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수요와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실사용자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피드백은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추가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필요</a:t>
            </a:r>
            <a:br>
              <a:rPr sz="2400"/>
            </a:br>
            <a:br>
              <a:rPr sz="2400"/>
            </a:br>
            <a:r>
              <a:rPr sz="1600" b="0" dirty="0" err="1">
                <a:solidFill>
                  <a:srgbClr val="0F172A"/>
                </a:solidFill>
                <a:latin typeface="Malgun Gothic"/>
              </a:rPr>
              <a:t>서비스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내에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한계를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명시해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과해석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방지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D5561496-4D27-73E0-945D-812B74467CC7}"/>
              </a:ext>
            </a:extLst>
          </p:cNvPr>
          <p:cNvSpPr/>
          <p:nvPr/>
        </p:nvSpPr>
        <p:spPr>
          <a:xfrm>
            <a:off x="1967230" y="5168265"/>
            <a:ext cx="8290560" cy="9144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567F20-CDC0-DC15-4240-1BB30D782D21}"/>
              </a:ext>
            </a:extLst>
          </p:cNvPr>
          <p:cNvSpPr txBox="1"/>
          <p:nvPr/>
        </p:nvSpPr>
        <p:spPr>
          <a:xfrm>
            <a:off x="1971675" y="5274965"/>
            <a:ext cx="8258175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2000">
                <a:solidFill>
                  <a:schemeClr val="bg1"/>
                </a:solidFill>
                <a:latin typeface="Malgun Gothic"/>
                <a:ea typeface="Malgun Gothic"/>
                <a:cs typeface="Courier New"/>
              </a:rPr>
              <a:t>감에 의존한 </a:t>
            </a:r>
            <a:r>
              <a:rPr lang="ko-KR" altLang="en-US" sz="2000" b="1">
                <a:solidFill>
                  <a:schemeClr val="bg1"/>
                </a:solidFill>
                <a:latin typeface="Malgun Gothic"/>
                <a:ea typeface="Malgun Gothic"/>
                <a:cs typeface="Courier New"/>
              </a:rPr>
              <a:t>입지 선택</a:t>
            </a:r>
            <a:r>
              <a:rPr lang="ko-KR" altLang="en-US" sz="2000">
                <a:solidFill>
                  <a:schemeClr val="bg1"/>
                </a:solidFill>
                <a:latin typeface="Malgun Gothic"/>
                <a:ea typeface="Malgun Gothic"/>
                <a:cs typeface="Courier New"/>
              </a:rPr>
              <a:t>을 </a:t>
            </a:r>
            <a:r>
              <a:rPr lang="ko-KR" altLang="en-US" sz="2000" b="1">
                <a:solidFill>
                  <a:schemeClr val="bg1"/>
                </a:solidFill>
                <a:latin typeface="Malgun Gothic"/>
                <a:ea typeface="Malgun Gothic"/>
                <a:cs typeface="Courier New"/>
              </a:rPr>
              <a:t>데이터 기반 사전 검토</a:t>
            </a:r>
            <a:r>
              <a:rPr lang="ko-KR" altLang="en-US" sz="2000">
                <a:solidFill>
                  <a:schemeClr val="bg1"/>
                </a:solidFill>
                <a:latin typeface="Malgun Gothic"/>
                <a:ea typeface="Malgun Gothic"/>
                <a:cs typeface="Courier New"/>
              </a:rPr>
              <a:t>로 바꾸는</a:t>
            </a:r>
            <a:endParaRPr lang="ko-KR" altLang="en-US" sz="2000" dirty="0">
              <a:solidFill>
                <a:schemeClr val="bg1"/>
              </a:solidFill>
              <a:latin typeface="Malgun Gothic"/>
              <a:ea typeface="Malgun Gothic"/>
              <a:cs typeface="Courier New"/>
            </a:endParaRPr>
          </a:p>
          <a:p>
            <a:pPr algn="ctr"/>
            <a:r>
              <a:rPr lang="ko-KR" altLang="en-US" sz="2000">
                <a:solidFill>
                  <a:schemeClr val="bg1"/>
                </a:solidFill>
                <a:latin typeface="Malgun Gothic"/>
                <a:ea typeface="Malgun Gothic"/>
                <a:cs typeface="Courier New"/>
              </a:rPr>
              <a:t> 첫 걸음입니다.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5005B3-7596-656F-994D-5DACC9D6B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D27E4C0-C08A-ED69-90DB-79B2489FDC57}"/>
              </a:ext>
            </a:extLst>
          </p:cNvPr>
          <p:cNvSpPr/>
          <p:nvPr/>
        </p:nvSpPr>
        <p:spPr>
          <a:xfrm>
            <a:off x="9293" y="0"/>
            <a:ext cx="12191695" cy="6858000"/>
          </a:xfrm>
          <a:prstGeom prst="rect">
            <a:avLst/>
          </a:prstGeom>
          <a:solidFill>
            <a:srgbClr val="F0F7FF"/>
          </a:solidFill>
          <a:ln>
            <a:solidFill>
              <a:srgbClr val="F0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42D851A-2471-F8FB-98E9-7628690E8439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C45B8D-BC32-5C58-0D90-7774ADBB2BE1}"/>
              </a:ext>
            </a:extLst>
          </p:cNvPr>
          <p:cNvSpPr txBox="1"/>
          <p:nvPr/>
        </p:nvSpPr>
        <p:spPr>
          <a:xfrm>
            <a:off x="685800" y="713232"/>
            <a:ext cx="10789920" cy="38404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>
                <a:solidFill>
                  <a:srgbClr val="1D4ED8"/>
                </a:solidFill>
                <a:latin typeface="Malgun Gothic"/>
              </a:rPr>
              <a:t>2026 공공조달데이터·AI 활용 창업경진대회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8BC9DE-A93D-4101-2E78-8A1004CE460E}"/>
              </a:ext>
            </a:extLst>
          </p:cNvPr>
          <p:cNvSpPr txBox="1"/>
          <p:nvPr/>
        </p:nvSpPr>
        <p:spPr>
          <a:xfrm>
            <a:off x="1447799" y="3424540"/>
            <a:ext cx="3809630" cy="79406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400" b="1">
                <a:solidFill>
                  <a:srgbClr val="0F2340"/>
                </a:solidFill>
                <a:latin typeface="Malgun Gothic"/>
              </a:rPr>
              <a:t>공공조달</a:t>
            </a:r>
            <a:r>
              <a:rPr sz="2400"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sz="2400" b="1">
                <a:solidFill>
                  <a:srgbClr val="0F2340"/>
                </a:solidFill>
                <a:latin typeface="Malgun Gothic"/>
              </a:rPr>
              <a:t>수요</a:t>
            </a:r>
            <a:r>
              <a:rPr sz="2400"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sz="2400" b="1">
                <a:solidFill>
                  <a:srgbClr val="0F2340"/>
                </a:solidFill>
                <a:latin typeface="Malgun Gothic"/>
              </a:rPr>
              <a:t>기반</a:t>
            </a:r>
            <a:br>
              <a:rPr sz="1100" dirty="0"/>
            </a:br>
            <a:r>
              <a:rPr sz="2400" b="1">
                <a:solidFill>
                  <a:srgbClr val="0F2340"/>
                </a:solidFill>
                <a:latin typeface="Malgun Gothic"/>
              </a:rPr>
              <a:t>창업</a:t>
            </a:r>
            <a:r>
              <a:rPr sz="2400"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sz="2400" b="1">
                <a:solidFill>
                  <a:srgbClr val="0F2340"/>
                </a:solidFill>
                <a:latin typeface="Malgun Gothic"/>
              </a:rPr>
              <a:t>입지·물류</a:t>
            </a:r>
            <a:r>
              <a:rPr sz="2400"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sz="2400" b="1">
                <a:solidFill>
                  <a:srgbClr val="0F2340"/>
                </a:solidFill>
                <a:latin typeface="Malgun Gothic"/>
              </a:rPr>
              <a:t>거점</a:t>
            </a:r>
            <a:r>
              <a:rPr sz="2400"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sz="2400" b="1">
                <a:solidFill>
                  <a:srgbClr val="0F2340"/>
                </a:solidFill>
                <a:latin typeface="Malgun Gothic"/>
              </a:rPr>
              <a:t>분석</a:t>
            </a:r>
            <a:endParaRPr lang="ko-KR" altLang="en-US" sz="2800" b="1">
              <a:solidFill>
                <a:srgbClr val="0F2340"/>
              </a:solidFill>
              <a:latin typeface="Malgun Gothic"/>
              <a:ea typeface="Malgun Gothic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CCEEDE-5EFB-9489-F756-12D336763018}"/>
              </a:ext>
            </a:extLst>
          </p:cNvPr>
          <p:cNvSpPr txBox="1"/>
          <p:nvPr/>
        </p:nvSpPr>
        <p:spPr>
          <a:xfrm>
            <a:off x="1159281" y="1636627"/>
            <a:ext cx="9875520" cy="107106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lang="ko-KR" altLang="en-US" sz="6600" b="1">
                <a:solidFill>
                  <a:srgbClr val="0F172A"/>
                </a:solidFill>
                <a:latin typeface="Malgun Gothic"/>
                <a:ea typeface="Malgun Gothic"/>
              </a:rPr>
              <a:t>감사합니다.</a:t>
            </a:r>
            <a:endParaRPr lang="ko-KR" sz="6600">
              <a:ea typeface="맑은 고딕"/>
              <a:cs typeface="Calibri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F22964C-D164-0E77-CBC9-99EAC5BE7BA1}"/>
              </a:ext>
            </a:extLst>
          </p:cNvPr>
          <p:cNvSpPr txBox="1"/>
          <p:nvPr/>
        </p:nvSpPr>
        <p:spPr>
          <a:xfrm>
            <a:off x="685800" y="5989320"/>
            <a:ext cx="45720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1">
                <a:solidFill>
                  <a:srgbClr val="0F2340"/>
                </a:solidFill>
                <a:latin typeface="Malgun Gothic"/>
              </a:rPr>
              <a:t>발표자  모세종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20CA912-CAB4-8F79-3149-5D161F90F48E}"/>
              </a:ext>
            </a:extLst>
          </p:cNvPr>
          <p:cNvSpPr txBox="1"/>
          <p:nvPr/>
        </p:nvSpPr>
        <p:spPr>
          <a:xfrm>
            <a:off x="8229600" y="5989320"/>
            <a:ext cx="32918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200" b="0">
                <a:solidFill>
                  <a:srgbClr val="64748B"/>
                </a:solidFill>
                <a:latin typeface="Malgun Gothic"/>
              </a:rPr>
              <a:t>발표 10분 + Q&amp;A 5분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754BD7E-15CD-F065-236B-1F39F6311B20}"/>
              </a:ext>
            </a:extLst>
          </p:cNvPr>
          <p:cNvSpPr txBox="1"/>
          <p:nvPr/>
        </p:nvSpPr>
        <p:spPr>
          <a:xfrm>
            <a:off x="1273561" y="6344113"/>
            <a:ext cx="5322848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sz="1400" dirty="0">
                <a:ea typeface="+mn-lt"/>
                <a:cs typeface="+mn-lt"/>
              </a:rPr>
              <a:t>https://github.com/mosejong/procurement-logistics-ai</a:t>
            </a:r>
            <a:endParaRPr lang="ko-KR" sz="1400">
              <a:ea typeface="맑은 고딕"/>
              <a:cs typeface="Calibri"/>
            </a:endParaRPr>
          </a:p>
        </p:txBody>
      </p:sp>
      <p:pic>
        <p:nvPicPr>
          <p:cNvPr id="19" name="그림 18" descr="패턴, 사각형, 그래픽, 픽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DCB6D27-99B8-5A8D-34C1-E993C7F87C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4317" y="3317488"/>
            <a:ext cx="2518318" cy="2518318"/>
          </a:xfrm>
          <a:prstGeom prst="rect">
            <a:avLst/>
          </a:prstGeom>
        </p:spPr>
      </p:pic>
      <p:sp>
        <p:nvSpPr>
          <p:cNvPr id="20" name="화살표: 오른쪽 19">
            <a:extLst>
              <a:ext uri="{FF2B5EF4-FFF2-40B4-BE49-F238E27FC236}">
                <a16:creationId xmlns:a16="http://schemas.microsoft.com/office/drawing/2014/main" id="{C4BCFE37-F8B1-7C7C-7855-A4C80A8B65B3}"/>
              </a:ext>
            </a:extLst>
          </p:cNvPr>
          <p:cNvSpPr/>
          <p:nvPr/>
        </p:nvSpPr>
        <p:spPr>
          <a:xfrm>
            <a:off x="5829820" y="3818587"/>
            <a:ext cx="2725433" cy="1664802"/>
          </a:xfrm>
          <a:prstGeom prst="rightArrow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A3C3164-68E5-CDA8-B186-EB7CAB3AD792}"/>
              </a:ext>
            </a:extLst>
          </p:cNvPr>
          <p:cNvSpPr txBox="1"/>
          <p:nvPr/>
        </p:nvSpPr>
        <p:spPr>
          <a:xfrm>
            <a:off x="6099948" y="4233513"/>
            <a:ext cx="2157064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400" b="1">
                <a:ea typeface="맑은 고딕"/>
                <a:cs typeface="Calibri"/>
              </a:rPr>
              <a:t>라이브 데모</a:t>
            </a:r>
            <a:endParaRPr lang="ko-KR" sz="2400" b="1">
              <a:ea typeface="맑은 고딕"/>
              <a:cs typeface="Calibri"/>
            </a:endParaRPr>
          </a:p>
          <a:p>
            <a:r>
              <a:rPr lang="ko-KR" altLang="en-US" sz="2400" b="1">
                <a:ea typeface="맑은 고딕"/>
                <a:cs typeface="Calibri"/>
              </a:rPr>
              <a:t>바로가기</a:t>
            </a:r>
            <a:endParaRPr lang="ko-KR" altLang="en-US" b="1" dirty="0">
              <a:ea typeface="맑은 고딕"/>
              <a:cs typeface="Calibri"/>
            </a:endParaRPr>
          </a:p>
        </p:txBody>
      </p:sp>
      <p:pic>
        <p:nvPicPr>
          <p:cNvPr id="22" name="그림 21" descr="로고, 텍스트, 그래픽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D014788-0B9D-E926-C005-363147A0AD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545" t="17087" r="26515" b="16667"/>
          <a:stretch>
            <a:fillRect/>
          </a:stretch>
        </p:blipFill>
        <p:spPr>
          <a:xfrm>
            <a:off x="688202" y="6257021"/>
            <a:ext cx="542584" cy="480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0658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914400"/>
            <a:ext cx="960120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3200" b="1">
                <a:solidFill>
                  <a:srgbClr val="0F2340"/>
                </a:solidFill>
                <a:latin typeface="Malgun Gothic"/>
              </a:rPr>
              <a:t>부록: 예상 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737360"/>
            <a:ext cx="9601200" cy="34747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Malgun Gothic"/>
              </a:rPr>
              <a:t>심사 기준 5개에 맞춘 질문과 답변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514600"/>
            <a:ext cx="201168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>
                <a:solidFill>
                  <a:srgbClr val="1D4ED8"/>
                </a:solidFill>
                <a:latin typeface="Malgun Gothic"/>
              </a:rPr>
              <a:t>기술성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71800" y="2514600"/>
            <a:ext cx="7498079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Malgun Gothic"/>
              </a:rPr>
              <a:t>분류 모델 검증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108960"/>
            <a:ext cx="201168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>
                <a:solidFill>
                  <a:srgbClr val="1D4ED8"/>
                </a:solidFill>
                <a:latin typeface="Malgun Gothic"/>
              </a:rPr>
              <a:t>공공데이터 활용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71800" y="3108960"/>
            <a:ext cx="7498079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Malgun Gothic"/>
              </a:rPr>
              <a:t>4개 API 결합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703320"/>
            <a:ext cx="201168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>
                <a:solidFill>
                  <a:srgbClr val="1D4ED8"/>
                </a:solidFill>
                <a:latin typeface="Malgun Gothic"/>
              </a:rPr>
              <a:t>독창성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3703320"/>
            <a:ext cx="7498079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Malgun Gothic"/>
              </a:rPr>
              <a:t>나라장터/상권분석과 차별점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297680"/>
            <a:ext cx="201168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>
                <a:solidFill>
                  <a:srgbClr val="1D4ED8"/>
                </a:solidFill>
                <a:latin typeface="Malgun Gothic"/>
              </a:rPr>
              <a:t>발전 가능성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800" y="4297680"/>
            <a:ext cx="7498079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Malgun Gothic"/>
              </a:rPr>
              <a:t>B2G 이후 확장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892040"/>
            <a:ext cx="201168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>
                <a:solidFill>
                  <a:srgbClr val="1D4ED8"/>
                </a:solidFill>
                <a:latin typeface="Malgun Gothic"/>
              </a:rPr>
              <a:t>효과성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4892040"/>
            <a:ext cx="7498079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Malgun Gothic"/>
              </a:rPr>
              <a:t>사용자 피드백 계획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969264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400" b="1">
                <a:solidFill>
                  <a:srgbClr val="0F2340"/>
                </a:solidFill>
                <a:latin typeface="Malgun Gothic"/>
              </a:rPr>
              <a:t>Q1. 기술성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987552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Malgun Gothic"/>
              </a:rPr>
              <a:t>ML 분류 모델 정확도 98.6%의 검증 방법은?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20040"/>
            <a:ext cx="548640" cy="2560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Malgun Gothic"/>
              </a:rPr>
              <a:t>15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9264"/>
            <a:ext cx="11201400" cy="22860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508760"/>
            <a:ext cx="10698480" cy="43891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300" b="1">
                <a:solidFill>
                  <a:srgbClr val="0F2340"/>
                </a:solidFill>
                <a:latin typeface="Malgun Gothic"/>
              </a:rPr>
              <a:t>ML 분류 모델 정확도 98.6%의 검증 방법은?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331720"/>
            <a:ext cx="10561320" cy="310896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2960" y="2331720"/>
            <a:ext cx="73152" cy="310896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4128" y="2496312"/>
            <a:ext cx="10241280" cy="2560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700" b="1">
                <a:solidFill>
                  <a:srgbClr val="0F2340"/>
                </a:solidFill>
                <a:latin typeface="Malgun Gothic"/>
              </a:rPr>
              <a:t>답변 초안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3029785"/>
            <a:ext cx="10241280" cy="128650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ko-KR" sz="1600">
                <a:solidFill>
                  <a:srgbClr val="0F172A"/>
                </a:solidFill>
                <a:latin typeface="Malgun Gothic"/>
                <a:ea typeface="Malgun Gothic"/>
                <a:cs typeface="+mn-lt"/>
              </a:rPr>
              <a:t>전체 </a:t>
            </a:r>
            <a:r>
              <a:rPr lang="en-US" altLang="ko-KR" sz="1600" dirty="0">
                <a:solidFill>
                  <a:srgbClr val="0F172A"/>
                </a:solidFill>
                <a:latin typeface="Malgun Gothic"/>
                <a:ea typeface="Malgun Gothic"/>
                <a:cs typeface="+mn-lt"/>
              </a:rPr>
              <a:t>100,083</a:t>
            </a:r>
            <a:r>
              <a:rPr lang="ko-KR" sz="1600" dirty="0">
                <a:solidFill>
                  <a:srgbClr val="0F172A"/>
                </a:solidFill>
                <a:latin typeface="Malgun Gothic"/>
                <a:ea typeface="Malgun Gothic"/>
                <a:cs typeface="+mn-lt"/>
              </a:rPr>
              <a:t>건 중 </a:t>
            </a:r>
            <a:r>
              <a:rPr lang="en-US" altLang="ko-KR" sz="1600" dirty="0">
                <a:solidFill>
                  <a:srgbClr val="0F172A"/>
                </a:solidFill>
                <a:latin typeface="Malgun Gothic"/>
                <a:ea typeface="Malgun Gothic"/>
                <a:cs typeface="+mn-lt"/>
              </a:rPr>
              <a:t>86.9%(</a:t>
            </a:r>
            <a:r>
              <a:rPr lang="en-US" altLang="ko-KR" sz="1600" b="0" dirty="0">
                <a:solidFill>
                  <a:srgbClr val="0F172A"/>
                </a:solidFill>
                <a:latin typeface="Malgun Gothic"/>
                <a:ea typeface="Malgun Gothic"/>
                <a:cs typeface="+mn-lt"/>
              </a:rPr>
              <a:t>86,991</a:t>
            </a:r>
            <a:r>
              <a:rPr lang="ko-KR" sz="1600" dirty="0">
                <a:solidFill>
                  <a:srgbClr val="0F172A"/>
                </a:solidFill>
                <a:latin typeface="Malgun Gothic"/>
                <a:ea typeface="Malgun Gothic"/>
                <a:cs typeface="+mn-lt"/>
              </a:rPr>
              <a:t>건</a:t>
            </a:r>
            <a:r>
              <a:rPr lang="en-US" altLang="ko-KR" sz="1600" dirty="0">
                <a:solidFill>
                  <a:srgbClr val="0F172A"/>
                </a:solidFill>
                <a:latin typeface="Malgun Gothic"/>
                <a:ea typeface="Malgun Gothic"/>
                <a:cs typeface="+mn-lt"/>
              </a:rPr>
              <a:t>)</a:t>
            </a:r>
            <a:r>
              <a:rPr lang="ko-KR" sz="1600">
                <a:solidFill>
                  <a:srgbClr val="0F172A"/>
                </a:solidFill>
                <a:latin typeface="Malgun Gothic"/>
                <a:ea typeface="Malgun Gothic"/>
                <a:cs typeface="+mn-lt"/>
              </a:rPr>
              <a:t>를 학습 데이터로 사용했습니다</a:t>
            </a:r>
            <a:r>
              <a:rPr lang="en-US" altLang="ko-KR" sz="1600">
                <a:solidFill>
                  <a:srgbClr val="0F172A"/>
                </a:solidFill>
                <a:latin typeface="Malgun Gothic"/>
                <a:ea typeface="Malgun Gothic"/>
                <a:cs typeface="+mn-lt"/>
              </a:rPr>
              <a:t>.</a:t>
            </a:r>
            <a:r>
              <a:rPr lang="ko-KR" altLang="en-US" sz="1600" dirty="0">
                <a:solidFill>
                  <a:srgbClr val="0F172A"/>
                </a:solidFill>
                <a:latin typeface="Malgun Gothic"/>
                <a:ea typeface="Malgun Gothic"/>
              </a:rPr>
              <a:t> </a:t>
            </a:r>
            <a:r>
              <a:rPr sz="1600" b="0">
                <a:solidFill>
                  <a:srgbClr val="0F172A"/>
                </a:solidFill>
                <a:latin typeface="Malgun Gothic"/>
              </a:rPr>
              <a:t>TF-IDF + Logistic Regression을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사용했고, </a:t>
            </a:r>
            <a:endParaRPr lang="ko-KR" altLang="en-US" sz="2000">
              <a:ea typeface="맑은 고딕"/>
              <a:cs typeface="Calibri"/>
            </a:endParaRPr>
          </a:p>
          <a:p>
            <a:pPr algn="l"/>
            <a:r>
              <a:rPr sz="1600" b="0" dirty="0" err="1">
                <a:solidFill>
                  <a:srgbClr val="0F172A"/>
                </a:solidFill>
                <a:latin typeface="Malgun Gothic"/>
              </a:rPr>
              <a:t>신뢰도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기준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미달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공고는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기타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/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미분류로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남겨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과신뢰를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방지했습니다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.</a:t>
            </a:r>
            <a:endParaRPr sz="2000"/>
          </a:p>
          <a:p>
            <a:endParaRPr lang="ko-KR" sz="1600" dirty="0">
              <a:solidFill>
                <a:srgbClr val="0F172A"/>
              </a:solidFill>
              <a:latin typeface="Malgun Gothic"/>
              <a:ea typeface="Malgun Gothic"/>
            </a:endParaRPr>
          </a:p>
          <a:p>
            <a:r>
              <a:rPr lang="ko-KR" sz="1600">
                <a:solidFill>
                  <a:srgbClr val="0F172A"/>
                </a:solidFill>
                <a:latin typeface="Malgun Gothic"/>
                <a:ea typeface="Malgun Gothic"/>
                <a:cs typeface="+mn-lt"/>
              </a:rPr>
              <a:t>"전체 정확도 98.08%, 대부분 품목 Precision·Recall·F1 모두 0.94 이상입니다. 사무용품/소모품은 </a:t>
            </a:r>
            <a:endParaRPr lang="ko-KR" altLang="en-US" sz="2000">
              <a:solidFill>
                <a:srgbClr val="000000"/>
              </a:solidFill>
              <a:latin typeface="Calibri"/>
              <a:ea typeface="맑은 고딕" panose="020B0503020000020004" pitchFamily="34" charset="-127"/>
              <a:cs typeface="+mn-lt"/>
            </a:endParaRPr>
          </a:p>
          <a:p>
            <a:r>
              <a:rPr lang="ko-KR" sz="1600">
                <a:solidFill>
                  <a:srgbClr val="0F172A"/>
                </a:solidFill>
                <a:latin typeface="Malgun Gothic"/>
                <a:ea typeface="Malgun Gothic"/>
                <a:cs typeface="+mn-lt"/>
              </a:rPr>
              <a:t>테스트셋 7건으로 Recall 0.57을 기록했으나 소표본으로 신뢰도가 낮으며, 데이터 보강 시 개선할 계획입니다."</a:t>
            </a:r>
            <a:endParaRPr lang="ko-KR" sz="2000">
              <a:ea typeface="맑은 고딕"/>
              <a:cs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68680" y="5897880"/>
            <a:ext cx="10378440" cy="2560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Malgun Gothic"/>
              </a:rPr>
              <a:t>Q&amp;A에서는 과장보다 “현재 수준 + 보완 계획”을 명확하게 답합니다.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969264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400" b="1">
                <a:solidFill>
                  <a:srgbClr val="0F2340"/>
                </a:solidFill>
                <a:latin typeface="Malgun Gothic"/>
              </a:rPr>
              <a:t>Q2. 공공데이터 활용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987552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Malgun Gothic"/>
              </a:rPr>
              <a:t>조달청 외 나머지 데이터는 어떻게 수집했나요?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20040"/>
            <a:ext cx="548640" cy="2560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Malgun Gothic"/>
              </a:rPr>
              <a:t>16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9264"/>
            <a:ext cx="11201400" cy="22860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508760"/>
            <a:ext cx="10698480" cy="43891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300" b="1">
                <a:solidFill>
                  <a:srgbClr val="0F2340"/>
                </a:solidFill>
                <a:latin typeface="Malgun Gothic"/>
              </a:rPr>
              <a:t>조달청 외 나머지 데이터는 어떻게 수집했나요?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331720"/>
            <a:ext cx="10561320" cy="310896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2960" y="2331720"/>
            <a:ext cx="73152" cy="310896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4128" y="2496312"/>
            <a:ext cx="10241280" cy="2560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700" b="1">
                <a:solidFill>
                  <a:srgbClr val="0F2340"/>
                </a:solidFill>
                <a:latin typeface="Malgun Gothic"/>
              </a:rPr>
              <a:t>답변 초안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834639"/>
            <a:ext cx="10241280" cy="2514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Malgun Gothic"/>
              </a:rPr>
              <a:t>4개 기관 모두 공공 API 기반으로 결합했습니다. 현재는 수집 후 정적 파일로 운영하며, 파이프라인은 CLI 명령으로 재실행 가능하게 구성했습니다.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897880"/>
            <a:ext cx="10378440" cy="2560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Malgun Gothic"/>
              </a:rPr>
              <a:t>Q&amp;A에서는 과장보다 “현재 수준 + 보완 계획”을 명확하게 답합니다.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969264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400" b="1">
                <a:solidFill>
                  <a:srgbClr val="0F2340"/>
                </a:solidFill>
                <a:latin typeface="Malgun Gothic"/>
              </a:rPr>
              <a:t>Q3. 독창성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987552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Malgun Gothic"/>
              </a:rPr>
              <a:t>기존 나라장터 검색·상권 분석과 차별점은?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20040"/>
            <a:ext cx="548640" cy="2560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Malgun Gothic"/>
              </a:rPr>
              <a:t>17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9264"/>
            <a:ext cx="11201400" cy="22860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508760"/>
            <a:ext cx="10698480" cy="43891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300" b="1">
                <a:solidFill>
                  <a:srgbClr val="0F2340"/>
                </a:solidFill>
                <a:latin typeface="Malgun Gothic"/>
              </a:rPr>
              <a:t>기존 나라장터 검색·상권 분석과 차별점은?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331720"/>
            <a:ext cx="10561320" cy="310896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2960" y="2331720"/>
            <a:ext cx="73152" cy="310896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4128" y="2496312"/>
            <a:ext cx="10241280" cy="2560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700" b="1">
                <a:solidFill>
                  <a:srgbClr val="0F2340"/>
                </a:solidFill>
                <a:latin typeface="Malgun Gothic"/>
              </a:rPr>
              <a:t>답변 초안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834639"/>
            <a:ext cx="10241280" cy="2514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Malgun Gothic"/>
              </a:rPr>
              <a:t>나라장터는 개별 공고 조회 도구입니다. 이 서비스는 100,083건을 지역별 수요 신호로 해석합니다. 기존 상권 분석은 민간 소비 추정 기반이고, 본 서비스는 공공기관의 발주 데이터를 활용합니다.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897880"/>
            <a:ext cx="10378440" cy="2560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Malgun Gothic"/>
              </a:rPr>
              <a:t>Q&amp;A에서는 과장보다 “현재 수준 + 보완 계획”을 명확하게 답합니다.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969264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400" b="1">
                <a:solidFill>
                  <a:srgbClr val="0F2340"/>
                </a:solidFill>
                <a:latin typeface="Malgun Gothic"/>
              </a:rPr>
              <a:t>Q4. 발전 가능성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987552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Malgun Gothic"/>
              </a:rPr>
              <a:t>향후 어떻게 확장할 계획인가요?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20040"/>
            <a:ext cx="548640" cy="2560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Malgun Gothic"/>
              </a:rPr>
              <a:t>18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9264"/>
            <a:ext cx="11201400" cy="22860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508760"/>
            <a:ext cx="10698480" cy="43891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300" b="1">
                <a:solidFill>
                  <a:srgbClr val="0F2340"/>
                </a:solidFill>
                <a:latin typeface="Malgun Gothic"/>
              </a:rPr>
              <a:t>향후 어떻게 확장할 계획인가요?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331720"/>
            <a:ext cx="10561320" cy="310896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2960" y="2331720"/>
            <a:ext cx="73152" cy="310896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4128" y="2496312"/>
            <a:ext cx="10241280" cy="2560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700" b="1">
                <a:solidFill>
                  <a:srgbClr val="0F2340"/>
                </a:solidFill>
                <a:latin typeface="Malgun Gothic"/>
              </a:rPr>
              <a:t>답변 초안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834639"/>
            <a:ext cx="10241280" cy="2514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Malgun Gothic"/>
              </a:rPr>
              <a:t>단기적으로 수집 범위와 분류 정확도를 개선하고, 중기적으로 민간 상권 데이터와 결합해 B2C 수요와 B2G 수요를 함께 볼 수 있는 구조를 검토합니다.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897880"/>
            <a:ext cx="10378440" cy="2560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Malgun Gothic"/>
              </a:rPr>
              <a:t>Q&amp;A에서는 과장보다 “현재 수준 + 보완 계획”을 명확하게 답합니다.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969264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400" b="1">
                <a:solidFill>
                  <a:srgbClr val="0F2340"/>
                </a:solidFill>
                <a:latin typeface="Malgun Gothic"/>
              </a:rPr>
              <a:t>Q5. 효과성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987552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Malgun Gothic"/>
              </a:rPr>
              <a:t>실제 사용자 피드백이 있나요?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20040"/>
            <a:ext cx="548640" cy="2560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Malgun Gothic"/>
              </a:rPr>
              <a:t>19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9264"/>
            <a:ext cx="11201400" cy="22860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508760"/>
            <a:ext cx="10698480" cy="43891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300" b="1">
                <a:solidFill>
                  <a:srgbClr val="0F2340"/>
                </a:solidFill>
                <a:latin typeface="Malgun Gothic"/>
              </a:rPr>
              <a:t>실제 사용자 피드백이 있나요?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331720"/>
            <a:ext cx="10561320" cy="310896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2960" y="2331720"/>
            <a:ext cx="73152" cy="310896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4128" y="2496312"/>
            <a:ext cx="10241280" cy="2560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700" b="1">
                <a:solidFill>
                  <a:srgbClr val="0F2340"/>
                </a:solidFill>
                <a:latin typeface="Malgun Gothic"/>
              </a:rPr>
              <a:t>답변 초안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834639"/>
            <a:ext cx="10241280" cy="2514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Malgun Gothic"/>
              </a:rPr>
              <a:t>현재는 라이브 데모 공개 단계로 체계적 피드백은 수집 전입니다. 후보 지역 압축 시간과 상담 자료 준비 시간 단축을 효과 측정 기준으로 잡고 있습니다.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897880"/>
            <a:ext cx="10378440" cy="2560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Malgun Gothic"/>
              </a:rPr>
              <a:t>Q&amp;A에서는 과장보다 “현재 수준 + 보완 계획”을 명확하게 답합니다.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1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983D2A0-913A-443A-9CF6-9609FB9E9D1D}">
  <we:reference id="wa200005669" version="2.0.0.0" store="en-US" storeType="omex"/>
  <we:alternateReferences>
    <we:reference id="wa200005669" version="2.0.0.0" store="omex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와이드스크린</PresentationFormat>
  <Paragraphs>0</Paragraphs>
  <Slides>24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25" baseType="lpstr"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810</cp:revision>
  <dcterms:created xsi:type="dcterms:W3CDTF">2013-01-27T09:14:16Z</dcterms:created>
  <dcterms:modified xsi:type="dcterms:W3CDTF">2026-05-19T01:10:52Z</dcterms:modified>
  <cp:category/>
</cp:coreProperties>
</file>