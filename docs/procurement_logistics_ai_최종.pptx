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No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AB5DEA-01B0-47E2-8CA4-68CA09833A75}">
  <a:tblStyle styleId="{BEAB5DEA-01B0-47E2-8CA4-68CA09833A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-bold.fntdata"/><Relationship Id="rId27" Type="http://schemas.openxmlformats.org/officeDocument/2006/relationships/font" Target="fonts/Noto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o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300000" y="400000"/>
            <a:ext cx="108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2F7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1A1A4D"/>
                </a:solidFill>
                <a:latin typeface="Noto Sans"/>
                <a:ea typeface="Noto Sans"/>
                <a:cs typeface="Noto Sans"/>
                <a:sym typeface="Noto Sans"/>
              </a:rPr>
              <a:t>데이터 수집 → 점수 산정 → AI 해석 → 시각화 파이프라인</a:t>
            </a:r>
            <a:endParaRPr b="1" i="0" sz="5400" u="none" cap="none" strike="noStrike">
              <a:solidFill>
                <a:srgbClr val="1A1A4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400000" y="135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4D4D80"/>
                </a:solidFill>
                <a:latin typeface="Noto Sans"/>
                <a:ea typeface="Noto Sans"/>
                <a:cs typeface="Noto Sans"/>
                <a:sym typeface="Noto Sans"/>
              </a:rPr>
              <a:t>6개 기관·9개 데이터소스를 결합해 지역×품목 공공수요를 분석하고, AI 해석과 대시보드로 제공합니다.</a:t>
            </a:r>
            <a:endParaRPr b="0" i="0" sz="2600" u="none" cap="none" strike="noStrike">
              <a:solidFill>
                <a:srgbClr val="4D4D8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00000" y="350000"/>
            <a:ext cx="10500000" cy="1350000"/>
          </a:xfrm>
          <a:prstGeom prst="rect">
            <a:avLst/>
          </a:prstGeom>
          <a:solidFill>
            <a:srgbClr val="E0F0FF"/>
          </a:solidFill>
          <a:ln cap="flat" cmpd="sng" w="25400">
            <a:solidFill>
              <a:srgbClr val="4D9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50000" y="3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66CC"/>
                </a:solidFill>
                <a:latin typeface="Noto Sans"/>
                <a:ea typeface="Noto Sans"/>
                <a:cs typeface="Noto Sans"/>
                <a:sym typeface="Noto Sans"/>
              </a:rPr>
              <a:t>📊 데이터 수집</a:t>
            </a:r>
            <a:endParaRPr b="1" i="0" sz="3200" u="none" cap="none" strike="noStrike">
              <a:solidFill>
                <a:srgbClr val="0066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450000" y="7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66"/>
                </a:solidFill>
                <a:latin typeface="Noto Sans"/>
                <a:ea typeface="Noto Sans"/>
                <a:cs typeface="Noto Sans"/>
                <a:sym typeface="Noto Sans"/>
              </a:rPr>
              <a:t>조달청 4대: 입찰공고 100,083건 • 계약정보 38,367건 • 발주계획 445건·1,249억 • MAS 5,000건</a:t>
            </a:r>
            <a:endParaRPr b="0" i="0" sz="1800" u="none" cap="none" strike="noStrike">
              <a:solidFill>
                <a:srgbClr val="33336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66"/>
                </a:solidFill>
                <a:latin typeface="Noto Sans"/>
                <a:ea typeface="Noto Sans"/>
                <a:cs typeface="Noto Sans"/>
                <a:sym typeface="Noto Sans"/>
              </a:rPr>
              <a:t>타기관 4대: aT 학교급식 BID+AWARD • 국토부 물류창고 5,911개소 • 행안부 인구 242개 지역 • 소상공인 상권 253개 지역</a:t>
            </a:r>
            <a:endParaRPr b="0" i="0" sz="1800" u="none" cap="none" strike="noStrike">
              <a:solidFill>
                <a:srgbClr val="33336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00000" y="1900000"/>
            <a:ext cx="10500000" cy="1350000"/>
          </a:xfrm>
          <a:prstGeom prst="rect">
            <a:avLst/>
          </a:prstGeom>
          <a:solidFill>
            <a:srgbClr val="E0FFE0"/>
          </a:solidFill>
          <a:ln cap="flat" cmpd="sng" w="25400">
            <a:solidFill>
              <a:srgbClr val="4DC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50000" y="19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39933"/>
                </a:solidFill>
                <a:latin typeface="Noto Sans"/>
                <a:ea typeface="Noto Sans"/>
                <a:cs typeface="Noto Sans"/>
                <a:sym typeface="Noto Sans"/>
              </a:rPr>
              <a:t>📈 점수 산정</a:t>
            </a:r>
            <a:endParaRPr b="1" i="0" sz="3200" u="none" cap="none" strike="noStrike">
              <a:solidFill>
                <a:srgbClr val="3399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50000" y="23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33"/>
                </a:solidFill>
                <a:latin typeface="Noto Sans"/>
                <a:ea typeface="Noto Sans"/>
                <a:cs typeface="Noto Sans"/>
                <a:sym typeface="Noto Sans"/>
              </a:rPr>
              <a:t>가중 지표: count_score 40% • amount_score 25% • recency_score 15% • competition_score 20%</a:t>
            </a:r>
            <a:endParaRPr b="0" i="0" sz="1800" u="none" cap="none" strike="noStrike">
              <a:solidFill>
                <a:srgbClr val="3366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6633"/>
                </a:solidFill>
                <a:latin typeface="Noto Sans"/>
                <a:ea typeface="Noto Sans"/>
                <a:cs typeface="Noto Sans"/>
                <a:sym typeface="Noto Sans"/>
              </a:rPr>
              <a:t>산출 지표: opportunity_score • consumer_fit_score • adjusted_score (생존율 보정)</a:t>
            </a:r>
            <a:endParaRPr b="0" i="0" sz="1800" u="none" cap="none" strike="noStrike">
              <a:solidFill>
                <a:srgbClr val="3366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00000" y="3450000"/>
            <a:ext cx="10500000" cy="1350000"/>
          </a:xfrm>
          <a:prstGeom prst="rect">
            <a:avLst/>
          </a:prstGeom>
          <a:solidFill>
            <a:srgbClr val="F0E0FF"/>
          </a:solidFill>
          <a:ln cap="flat" cmpd="sng" w="25400">
            <a:solidFill>
              <a:srgbClr val="B24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450000" y="34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933CC"/>
                </a:solidFill>
                <a:latin typeface="Noto Sans"/>
                <a:ea typeface="Noto Sans"/>
                <a:cs typeface="Noto Sans"/>
                <a:sym typeface="Noto Sans"/>
              </a:rPr>
              <a:t>🤖 AI 해석 (Gemini)</a:t>
            </a:r>
            <a:endParaRPr b="1" i="0" sz="3200" u="none" cap="none" strike="noStrike">
              <a:solidFill>
                <a:srgbClr val="9933C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450000" y="38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63380"/>
                </a:solidFill>
                <a:latin typeface="Noto Sans"/>
                <a:ea typeface="Noto Sans"/>
                <a:cs typeface="Noto Sans"/>
                <a:sym typeface="Noto Sans"/>
              </a:rPr>
              <a:t>① 수요 설명 (추천 품목) • ② 수요공백 판정 (블루오션 vs 저수요)</a:t>
            </a:r>
            <a:endParaRPr b="0" i="0" sz="1800" u="none" cap="none" strike="noStrike">
              <a:solidFill>
                <a:srgbClr val="66338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63380"/>
                </a:solidFill>
                <a:latin typeface="Noto Sans"/>
                <a:ea typeface="Noto Sans"/>
                <a:cs typeface="Noto Sans"/>
                <a:sym typeface="Noto Sans"/>
              </a:rPr>
              <a:t>③ 경쟁구조 판정 (레드오션/조건부/진입) • ④ 물류거점 전략 (1·2·3티어 허브) • ⑤ 지역 비교</a:t>
            </a:r>
            <a:endParaRPr b="0" i="0" sz="1800" u="none" cap="none" strike="noStrike">
              <a:solidFill>
                <a:srgbClr val="66338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00000" y="5000000"/>
            <a:ext cx="10500000" cy="1350000"/>
          </a:xfrm>
          <a:prstGeom prst="rect">
            <a:avLst/>
          </a:prstGeom>
          <a:solidFill>
            <a:srgbClr val="FFE8D1"/>
          </a:solidFill>
          <a:ln cap="flat" cmpd="sng" w="25400">
            <a:solidFill>
              <a:srgbClr val="FFA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50000" y="50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801A"/>
                </a:solidFill>
                <a:latin typeface="Noto Sans"/>
                <a:ea typeface="Noto Sans"/>
                <a:cs typeface="Noto Sans"/>
                <a:sym typeface="Noto Sans"/>
              </a:rPr>
              <a:t>📱 시각화 대시보드 (Streamlit)</a:t>
            </a:r>
            <a:endParaRPr b="1" i="0" sz="3200" u="none" cap="none" strike="noStrike">
              <a:solidFill>
                <a:srgbClr val="FF801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50000" y="54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2590D"/>
                </a:solidFill>
                <a:latin typeface="Noto Sans"/>
                <a:ea typeface="Noto Sans"/>
                <a:cs typeface="Noto Sans"/>
                <a:sym typeface="Noto Sans"/>
              </a:rPr>
              <a:t>🌏 전국 지도 • 🗺️ 지역 분석 • 📊 수요 예측 • 🔍 블루오션 탐지</a:t>
            </a:r>
            <a:endParaRPr b="0" i="0" sz="1800" u="none" cap="none" strike="noStrike">
              <a:solidFill>
                <a:srgbClr val="B2590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2590D"/>
                </a:solidFill>
                <a:latin typeface="Noto Sans"/>
                <a:ea typeface="Noto Sans"/>
                <a:cs typeface="Noto Sans"/>
                <a:sym typeface="Noto Sans"/>
              </a:rPr>
              <a:t>🚚 물류 거점 • ⚖️ 지역 비교 • 👥 소비층 적합도 • 🤖 AI 해석 5종</a:t>
            </a:r>
            <a:endParaRPr b="0" i="0" sz="1800" u="none" cap="none" strike="noStrike">
              <a:solidFill>
                <a:srgbClr val="B2590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00000" y="6450000"/>
            <a:ext cx="1050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[수집] 6개 기관 / 9개 데이터소스 공공 API 실연동, 자동 파이프라인  |  [점수] 가중합 공식 공개, 임의 판단 없음  |  [AI] 수치 근거 인용형 해석, 과긍정 방지  |  [시각화] 라이브 대시보드 (Streamlit Cloud 운영 중)</a:t>
            </a:r>
            <a:endParaRPr b="0" i="0" sz="1200" u="none" cap="none" strike="noStrike">
              <a:solidFill>
                <a:srgbClr val="66666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1" name="Google Shape;51;p5"/>
          <p:cNvCxnSpPr/>
          <p:nvPr/>
        </p:nvCxnSpPr>
        <p:spPr>
          <a:xfrm>
            <a:off x="5500000" y="170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" name="Google Shape;52;p5"/>
          <p:cNvCxnSpPr/>
          <p:nvPr/>
        </p:nvCxnSpPr>
        <p:spPr>
          <a:xfrm>
            <a:off x="5500000" y="325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" name="Google Shape;53;p5"/>
          <p:cNvCxnSpPr/>
          <p:nvPr/>
        </p:nvCxnSpPr>
        <p:spPr>
          <a:xfrm>
            <a:off x="5500000" y="480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5" name="Google Shape;6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300000" y="8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eat.at.or.k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 cap="flat" cmpd="sng" w="9525">
            <a:solidFill>
              <a:srgbClr val="F0F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713232" y="2702858"/>
            <a:ext cx="98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100,083건과 계약·급식·물류 데이터를 결합해</a:t>
            </a:r>
            <a:endParaRPr b="0" i="0" sz="18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공공수요를 해석하는 서비스 </a:t>
            </a:r>
            <a:endParaRPr b="0" i="0" sz="18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1323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258775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446227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633679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분석</a:t>
            </a:r>
            <a:endParaRPr b="1" i="0" sz="105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공공기관 수요를 보지 못한다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 페르소나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데이터와 결합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공공수요·경쟁·소비층·생존율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흐름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508760" y="4455724"/>
            <a:ext cx="8138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 → 부산진구 → 해운대구 비교 → 물류 거점 비교 → 공공수요 예측 → AI 해석</a:t>
            </a:r>
            <a:endParaRPr b="0" i="0" sz="1600" u="none" cap="none" strike="noStrike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한계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→ 상담 보조 도구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640080" y="2539139"/>
            <a:ext cx="36576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480560" y="2539139"/>
            <a:ext cx="347472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138160" y="2539139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상권을 봅니다.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필요로 하는 것은 보지 못합니다.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현장에서 본 문제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예측이 틀리면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재고·이동·운영 비용이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바로 손실로 이어집니다.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판단 기준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예비창업자는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유동인구와 상권 정보를 보지만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데이터는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활용하지 못합니다.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질문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입찰공고를 지역별 수요 신호로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보면 창업 입지 사전 검토에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활용할 수 있지 않을까?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683210" y="1863402"/>
            <a:ext cx="10764233" cy="1140892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시나리오: 급식·식자재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  반복 수요가 있고, 납품·보관·이동 비용이 입지 판단에 직접 영향을 주는 품목입니다.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진입을 앞둔 사람에게 지역 선택의 근거를 제공합니다.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40080" y="3114233"/>
            <a:ext cx="36576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예비창업자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창업을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 중이지만, 어느 지역부터 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진입해야 할지 감에 의존하고 있음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공공수요·경쟁 구조 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 비교로 후보 지역 압축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480560" y="3114233"/>
            <a:ext cx="347472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B2G 납품업체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영업 지역을 확장해야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내부 데이터가 부족함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공고 건수·경쟁 구조로 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 우선순위 설정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138160" y="3114233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창업 상담기관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시 지역 수요를 설명할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자료가 부족함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수요 리포트를 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 상담 보조 자료로 활용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8750730" y="2329035"/>
            <a:ext cx="253578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소개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100,083건을 분석하여,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판단을 돕는 서비스입니다.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02920" y="2331720"/>
            <a:ext cx="210446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100,083건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2년 수집·분석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247653" y="2341880"/>
            <a:ext cx="210446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17개 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광역 단위 전체</a:t>
            </a:r>
            <a:endParaRPr b="0" i="0" sz="1400" u="none" cap="none" strike="noStrike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992386" y="2349356"/>
            <a:ext cx="2118839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8764628" y="2651760"/>
            <a:ext cx="2545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AI 해석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수치를 자연어로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220개 지역</a:t>
            </a:r>
            <a:endParaRPr b="1" i="0" sz="2800" u="none" cap="none" strike="noStrike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시·군·구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지역 분석</a:t>
            </a:r>
            <a:endParaRPr b="0" i="0" sz="1400" u="none" cap="none" strike="noStrike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조달청 데이터인가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입찰공고는 공공기관이 예산을 편성해 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의사를 공표한 수요 신호입니다.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031997" y="2333450"/>
            <a:ext cx="4755000" cy="1653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49950" y="2347216"/>
            <a:ext cx="83400" cy="1644000"/>
          </a:xfrm>
          <a:prstGeom prst="rect">
            <a:avLst/>
          </a:prstGeom>
          <a:solidFill>
            <a:srgbClr val="94A3B8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161278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 데이터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161278" y="2765456"/>
            <a:ext cx="44349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소비자가 “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 같다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”는 추정에 가깝습니다.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흐름을 보는 데 강점이 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527799" y="2337488"/>
            <a:ext cx="4755000" cy="1653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436358" y="2347216"/>
            <a:ext cx="83400" cy="1644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647683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 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647687" y="2751132"/>
            <a:ext cx="4434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“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것이다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”라고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공표한 수요 신호입니다.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발주 품목 차이를 볼 수 있습니다.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29197" y="3596033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BEFORE -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535925" y="3581441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AFTER -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85800" y="4370470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524430" y="4379891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8363052" y="4361050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8580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①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836305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③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4524426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②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58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23793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85800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추정</a:t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(상권분석, 유동인구)</a:t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“아마 팔릴 것 같은”</a:t>
            </a:r>
            <a:endParaRPr b="1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2328500" y="5107445"/>
            <a:ext cx="1784940" cy="122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발주 수요 신호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 = 구매 의사</a:t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계약정보 = 실측 </a:t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“실제로 구매할 기관 있음”</a:t>
            </a:r>
            <a:endParaRPr b="1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9" name="Google Shape;239;p18"/>
          <p:cNvCxnSpPr>
            <a:endCxn id="229" idx="2"/>
          </p:cNvCxnSpPr>
          <p:nvPr/>
        </p:nvCxnSpPr>
        <p:spPr>
          <a:xfrm>
            <a:off x="2373600" y="4761670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8"/>
          <p:cNvSpPr txBox="1"/>
          <p:nvPr/>
        </p:nvSpPr>
        <p:spPr>
          <a:xfrm>
            <a:off x="45244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2179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4524425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입찰공고만 집계</a:t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“어디서 많이 삼”</a:t>
            </a:r>
            <a:endParaRPr b="1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>
            <a:off x="6159794" y="4761670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8"/>
          <p:cNvSpPr/>
          <p:nvPr/>
        </p:nvSpPr>
        <p:spPr>
          <a:xfrm>
            <a:off x="5278775" y="5503250"/>
            <a:ext cx="1848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6167000" y="5014100"/>
            <a:ext cx="17443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입찰(수요)+계약(확정)+창고(인프라)</a:t>
            </a:r>
            <a:endParaRPr b="0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“어디서, 무엇을, </a:t>
            </a:r>
            <a:endParaRPr b="1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어떻게 납품”</a:t>
            </a:r>
            <a:endParaRPr b="1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972275" y="5546975"/>
            <a:ext cx="1848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3630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100565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i="0" sz="16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050725" y="5014100"/>
            <a:ext cx="16935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기본값 🔴 진입 주의 → 수치 근거 조건 충족 시만 🟢 허용</a:t>
            </a:r>
            <a:endParaRPr b="0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 예측 금지, 수치 출처 인용 강제</a:t>
            </a:r>
            <a:endParaRPr b="0" i="0" sz="12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8363050" y="5141428"/>
            <a:ext cx="1551260" cy="121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항상 긍정적, 검증 없는 추천</a:t>
            </a:r>
            <a:endParaRPr b="1" i="0" sz="13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1" name="Google Shape;251;p18"/>
          <p:cNvCxnSpPr/>
          <p:nvPr/>
        </p:nvCxnSpPr>
        <p:spPr>
          <a:xfrm>
            <a:off x="9966875" y="4732645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3368032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150020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9023220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502920" y="969264"/>
            <a:ext cx="11201400" cy="228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6057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7056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92758" y="215413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685795" y="636870"/>
            <a:ext cx="9692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→ 점수 산정 → AI 해석 → 시각화 파이프라인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1882356" y="2154129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계약정보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692758" y="257009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1882356" y="257009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확정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710303" y="4109349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1898394" y="4109337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물류창고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710287" y="4627352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 특화 수요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1898394" y="4627351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</a:t>
            </a:r>
            <a:b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710273" y="3131727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발주계획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1898381" y="313172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710273" y="3564695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예정 수요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1877106" y="3564703"/>
            <a:ext cx="981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단가계약 시장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586049" y="5224930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 인구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770131" y="5224916"/>
            <a:ext cx="1187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 상권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710287" y="5673000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898394" y="5673003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35159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 산정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3405450" y="183002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count_score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3367351" y="2166788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공고수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6269571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6282890" y="1830025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수요 설명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6509342" y="2101854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(추천 품목)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9142783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시각화 레이어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9062125" y="1830025"/>
            <a:ext cx="23124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🌏 전국 지도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5123938" y="1882675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40%</a:t>
            </a:r>
            <a:endParaRPr b="1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3413964" y="2347230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amount_score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3385806" y="268400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5128215" y="2399876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25%</a:t>
            </a:r>
            <a:endParaRPr b="1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3413264" y="2864436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recency_score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3384037" y="320121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최근성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5127639" y="2917080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15%</a:t>
            </a:r>
            <a:endParaRPr b="1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3448966" y="343427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competition_score</a:t>
            </a:r>
            <a:endParaRPr b="1" i="0" sz="1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3368024" y="3771038"/>
            <a:ext cx="2367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진입용이도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5150946" y="3486918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20%</a:t>
            </a:r>
            <a:endParaRPr b="1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1125375" y="247692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2246700" y="24407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2262750" y="34188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1157475" y="34188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100750" y="4420338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234375" y="4422479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2234388" y="549538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1100763" y="549538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4446975" y="402112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3630078" y="4158689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opportunity_score</a:t>
            </a:r>
            <a:endParaRPr b="1" i="0" sz="1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3368025" y="4478803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지역×품목 공공수요 매력도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4414738" y="4730510"/>
            <a:ext cx="274200" cy="2400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3679228" y="5025702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consumer_fit_score</a:t>
            </a:r>
            <a:endParaRPr b="1" i="0" sz="1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283427" y="2471693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수요 공백 판정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6509354" y="2743521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(블루오션 vs 실제 저수요)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6295090" y="3113361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경쟁 구조 판정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6150001" y="3385202"/>
            <a:ext cx="2367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🔴레드오션/🟡조건부/🟢진입</a:t>
            </a:r>
            <a:endParaRPr b="0" i="0" sz="11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295090" y="3755029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물류 거점 전략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6509350" y="402685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(1·2·3티어 허브 구조)</a:t>
            </a:r>
            <a:endParaRPr b="0" i="0" sz="11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315165" y="4396696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지역 비교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6149875" y="4668525"/>
            <a:ext cx="2503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(두 지역 품목 포트폴리오 차이 설명)</a:t>
            </a:r>
            <a:endParaRPr b="0" i="0" sz="11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3417175" y="5345815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3679228" y="565297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adjusted_score</a:t>
            </a:r>
            <a:endParaRPr b="1" i="0" sz="1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417175" y="5973090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 보정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6275884" y="5256675"/>
            <a:ext cx="2128500" cy="951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인용형 프롬프트  수치 없는 판단 금지 (기본값 🔴 진입 주의)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9043525" y="2366537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🗺️ 지역 분석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9043525" y="2903049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📊 수요 예측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9043525" y="3439561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🔍 블루오션 탐지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9043525" y="3976073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🚚 물류 거점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9043525" y="4512585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⚖️ 지역 비교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9037975" y="5049097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👥 소비층 적합도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9037975" y="5585609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🤖 AI 해석 5종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2924677" y="3373108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692200" y="3317450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8442642" y="3317450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t/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1249645" y="6494320"/>
            <a:ext cx="9692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세부 데이터 건수와 출처는 활용 공공데이터 목록 슬라이드에서 제시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/>
          <p:nvPr/>
        </p:nvSpPr>
        <p:spPr>
          <a:xfrm>
            <a:off x="1910080" y="5634990"/>
            <a:ext cx="8290500" cy="91440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결합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하나만으로는 입지를 판단하기 어렵습니다.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94350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594350" y="1965950"/>
            <a:ext cx="93900" cy="1348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85208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85208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품목이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얼마나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발주되는가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319835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319835" y="1965950"/>
            <a:ext cx="93900" cy="1348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4577573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4577573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인구 규모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구성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8045320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8045320" y="1965950"/>
            <a:ext cx="93900" cy="13488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830305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 txBox="1"/>
          <p:nvPr/>
        </p:nvSpPr>
        <p:spPr>
          <a:xfrm>
            <a:off x="830305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점포 수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94350" y="371017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594350" y="3710170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852088" y="382577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KOSIS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852088" y="421811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리스크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905100" y="5728900"/>
            <a:ext cx="829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6개 기관 / 9개 데이터소스 데이터를 결합해야</a:t>
            </a:r>
            <a:endParaRPr b="0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</a:t>
            </a: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b="1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</a:t>
            </a: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구분할 수 있습니다.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319846" y="3710157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319846" y="3710157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4577584" y="3825757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국토부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4577584" y="4218105"/>
            <a:ext cx="292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 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8045309" y="371017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8045309" y="3710170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8303047" y="3825770"/>
            <a:ext cx="2928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</a:t>
            </a:r>
            <a:b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한국농수산식품유통공사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8303079" y="4465369"/>
            <a:ext cx="29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품목 수요 실측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분석 흐름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사용자는 지역을 고르고, 서비스는 5가지 질문에 답합니다.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777240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지역에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발주 수요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있는가?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526279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품목과 지역 인구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맞는가?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8275319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경쟁이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과열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되어 있지 않은가?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616200" y="4216400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인근 지역과 수요 </a:t>
            </a: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어떻게 다른가?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6365239" y="4216400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 cap="flat" cmpd="sng" w="9525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지역이 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거점 후보</a:t>
            </a:r>
            <a:r>
              <a:rPr b="0" i="0" lang="en-US" sz="1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될 수 있는가?</a:t>
            </a:r>
            <a:endParaRPr b="0" i="0" sz="16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3491992" y="5979160"/>
            <a:ext cx="5196900" cy="75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1 — 전국 지도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625" y="6001054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전국 17개 시도별 </a:t>
            </a: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보정점수 분포</a:t>
            </a: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를 확인하고,</a:t>
            </a:r>
            <a:endParaRPr b="0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부산을 사례 지역으로 선택했습니다.</a:t>
            </a:r>
            <a:endParaRPr b="0" i="0" sz="1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텍스트, 스크린샷, 폰트, 문서이(가) 표시된 사진&#10;&#10;AI 생성 콘텐츠는 정확하지 않을 수 있습니다." id="406" name="Google Shape;4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700" y="1706700"/>
            <a:ext cx="2398825" cy="38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2"/>
          <p:cNvSpPr/>
          <p:nvPr/>
        </p:nvSpPr>
        <p:spPr>
          <a:xfrm>
            <a:off x="415310" y="2597428"/>
            <a:ext cx="2223600" cy="537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8875" y="1136740"/>
            <a:ext cx="8735450" cy="43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/>
          <p:nvPr/>
        </p:nvSpPr>
        <p:spPr>
          <a:xfrm>
            <a:off x="2968874" y="3544345"/>
            <a:ext cx="1603200" cy="14994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9" y="1302501"/>
            <a:ext cx="5623559" cy="425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302500"/>
            <a:ext cx="5623562" cy="42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2 — 부산 진입 흐름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부산 선택 후 자치구 분포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6217920" y="1078992"/>
            <a:ext cx="5394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부산진구 선택 후 상세 지표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617225" y="5962419"/>
            <a:ext cx="10972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부산을 선택하면 </a:t>
            </a: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자치구별 수요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나뉘고, </a:t>
            </a:r>
            <a:endParaRPr b="0" i="0" sz="16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구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선택하면 </a:t>
            </a: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지표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이어집니다.</a:t>
            </a:r>
            <a:endParaRPr b="0" i="0" sz="16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5747531" y="4477794"/>
            <a:ext cx="470400" cy="56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 입찰·낙찰 데이터는 </a:t>
            </a:r>
            <a:r>
              <a:rPr b="1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400배 규</a:t>
            </a: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</a:t>
            </a:r>
            <a:b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급식 수요는 단일 소스보다 </a:t>
            </a:r>
            <a:r>
              <a:rPr b="1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보강 데이터가 필요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3 — 부산진구 품목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507463" y="6060165"/>
            <a:ext cx="2987080" cy="60938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부산진구 </a:t>
            </a: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</a:t>
            </a: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 </a:t>
            </a: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8건</a:t>
            </a:r>
            <a:r>
              <a:rPr b="0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총 발주금액 </a:t>
            </a:r>
            <a:r>
              <a:rPr b="1" i="0" lang="en-US" sz="12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4,400만원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050" y="1092950"/>
            <a:ext cx="10247350" cy="467210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4"/>
          <p:cNvSpPr txBox="1"/>
          <p:nvPr/>
        </p:nvSpPr>
        <p:spPr>
          <a:xfrm>
            <a:off x="8686263" y="5917924"/>
            <a:ext cx="3078520" cy="8863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기준</a:t>
            </a:r>
            <a:endParaRPr b="1" i="0" sz="1200" u="none" cap="none" strike="noStrike">
              <a:solidFill>
                <a:srgbClr val="1F497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급식·식자재</a:t>
            </a:r>
            <a:r>
              <a:rPr b="1" i="0" lang="en-US" sz="12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1,821건</a:t>
            </a:r>
            <a:endParaRPr b="1" i="0" sz="1200" u="none" cap="none" strike="noStrike">
              <a:solidFill>
                <a:srgbClr val="1F497D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입찰·낙찰</a:t>
            </a:r>
            <a:r>
              <a:rPr b="1" i="0" lang="en-US" sz="12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734,242건</a:t>
            </a:r>
            <a:endParaRPr b="1" i="0" sz="1200" u="none" cap="none" strike="noStrike">
              <a:solidFill>
                <a:srgbClr val="1F497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4 — 자치구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3505200" y="5958840"/>
            <a:ext cx="5191760" cy="79406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부산진구는</a:t>
            </a:r>
            <a:r>
              <a:rPr b="1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폐기물/환경 중심</a:t>
            </a: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해운대구는</a:t>
            </a:r>
            <a:r>
              <a:rPr b="1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행사/운영용역 중심</a:t>
            </a: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부산이라도 </a:t>
            </a:r>
            <a:r>
              <a:rPr b="1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전략</a:t>
            </a:r>
            <a:r>
              <a:rPr b="0" i="0" lang="en-US" sz="1600" u="none" cap="none" strike="noStrike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달라집니다.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833120" y="4790440"/>
            <a:ext cx="1584960" cy="36576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63" y="1057012"/>
            <a:ext cx="10698475" cy="483694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5"/>
          <p:cNvSpPr/>
          <p:nvPr/>
        </p:nvSpPr>
        <p:spPr>
          <a:xfrm>
            <a:off x="746775" y="4687350"/>
            <a:ext cx="3426900" cy="5145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000" y="4244251"/>
            <a:ext cx="10347207" cy="18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1525" y="1075750"/>
            <a:ext cx="8517773" cy="31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6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5 — 물류 거점 분석</a:t>
            </a:r>
            <a:endParaRPr b="1" i="0" sz="24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3494528" y="5949623"/>
            <a:ext cx="5191800" cy="7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공공수요와 물류창고 인프라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함께 반영해</a:t>
            </a:r>
            <a:endParaRPr b="0" i="0" sz="16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물류 거점 후보를 </a:t>
            </a: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제시합니다. </a:t>
            </a:r>
            <a:endParaRPr b="0" i="0" sz="16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753000" y="4244250"/>
            <a:ext cx="2765100" cy="751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6 — 공공수요 예측</a:t>
            </a:r>
            <a:endParaRPr b="1" i="0" sz="24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1" i="0" sz="1200" u="none" cap="none" strike="noStrike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 txBox="1"/>
          <p:nvPr/>
        </p:nvSpPr>
        <p:spPr>
          <a:xfrm>
            <a:off x="3495040" y="5970631"/>
            <a:ext cx="5191800" cy="7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발주계획은 </a:t>
            </a: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예정 수요 신호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시계열 예측은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패턴 기반 통계 추정</a:t>
            </a:r>
            <a:r>
              <a:rPr b="0" i="0" lang="en-US" sz="16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구분합니다.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1144524"/>
            <a:ext cx="7796059" cy="468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3800" y="1389975"/>
            <a:ext cx="3316251" cy="125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3796" y="4476400"/>
            <a:ext cx="33162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3801" y="3046625"/>
            <a:ext cx="3316249" cy="11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/>
          <p:nvPr/>
        </p:nvSpPr>
        <p:spPr>
          <a:xfrm>
            <a:off x="777367" y="5360574"/>
            <a:ext cx="4577715" cy="10566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6844791" y="5360573"/>
            <a:ext cx="4634865" cy="10566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역할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1" i="0" sz="1200" u="none" cap="none" strike="noStrike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문장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777240" y="4462061"/>
            <a:ext cx="10640971" cy="7325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수요·경쟁·물류 특성을 설명하는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 보조 역할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수행합니다.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5870956" y="2871724"/>
            <a:ext cx="470408" cy="5659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780415" y="5388059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하는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 txBox="1"/>
          <p:nvPr/>
        </p:nvSpPr>
        <p:spPr>
          <a:xfrm>
            <a:off x="6862216" y="5388058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하지 않는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924188" y="5763307"/>
            <a:ext cx="457263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설명 / 수요 공백 /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 / 물류 거점 / 지역 비교 </a:t>
            </a: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해석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6847839" y="5892703"/>
            <a:ext cx="4572635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 성공 예측, 입지 확정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6941300" y="5522600"/>
            <a:ext cx="745500" cy="732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876563" y="5606000"/>
            <a:ext cx="548700" cy="565800"/>
          </a:xfrm>
          <a:prstGeom prst="donut">
            <a:avLst>
              <a:gd fmla="val 25000" name="adj"/>
            </a:avLst>
          </a:prstGeom>
          <a:solidFill>
            <a:srgbClr val="2563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38" y="1465713"/>
            <a:ext cx="4737550" cy="294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5725" y="1414725"/>
            <a:ext cx="4919374" cy="20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5726" y="3481425"/>
            <a:ext cx="5157150" cy="9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697225" y="4566150"/>
            <a:ext cx="10787400" cy="1262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확장 전략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1" i="0" sz="1200" u="none" cap="none" strike="noStrike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685800" y="1143000"/>
            <a:ext cx="106986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상권분석 플랫폼을 대체하기보다, 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발주 수요 데이터를 보완 레이어로 제공합니다.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697115" y="2019148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849324" y="2183740"/>
            <a:ext cx="2214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고객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 txBox="1"/>
          <p:nvPr/>
        </p:nvSpPr>
        <p:spPr>
          <a:xfrm>
            <a:off x="602750" y="2598275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창업상담기관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소상공인지원센터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창업지원 부서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납품 희망 업체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3449750" y="2019148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3601953" y="2183740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 가치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3355375" y="2598300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지역·품목 공공수요 리포트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수요 분석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후보 비교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상담용 근거 자료 제공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6202279" y="2019149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6354480" y="218511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수익모델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6107900" y="2599675"/>
            <a:ext cx="25506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· 품목별 분석 리포트 과금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기관용 대시보드 구독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맞춤형 분석 보고서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상권분석 플랫폼용 B2G 수요 데이터 API/모듈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702300" y="5995075"/>
            <a:ext cx="107874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기존 상권분석 서비스는 민간 소비·매출 중심 리포트 과금 모델을 운영합니다.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본 서비스는 공공 발주·계약·물류 인프라 데이터를 B2G 수요 보완 모듈로 제공합니다.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9017140" y="2027199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9169339" y="219316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"/>
          <p:cNvSpPr txBox="1"/>
          <p:nvPr/>
        </p:nvSpPr>
        <p:spPr>
          <a:xfrm>
            <a:off x="8922775" y="2607700"/>
            <a:ext cx="25506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창업상담기관 파일럿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B2G 납품업체 리포트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상권분석 플랫폼·지자체 연계</a:t>
            </a:r>
            <a:endParaRPr b="0" i="0" sz="13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723289" y="4629050"/>
            <a:ext cx="10787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확장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9"/>
          <p:cNvSpPr txBox="1"/>
          <p:nvPr/>
        </p:nvSpPr>
        <p:spPr>
          <a:xfrm>
            <a:off x="13528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b="1" i="0" sz="14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1756430" y="5232350"/>
            <a:ext cx="2401205" cy="55090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 입찰 285,552건 · 낙찰 448,690건 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46536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 접점 </a:t>
            </a:r>
            <a:endParaRPr b="1" i="0" sz="14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50284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17개 창업지원 거점 + 온라인 상담 창구</a:t>
            </a:r>
            <a:endParaRPr b="0" i="0" sz="14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79544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확장 </a:t>
            </a:r>
            <a:endParaRPr b="1" i="0" sz="14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29"/>
          <p:cNvSpPr txBox="1"/>
          <p:nvPr/>
        </p:nvSpPr>
        <p:spPr>
          <a:xfrm>
            <a:off x="83292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상권분석에 없는 공공 발주·계약·물류 인프라 보완 </a:t>
            </a:r>
            <a:endParaRPr b="0" i="0" sz="14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효과와 한계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1" i="0" sz="1200" u="none" cap="none" strike="noStrike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서비스는 공공수요 관점의 참고 자료이며, 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성공을 예측하지 않습니다.</a:t>
            </a:r>
            <a:endParaRPr b="1" i="0" sz="25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822950" y="2000250"/>
            <a:ext cx="5166300" cy="17337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822950" y="2000250"/>
            <a:ext cx="73200" cy="17337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102412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1024125" y="2550650"/>
            <a:ext cx="4965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 전 지역·품목 수요를 사전 검토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9개 데이터소스 결합으로 다각도 분석 제공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현장에서 지역별 수요 리포트로 활용 가능</a:t>
            </a:r>
            <a:endParaRPr b="0" i="0" sz="12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정보 비대칭 해소 · 소상공인 진입장벽 완화 · 지방 창업 활성화</a:t>
            </a:r>
            <a:endParaRPr b="0" i="0" sz="1200" u="none" cap="none" strike="noStrike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6355075" y="2000250"/>
            <a:ext cx="5166300" cy="17337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6355075" y="2000250"/>
            <a:ext cx="73200" cy="1733700"/>
          </a:xfrm>
          <a:prstGeom prst="rect">
            <a:avLst/>
          </a:prstGeom>
          <a:solidFill>
            <a:srgbClr val="64748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655624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한계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6556248" y="2550645"/>
            <a:ext cx="4846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B2G 관점만 반영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수요와 실사용자 피드백은 추가 필요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내에 한계를 명시해 과해석 방지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967230" y="5663565"/>
            <a:ext cx="8290500" cy="91440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1971675" y="5770265"/>
            <a:ext cx="825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감에 의존한 </a:t>
            </a:r>
            <a:r>
              <a:rPr b="1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선택</a:t>
            </a: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</a:t>
            </a:r>
            <a:r>
              <a:rPr b="1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기반 사전 검토</a:t>
            </a: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바꾸는</a:t>
            </a:r>
            <a:endParaRPr b="0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첫 걸음입니다.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685725" y="3902416"/>
            <a:ext cx="10698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파급 효과 요약</a:t>
            </a:r>
            <a:endParaRPr b="1" i="0" sz="1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42" name="Google Shape;542;p30"/>
          <p:cNvGraphicFramePr/>
          <p:nvPr/>
        </p:nvGraphicFramePr>
        <p:xfrm>
          <a:off x="685804" y="423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{BEAB5DEA-01B0-47E2-8CA4-68CA09833A75}</a:tableStyleId>
              </a:tblPr>
              <a:tblGrid>
                <a:gridCol w="2099400"/>
                <a:gridCol w="4330050"/>
                <a:gridCol w="4330050"/>
              </a:tblGrid>
              <a:tr h="29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 상</a:t>
                      </a:r>
                      <a:endParaRPr sz="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문제</a:t>
                      </a:r>
                      <a:endParaRPr sz="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효과</a:t>
                      </a:r>
                      <a:endParaRPr sz="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29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예비창업자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감에 의존</a:t>
                      </a: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창업 아이템 선정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근거 사전 검토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29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소규모 납품업체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어느 지역에 </a:t>
                      </a: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집중</a:t>
                      </a: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할지 불명확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 x 지역 </a:t>
                      </a: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수요 밀도 지도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창업 상담기관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지역별 공공수요 </a:t>
                      </a: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없음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B2B 분석 도구로 </a:t>
                      </a:r>
                      <a:r>
                        <a:rPr b="1"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상담 효율화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공공데이터 목록</a:t>
            </a:r>
            <a:endParaRPr b="1" i="0" sz="24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31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1" i="0" sz="1200" u="none" cap="none" strike="noStrike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493527" y="595552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0" name="Google Shape;550;p31"/>
          <p:cNvGraphicFramePr/>
          <p:nvPr/>
        </p:nvGraphicFramePr>
        <p:xfrm>
          <a:off x="485029" y="961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{BEAB5DEA-01B0-47E2-8CA4-68CA09833A75}</a:tableStyleId>
              </a:tblPr>
              <a:tblGrid>
                <a:gridCol w="1073300"/>
                <a:gridCol w="1649775"/>
                <a:gridCol w="1621600"/>
                <a:gridCol w="2569775"/>
                <a:gridCol w="2339125"/>
                <a:gridCol w="1968400"/>
              </a:tblGrid>
              <a:tr h="410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기관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데이터/API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건수 / 규모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 기준</a:t>
                      </a:r>
                      <a:endParaRPr sz="2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활용 지표</a:t>
                      </a:r>
                      <a:endParaRPr sz="2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목적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조달청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입찰공고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100,083건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/ 전 품목 / 최근 2년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count/amount/recency score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공공수요 기본 신호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계약정보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38,367건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/ 물품 / 최근 30일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demand_confidence_score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의사 -&gt; 실측 확정 신호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발주계획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445건(약 1,249.8억)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/ 2026년도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해석 컨텍스트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 예정 수요 신호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종합쇼핑몰 MAS 품목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22,740건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품목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해석 컨텍스트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단가계약 시장 규모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F234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한국농수산식품유통공사</a:t>
                      </a:r>
                      <a:endParaRPr sz="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학교급식 입찰·낙찰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734,242건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/ 입찰 5년 + 낙찰 3년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입찰·낙찰 기반 급식 수요 보강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 특화 수요 검증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행안부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연령별 인구 통계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242개 지역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시군구 단위 전체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consumer_fit_score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소비층 적합도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소상공인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상가정보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253개 지역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시군구 단위 전체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stores_per_10k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 경쟁 포화도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국토부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물류창고 등록정보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5,911개소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등록 현황 전체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logistics_infra_score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 거점 인프라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KOSIS</a:t>
                      </a:r>
                      <a:b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(통계청)</a:t>
                      </a:r>
                      <a:endParaRPr sz="12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신생기업 생존율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시도 x 산업 조합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업종별 5년 생존율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adjusted_score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업종별 진입 리스크 보정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51" name="Google Shape;551;p31"/>
          <p:cNvSpPr txBox="1"/>
          <p:nvPr/>
        </p:nvSpPr>
        <p:spPr>
          <a:xfrm>
            <a:off x="505026" y="682702"/>
            <a:ext cx="110211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6개 기관 / 9개 데이터소스를 결합해 공공수요·인구·경쟁·생존율을 분석했습니다.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 txBox="1"/>
          <p:nvPr/>
        </p:nvSpPr>
        <p:spPr>
          <a:xfrm>
            <a:off x="2074350" y="6212429"/>
            <a:ext cx="804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출처: 공공데이터포털(data.go.kr) · 나라장터(g2b.go.kr) · KOSIS(kosis.kr) · eAT(</a:t>
            </a:r>
            <a:r>
              <a:rPr b="0" i="0" lang="en-US" sz="1500" u="sng" cap="none" strike="noStrike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eat.at.or.kr</a:t>
            </a:r>
            <a:r>
              <a:rPr b="0" i="0" lang="en-US" sz="1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실제 API 엔드포인트는 수집 코드 기준으로 관리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"/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 cap="flat" cmpd="sng" w="9525">
            <a:solidFill>
              <a:srgbClr val="F0F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2"/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 b="1" i="0" sz="2800" u="none" cap="none" strike="noStrike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1" name="Google Shape;561;p32"/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2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2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2"/>
          <p:cNvSpPr txBox="1"/>
          <p:nvPr/>
        </p:nvSpPr>
        <p:spPr>
          <a:xfrm>
            <a:off x="670243" y="6263638"/>
            <a:ext cx="53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https://github.com/mosejong/procurement-logistics-ai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패턴, 사각형, 그래픽, 픽셀이(가) 표시된 사진&#10;&#10;AI 생성 콘텐츠는 정확하지 않을 수 있습니다." id="565" name="Google Shape;5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4317" y="3317488"/>
            <a:ext cx="2518318" cy="251831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2"/>
          <p:cNvSpPr/>
          <p:nvPr/>
        </p:nvSpPr>
        <p:spPr>
          <a:xfrm>
            <a:off x="5829820" y="3818587"/>
            <a:ext cx="2725433" cy="166480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라이브 데모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바로가기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