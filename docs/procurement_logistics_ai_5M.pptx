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79" r:id="rId9"/>
    <p:sldId id="270" r:id="rId10"/>
    <p:sldId id="271" r:id="rId11"/>
    <p:sldId id="27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194A14-DEA4-43D1-6AE0-680207CD8132}" v="2309" dt="2026-05-18T14:59:02.734"/>
    <p1510:client id="{604FCC6F-3D47-A295-75EC-19558837CE6F}" v="627" dt="2026-05-19T00:46:59.422"/>
    <p1510:client id="{94674C48-0ABA-B26F-4039-04AD4DEAADC3}" v="44" dt="2026-05-19T01:08:34.711"/>
    <p1510:client id="{D574EE88-DC9B-8A1C-4C79-4DE3DDB4AC0E}" v="352" dt="2026-05-19T04:01:29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solidFill>
              <a:srgbClr val="F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2026 공공조달데이터·AI 활용 창업경진대회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114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0F2340"/>
                </a:solidFill>
                <a:latin typeface="Malgun Gothic"/>
              </a:rPr>
              <a:t>공공조달 수요 기반</a:t>
            </a:r>
            <a:br/>
            <a:r>
              <a:rPr sz="3800" b="1">
                <a:solidFill>
                  <a:srgbClr val="0F2340"/>
                </a:solidFill>
                <a:latin typeface="Malgun Gothic"/>
              </a:rPr>
              <a:t>창업 입지·물류 거점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나라장터 입찰공고 100,083건으로 지역별 공공수요를 해석하는 서비스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657600"/>
            <a:ext cx="1645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71323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조달청 데이터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3657600"/>
            <a:ext cx="164592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258775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입지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3657600"/>
            <a:ext cx="1645920" cy="38404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46227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AI 해석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3657600"/>
            <a:ext cx="1645920" cy="38404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33679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050" b="1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물류</a:t>
            </a:r>
            <a:r>
              <a:rPr lang="en-US" sz="1050" b="1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050" b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거점 </a:t>
            </a:r>
            <a:r>
              <a:rPr lang="ko-KR" altLang="en-US" sz="1050" b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분석</a:t>
            </a:r>
            <a:endParaRPr lang="ko-KR" altLang="en-US" sz="1050" b="1">
              <a:solidFill>
                <a:srgbClr val="FFFFFF"/>
              </a:solidFill>
              <a:latin typeface="Malgun Gothic"/>
              <a:ea typeface="Malgun Gothic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0F2340"/>
                </a:solidFill>
                <a:latin typeface="Malgun Gothic"/>
              </a:rPr>
              <a:t>발표자  모세종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989320"/>
            <a:ext cx="32918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0" dirty="0" err="1">
                <a:solidFill>
                  <a:srgbClr val="64748B"/>
                </a:solidFill>
                <a:latin typeface="Malgun Gothic"/>
              </a:rPr>
              <a:t>발표</a:t>
            </a:r>
            <a:r>
              <a:rPr sz="12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lang="en-US" sz="1200" dirty="0">
                <a:solidFill>
                  <a:srgbClr val="64748B"/>
                </a:solidFill>
                <a:latin typeface="Malgun Gothic"/>
              </a:rPr>
              <a:t>5</a:t>
            </a:r>
            <a:r>
              <a:rPr sz="1200" b="0" dirty="0">
                <a:solidFill>
                  <a:srgbClr val="64748B"/>
                </a:solidFill>
                <a:latin typeface="Malgun Gothic"/>
              </a:rPr>
              <a:t>분 + Q&amp;A 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99032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문제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93116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창업자는 공공기관 수요를 보지 못한다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457256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68680" y="2566984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38968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000" b="1">
                <a:solidFill>
                  <a:srgbClr val="0F2340"/>
                </a:solidFill>
                <a:latin typeface="Malgun Gothic"/>
              </a:rPr>
              <a:t>서비스</a:t>
            </a:r>
            <a:r>
              <a:rPr lang="ko-KR" sz="2000" b="1">
                <a:solidFill>
                  <a:srgbClr val="0F2340"/>
                </a:solidFill>
                <a:latin typeface="Malgun Gothic"/>
                <a:ea typeface="맑은 고딕"/>
              </a:rPr>
              <a:t> 및 데이터</a:t>
            </a:r>
            <a:endParaRPr lang="ko-KR" altLang="en-US" sz="2000" b="1">
              <a:solidFill>
                <a:srgbClr val="0F2340"/>
              </a:solidFill>
              <a:latin typeface="Malgun Gothic"/>
              <a:ea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2833052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10</a:t>
            </a:r>
            <a:r>
              <a:rPr lang="ko-KR" altLang="en-US" sz="160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만</a:t>
            </a:r>
            <a:r>
              <a:rPr lang="en-US" sz="1600" dirty="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 dirty="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건</a:t>
            </a:r>
            <a:r>
              <a:rPr lang="en-US" sz="1600" dirty="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 · 4</a:t>
            </a:r>
            <a:r>
              <a:rPr lang="ko-KR" altLang="en-US" sz="1600" dirty="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개</a:t>
            </a:r>
            <a:r>
              <a:rPr lang="en-US" sz="1600" dirty="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 dirty="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기관</a:t>
            </a:r>
            <a:r>
              <a:rPr lang="en-US" sz="1600" dirty="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 · ML 98%</a:t>
            </a:r>
            <a:endParaRPr lang="ko-KR" dirty="0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68680" y="3500808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68680" y="3610536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algun Gothic"/>
              </a:rPr>
              <a:t>03</a:t>
            </a: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508760" y="3533320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000" b="1">
                <a:solidFill>
                  <a:srgbClr val="0F2340"/>
                </a:solidFill>
                <a:latin typeface="Malgun Gothic"/>
              </a:rPr>
              <a:t>데모</a:t>
            </a:r>
            <a:endParaRPr lang="ko-KR" altLang="en-US" sz="20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08760" y="3876604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ko-KR" sz="1600" b="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부산 </a:t>
            </a:r>
            <a:r>
              <a:rPr lang="ko-KR" sz="160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급식·식자재 창업 시나리오</a:t>
            </a:r>
            <a:endParaRPr lang="ko-KR" sz="1600" dirty="0">
              <a:solidFill>
                <a:srgbClr val="64748B"/>
              </a:solidFill>
              <a:latin typeface="Malgun Gothic"/>
              <a:ea typeface="Malgun Gothic"/>
              <a:cs typeface="+mn-lt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68680" y="4540744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868680" y="4650472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algun Gothic"/>
              </a:rPr>
              <a:t>04</a:t>
            </a:r>
            <a:endParaRPr lang="ko-KR"/>
          </a:p>
        </p:txBody>
      </p:sp>
      <p:sp>
        <p:nvSpPr>
          <p:cNvPr id="24" name="TextBox 23"/>
          <p:cNvSpPr txBox="1"/>
          <p:nvPr/>
        </p:nvSpPr>
        <p:spPr>
          <a:xfrm>
            <a:off x="1508760" y="4522456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dirty="0" err="1">
                <a:solidFill>
                  <a:srgbClr val="0F2340"/>
                </a:solidFill>
                <a:latin typeface="Malgun Gothic"/>
              </a:rPr>
              <a:t>비즈니스</a:t>
            </a:r>
            <a:r>
              <a:rPr sz="20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ko-KR" sz="2000" b="1">
                <a:solidFill>
                  <a:srgbClr val="0F2340"/>
                </a:solidFill>
                <a:latin typeface="Malgun Gothic"/>
              </a:rPr>
              <a:t>모델</a:t>
            </a:r>
            <a:endParaRPr lang="ko-KR" altLang="en-US" sz="20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4916540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B2B </a:t>
            </a:r>
            <a:r>
              <a:rPr lang="ko-KR" sz="160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상담</a:t>
            </a:r>
            <a:r>
              <a:rPr lang="en-US" sz="1600" dirty="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sz="160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도구</a:t>
            </a:r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 · </a:t>
            </a:r>
            <a:r>
              <a:rPr lang="ko-KR" sz="1600">
                <a:solidFill>
                  <a:srgbClr val="64748B"/>
                </a:solidFill>
                <a:latin typeface="Malgun Gothic"/>
                <a:ea typeface="Malgun Gothic"/>
                <a:cs typeface="+mn-lt"/>
              </a:rPr>
              <a:t>기대효과</a:t>
            </a:r>
            <a:endParaRPr sz="1600" b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42AA8B7C-D943-A39E-61EA-83F9044AAE65}"/>
              </a:ext>
            </a:extLst>
          </p:cNvPr>
          <p:cNvSpPr/>
          <p:nvPr/>
        </p:nvSpPr>
        <p:spPr>
          <a:xfrm>
            <a:off x="640080" y="2539139"/>
            <a:ext cx="36576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E12655C4-29ED-5CBA-860B-E62D038DEF5D}"/>
              </a:ext>
            </a:extLst>
          </p:cNvPr>
          <p:cNvSpPr/>
          <p:nvPr/>
        </p:nvSpPr>
        <p:spPr>
          <a:xfrm>
            <a:off x="640080" y="2539139"/>
            <a:ext cx="73152" cy="2971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31939D29-A045-21CA-00B7-2DCD91A42D78}"/>
              </a:ext>
            </a:extLst>
          </p:cNvPr>
          <p:cNvSpPr/>
          <p:nvPr/>
        </p:nvSpPr>
        <p:spPr>
          <a:xfrm>
            <a:off x="4480560" y="2539139"/>
            <a:ext cx="347472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6660C44B-2DC3-FF71-C991-FEFFAB39EF07}"/>
              </a:ext>
            </a:extLst>
          </p:cNvPr>
          <p:cNvSpPr/>
          <p:nvPr/>
        </p:nvSpPr>
        <p:spPr>
          <a:xfrm>
            <a:off x="4480560" y="2539139"/>
            <a:ext cx="73152" cy="2971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A534E09E-103F-27EC-445F-B91ABE6ED8A9}"/>
              </a:ext>
            </a:extLst>
          </p:cNvPr>
          <p:cNvSpPr/>
          <p:nvPr/>
        </p:nvSpPr>
        <p:spPr>
          <a:xfrm>
            <a:off x="8138160" y="2539139"/>
            <a:ext cx="34290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ectangle 15">
            <a:extLst>
              <a:ext uri="{FF2B5EF4-FFF2-40B4-BE49-F238E27FC236}">
                <a16:creationId xmlns:a16="http://schemas.microsoft.com/office/drawing/2014/main" id="{8295FE01-A563-315F-D4D7-8262E6FFE2E8}"/>
              </a:ext>
            </a:extLst>
          </p:cNvPr>
          <p:cNvSpPr/>
          <p:nvPr/>
        </p:nvSpPr>
        <p:spPr>
          <a:xfrm>
            <a:off x="8138160" y="2539139"/>
            <a:ext cx="73152" cy="2971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dirty="0" err="1">
                <a:solidFill>
                  <a:srgbClr val="0F2340"/>
                </a:solidFill>
                <a:latin typeface="Malgun Gothic"/>
              </a:rPr>
              <a:t>창업자는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ko-KR" sz="2500" b="1" dirty="0">
                <a:solidFill>
                  <a:srgbClr val="0F2340"/>
                </a:solidFill>
                <a:latin typeface="Malgun Gothic"/>
              </a:rPr>
              <a:t>상권을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br>
              <a:rPr dirty="0"/>
            </a:b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공공기관이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필요로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하는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것은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보지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못합니다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197" y="2691075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현장에서 본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197" y="3184386"/>
            <a:ext cx="3063240" cy="11231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예측이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틀리면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재고·이동·운영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비용이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바로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손실로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이어집니다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87668" y="2691075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기존 판단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7668" y="3184386"/>
            <a:ext cx="3063240" cy="14925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예비창업자는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유동인구와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상권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lang="ko-KR" sz="1600">
                <a:solidFill>
                  <a:srgbClr val="0F172A"/>
                </a:solidFill>
                <a:latin typeface="Malgun Gothic"/>
              </a:rPr>
              <a:t>정보를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보지만</a:t>
            </a:r>
            <a:endParaRPr lang="ko-KR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공공수요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데이터는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>
              <a:solidFill>
                <a:srgbClr val="000000"/>
              </a:solidFill>
              <a:latin typeface="Calibri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잘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활용하지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못합니다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2691074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프로젝트 질문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184385"/>
            <a:ext cx="3063240" cy="11231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입찰공고를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신호로</a:t>
            </a:r>
            <a:endParaRPr lang="ko-KR" altLang="en-US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보면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창업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입지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사전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검토에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활용할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수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있지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않을까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lang="ko-KR" altLang="en-US">
              <a:ea typeface="맑은 고딕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09C87E33-E9E1-C4A6-8CCF-3528AC6525D9}"/>
              </a:ext>
            </a:extLst>
          </p:cNvPr>
          <p:cNvSpPr/>
          <p:nvPr/>
        </p:nvSpPr>
        <p:spPr>
          <a:xfrm>
            <a:off x="683210" y="1863402"/>
            <a:ext cx="10764233" cy="1140892"/>
          </a:xfrm>
          <a:prstGeom prst="fram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대표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시나리오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: </a:t>
            </a:r>
            <a:r>
              <a:rPr lang="en-US" sz="2000" b="1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급식·식자재</a:t>
            </a:r>
            <a:endParaRPr lang="en-US" err="1">
              <a:solidFill>
                <a:srgbClr val="FFFFFF"/>
              </a:solidFill>
              <a:latin typeface="Calibri"/>
              <a:ea typeface="Calibri"/>
              <a:cs typeface="+mn-lt"/>
            </a:endParaRPr>
          </a:p>
          <a:p>
            <a:pPr algn="ctr"/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       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반복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수요가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있고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납품·보관·이동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비용이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입지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판단에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직접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영향을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주는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품목입니다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서비스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공공조달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시장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진입을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앞둔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ko-KR" sz="2500" b="1" dirty="0" err="1">
                <a:solidFill>
                  <a:srgbClr val="0F2340"/>
                </a:solidFill>
                <a:latin typeface="Malgun Gothic"/>
                <a:ea typeface="Malgun Gothic"/>
              </a:rPr>
              <a:t>사람에게</a:t>
            </a:r>
            <a:r>
              <a:rPr lang="ko-KR" sz="2500" b="1" dirty="0">
                <a:solidFill>
                  <a:srgbClr val="0F2340"/>
                </a:solidFill>
                <a:latin typeface="Malgun Gothic"/>
                <a:ea typeface="Malgun Gothic"/>
              </a:rPr>
              <a:t> </a:t>
            </a:r>
            <a:r>
              <a:rPr lang="ko-KR" sz="2500" b="1" dirty="0" err="1">
                <a:solidFill>
                  <a:srgbClr val="0F2340"/>
                </a:solidFill>
                <a:latin typeface="Malgun Gothic"/>
                <a:ea typeface="Malgun Gothic"/>
              </a:rPr>
              <a:t>지역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선택의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근거를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제공합니다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sz="25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3114233"/>
            <a:ext cx="36576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640080" y="3114233"/>
            <a:ext cx="73152" cy="2971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41247" y="3278825"/>
            <a:ext cx="33375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 dirty="0">
                <a:solidFill>
                  <a:srgbClr val="0F2340"/>
                </a:solidFill>
                <a:latin typeface="Malgun Gothic"/>
              </a:rPr>
              <a:t>① </a:t>
            </a:r>
            <a:r>
              <a:rPr b="1" dirty="0" err="1">
                <a:solidFill>
                  <a:srgbClr val="0F2340"/>
                </a:solidFill>
                <a:latin typeface="Malgun Gothic"/>
              </a:rPr>
              <a:t>예비창업자</a:t>
            </a:r>
            <a:endParaRPr lang="ko-KR" altLang="en-US" b="1" dirty="0" err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7" y="3739073"/>
            <a:ext cx="3337560" cy="19791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급식·식자재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납품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창업을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고민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중이지만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어느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지역부터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r>
              <a:rPr sz="1600" b="0" err="1">
                <a:solidFill>
                  <a:srgbClr val="0F172A"/>
                </a:solidFill>
                <a:latin typeface="Malgun Gothic"/>
              </a:rPr>
              <a:t>진입해야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할지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감에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의존하고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있음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공공수요·경쟁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구조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비교로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후보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압축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0560" y="3114233"/>
            <a:ext cx="347472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4480560" y="3114233"/>
            <a:ext cx="73152" cy="2971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681728" y="3278825"/>
            <a:ext cx="31546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② B2G 납품업체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739073"/>
            <a:ext cx="3154679" cy="1609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신규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영업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확장해야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r>
              <a:rPr sz="1600" b="0" err="1">
                <a:solidFill>
                  <a:srgbClr val="0F172A"/>
                </a:solidFill>
                <a:latin typeface="Malgun Gothic"/>
              </a:rPr>
              <a:t>하지만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내부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데이터가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부족함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공고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건수·경쟁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구조로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우선순위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설정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3114233"/>
            <a:ext cx="34290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8138160" y="3114233"/>
            <a:ext cx="73152" cy="2971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339328" y="3278825"/>
            <a:ext cx="31089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③ 창업 상담기관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739073"/>
            <a:ext cx="3108960" cy="1609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상담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시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설명할</a:t>
            </a:r>
            <a:endParaRPr lang="ko-KR" altLang="en-US">
              <a:cs typeface="Calibri"/>
            </a:endParaRPr>
          </a:p>
          <a:p>
            <a:r>
              <a:rPr sz="1600" b="0">
                <a:solidFill>
                  <a:srgbClr val="0F172A"/>
                </a:solidFill>
                <a:latin typeface="Malgun Gothic"/>
              </a:rPr>
              <a:t>근거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자료가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부족함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리포트를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상담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보조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자료로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활용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  <p:pic>
        <p:nvPicPr>
          <p:cNvPr id="20" name="그래픽 19" descr="혼란스러운 사람 단색으로 채워진">
            <a:extLst>
              <a:ext uri="{FF2B5EF4-FFF2-40B4-BE49-F238E27FC236}">
                <a16:creationId xmlns:a16="http://schemas.microsoft.com/office/drawing/2014/main" id="{A7D0759D-6B9A-7437-7058-22484EDCF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6762" y="2037271"/>
            <a:ext cx="770628" cy="7131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14">
            <a:extLst>
              <a:ext uri="{FF2B5EF4-FFF2-40B4-BE49-F238E27FC236}">
                <a16:creationId xmlns:a16="http://schemas.microsoft.com/office/drawing/2014/main" id="{93A8975D-CA70-9253-C06B-5A8026E1B399}"/>
              </a:ext>
            </a:extLst>
          </p:cNvPr>
          <p:cNvSpPr/>
          <p:nvPr/>
        </p:nvSpPr>
        <p:spPr>
          <a:xfrm>
            <a:off x="8750730" y="2329035"/>
            <a:ext cx="253578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프로젝트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err="1">
                <a:solidFill>
                  <a:srgbClr val="0F2340"/>
                </a:solidFill>
                <a:latin typeface="Malgun Gothic"/>
              </a:rPr>
              <a:t>나라장터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입찰공고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100,083건을 </a:t>
            </a:r>
            <a:r>
              <a:rPr lang="ko-KR" altLang="en-US" sz="2500" b="1">
                <a:solidFill>
                  <a:srgbClr val="0F2340"/>
                </a:solidFill>
                <a:latin typeface="Malgun Gothic"/>
                <a:ea typeface="Malgun Gothic"/>
              </a:rPr>
              <a:t>분석하여,</a:t>
            </a:r>
            <a:br>
              <a:rPr sz="2500" dirty="0"/>
            </a:br>
            <a:r>
              <a:rPr sz="2500" b="1">
                <a:solidFill>
                  <a:srgbClr val="0F2340"/>
                </a:solidFill>
                <a:latin typeface="Malgun Gothic"/>
              </a:rPr>
              <a:t>창업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입지·물류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거점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판단을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돕는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서비스입니다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210446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7839" y="2651760"/>
            <a:ext cx="212852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100,083건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839" y="3878967"/>
            <a:ext cx="212852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입찰공고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839" y="5026616"/>
            <a:ext cx="212852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algun Gothic"/>
              </a:rPr>
              <a:t>최근 2년 수집·분석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7653" y="2341880"/>
            <a:ext cx="210446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30880" y="2651760"/>
            <a:ext cx="211836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17개 시도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80" y="3878967"/>
            <a:ext cx="21183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전국 범위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0880" y="5026616"/>
            <a:ext cx="211836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>
                <a:solidFill>
                  <a:srgbClr val="64748B"/>
                </a:solidFill>
                <a:latin typeface="Malgun Gothic"/>
                <a:ea typeface="Malgun Gothic"/>
              </a:rPr>
              <a:t>광역 단위 전체</a:t>
            </a:r>
            <a:endParaRPr lang="ko-KR" sz="1400" dirty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92386" y="2349356"/>
            <a:ext cx="2118839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64628" y="2651760"/>
            <a:ext cx="254508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5종 AI 해석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4628" y="3878967"/>
            <a:ext cx="25450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보조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4628" y="5026616"/>
            <a:ext cx="254508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algun Gothic"/>
              </a:rPr>
              <a:t>수치를 자연어로 변환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288FE9-DF63-D48B-E4C0-26A247E2A0B1}"/>
              </a:ext>
            </a:extLst>
          </p:cNvPr>
          <p:cNvSpPr txBox="1"/>
          <p:nvPr/>
        </p:nvSpPr>
        <p:spPr>
          <a:xfrm>
            <a:off x="6004751" y="2661919"/>
            <a:ext cx="21082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2800" b="1">
                <a:solidFill>
                  <a:srgbClr val="1D4ED8"/>
                </a:solidFill>
                <a:latin typeface="Malgun Gothic"/>
              </a:rPr>
              <a:t>220</a:t>
            </a:r>
            <a:r>
              <a:rPr lang="ko-KR" altLang="en-US" sz="2800" b="1">
                <a:solidFill>
                  <a:srgbClr val="1D4ED8"/>
                </a:solidFill>
                <a:latin typeface="Malgun Gothic"/>
                <a:ea typeface="Malgun Gothic"/>
              </a:rPr>
              <a:t>개</a:t>
            </a:r>
            <a:r>
              <a:rPr lang="en-US" sz="2800" b="1">
                <a:solidFill>
                  <a:srgbClr val="1D4ED8"/>
                </a:solidFill>
                <a:latin typeface="Malgun Gothic"/>
              </a:rPr>
              <a:t> </a:t>
            </a:r>
            <a:r>
              <a:rPr lang="ko-KR" altLang="en-US" sz="2800" b="1">
                <a:solidFill>
                  <a:srgbClr val="1D4ED8"/>
                </a:solidFill>
                <a:latin typeface="Malgun Gothic"/>
                <a:ea typeface="Malgun Gothic"/>
              </a:rPr>
              <a:t>지역</a:t>
            </a:r>
            <a:endParaRPr lang="ko-KR" altLang="en-US" sz="2800" b="1">
              <a:solidFill>
                <a:srgbClr val="1D4ED8"/>
              </a:solidFill>
              <a:latin typeface="Malgun Gothic"/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653F72-7C8D-7CF6-2268-DEF52AA664B6}"/>
              </a:ext>
            </a:extLst>
          </p:cNvPr>
          <p:cNvSpPr txBox="1"/>
          <p:nvPr/>
        </p:nvSpPr>
        <p:spPr>
          <a:xfrm>
            <a:off x="6004751" y="3889126"/>
            <a:ext cx="210820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시</a:t>
            </a:r>
            <a:r>
              <a:rPr lang="ko-KR" sz="2000" b="1">
                <a:solidFill>
                  <a:srgbClr val="0F2340"/>
                </a:solidFill>
                <a:latin typeface="Malgun Gothic"/>
                <a:ea typeface="Malgun Gothic"/>
              </a:rPr>
              <a:t>·</a:t>
            </a:r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군</a:t>
            </a:r>
            <a:r>
              <a:rPr lang="ko-KR" sz="2000" b="1">
                <a:solidFill>
                  <a:srgbClr val="0F2340"/>
                </a:solidFill>
                <a:latin typeface="Malgun Gothic"/>
                <a:ea typeface="Malgun Gothic"/>
              </a:rPr>
              <a:t>·</a:t>
            </a:r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0C20CE-7FE7-3201-C4B3-4DE6B14EFC70}"/>
              </a:ext>
            </a:extLst>
          </p:cNvPr>
          <p:cNvSpPr txBox="1"/>
          <p:nvPr/>
        </p:nvSpPr>
        <p:spPr>
          <a:xfrm>
            <a:off x="6004751" y="5036775"/>
            <a:ext cx="21082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>
                <a:solidFill>
                  <a:srgbClr val="64748B"/>
                </a:solidFill>
                <a:latin typeface="Malgun Gothic"/>
                <a:ea typeface="Malgun Gothic"/>
              </a:rPr>
              <a:t>세부 지역 분석</a:t>
            </a:r>
            <a:endParaRPr lang="ko-KR" altLang="en-US" sz="1400" dirty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F6B4905-16DF-109C-2A8C-3DDCB58C21DA}"/>
              </a:ext>
            </a:extLst>
          </p:cNvPr>
          <p:cNvSpPr/>
          <p:nvPr/>
        </p:nvSpPr>
        <p:spPr>
          <a:xfrm>
            <a:off x="1910080" y="4739640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데이터 결합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04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>
                <a:solidFill>
                  <a:srgbClr val="0F2340"/>
                </a:solidFill>
                <a:latin typeface="Malgun Gothic"/>
              </a:rPr>
              <a:t>공공수요 하나만으로는 입지를 판단하기 어렵습니다.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73152" cy="1920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조달청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어떤 품목이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얼마나 발주되는가</a:t>
            </a:r>
            <a:endParaRPr lang="ko-KR" altLang="en-US"/>
          </a:p>
        </p:txBody>
      </p:sp>
      <p:sp>
        <p:nvSpPr>
          <p:cNvPr id="11" name="Rounded Rectangle 10"/>
          <p:cNvSpPr/>
          <p:nvPr/>
        </p:nvSpPr>
        <p:spPr>
          <a:xfrm>
            <a:off x="3502152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965960"/>
            <a:ext cx="73152" cy="19202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행안부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지역 인구 규모와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소비층 구성</a:t>
            </a:r>
            <a:endParaRPr lang="ko-KR" altLang="en-US"/>
          </a:p>
        </p:txBody>
      </p:sp>
      <p:sp>
        <p:nvSpPr>
          <p:cNvPr id="15" name="Rounded Rectangle 14"/>
          <p:cNvSpPr/>
          <p:nvPr/>
        </p:nvSpPr>
        <p:spPr>
          <a:xfrm>
            <a:off x="6409944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9944" y="1965960"/>
            <a:ext cx="73152" cy="19202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소상공인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업종별 점포 수와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경쟁 포화도</a:t>
            </a:r>
            <a:endParaRPr lang="ko-KR" altLang="en-US"/>
          </a:p>
        </p:txBody>
      </p:sp>
      <p:sp>
        <p:nvSpPr>
          <p:cNvPr id="19" name="Rounded Rectangle 18"/>
          <p:cNvSpPr/>
          <p:nvPr/>
        </p:nvSpPr>
        <p:spPr>
          <a:xfrm>
            <a:off x="9317736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17736" y="1965960"/>
            <a:ext cx="73152" cy="19202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18904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KOSIS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8904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업종별 생존율과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진입 리스크</a:t>
            </a:r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70DF8D-2EB7-6AFA-3447-6907EB85BB25}"/>
              </a:ext>
            </a:extLst>
          </p:cNvPr>
          <p:cNvSpPr txBox="1"/>
          <p:nvPr/>
        </p:nvSpPr>
        <p:spPr>
          <a:xfrm>
            <a:off x="0" y="5004990"/>
            <a:ext cx="12192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    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4개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기관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데이터를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결합해야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기회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와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위험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을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구분할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수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있습니다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.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5B82A0A7-7BE2-63DE-A685-EAE216333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0560" y="4861560"/>
            <a:ext cx="68072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ko-KR" sz="2400" b="1">
                <a:solidFill>
                  <a:srgbClr val="0F2340"/>
                </a:solidFill>
                <a:latin typeface="Malgun Gothic"/>
                <a:ea typeface="Malgun Gothic"/>
                <a:cs typeface="+mn-lt"/>
              </a:rPr>
              <a:t>데모</a:t>
            </a:r>
            <a:r>
              <a:rPr lang="ko-KR" sz="2400" b="1">
                <a:solidFill>
                  <a:srgbClr val="0F2340"/>
                </a:solidFill>
                <a:latin typeface="Malgun Gothic"/>
                <a:ea typeface="맑은 고딕"/>
                <a:cs typeface="+mn-lt"/>
              </a:rPr>
              <a:t> 요약</a:t>
            </a:r>
            <a:endParaRPr lang="ko-KR" sz="2400" b="1">
              <a:solidFill>
                <a:srgbClr val="0F2340"/>
              </a:solidFill>
              <a:latin typeface="Malgun Gothic"/>
              <a:ea typeface="Malgun Gothic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05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7492" y="1078992"/>
            <a:ext cx="2835791" cy="22467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Malgun Gothic"/>
              </a:rPr>
              <a:t>① 부산 선택 후 자치구 분포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4335" y="1078992"/>
            <a:ext cx="3037073" cy="22467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Malgun Gothic"/>
              </a:rPr>
              <a:t>② 해운대구 선택 후 상세 지표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EBF852E1-DB45-FF72-4034-50BE902901D1}"/>
              </a:ext>
            </a:extLst>
          </p:cNvPr>
          <p:cNvSpPr/>
          <p:nvPr/>
        </p:nvSpPr>
        <p:spPr>
          <a:xfrm>
            <a:off x="6889649" y="2097273"/>
            <a:ext cx="462788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ko-KR" altLang="en-US" sz="1600"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94614" y="2143984"/>
            <a:ext cx="4624142" cy="66011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dirty="0" err="1">
                <a:solidFill>
                  <a:schemeClr val="tx2"/>
                </a:solidFill>
                <a:latin typeface="Malgun Gothic"/>
              </a:rPr>
              <a:t>부산을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dirty="0" err="1">
                <a:solidFill>
                  <a:schemeClr val="tx2"/>
                </a:solidFill>
                <a:latin typeface="Malgun Gothic"/>
              </a:rPr>
              <a:t>선택하면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chemeClr val="tx2"/>
                </a:solidFill>
                <a:latin typeface="Malgun Gothic"/>
              </a:rPr>
              <a:t>자치구별</a:t>
            </a:r>
            <a:r>
              <a:rPr sz="14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chemeClr val="tx2"/>
                </a:solidFill>
                <a:latin typeface="Malgun Gothic"/>
              </a:rPr>
              <a:t>수요</a:t>
            </a:r>
            <a:r>
              <a:rPr sz="1400" dirty="0" err="1">
                <a:solidFill>
                  <a:schemeClr val="tx2"/>
                </a:solidFill>
                <a:latin typeface="Malgun Gothic"/>
              </a:rPr>
              <a:t>가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dirty="0" err="1">
                <a:solidFill>
                  <a:schemeClr val="tx2"/>
                </a:solidFill>
                <a:latin typeface="Malgun Gothic"/>
              </a:rPr>
              <a:t>나뉘고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, </a:t>
            </a:r>
            <a:endParaRPr lang="ko-KR" altLang="en-US" sz="1400">
              <a:solidFill>
                <a:schemeClr val="tx2"/>
              </a:solidFill>
              <a:latin typeface="Malgun Gothic"/>
              <a:ea typeface="맑은 고딕"/>
            </a:endParaRPr>
          </a:p>
          <a:p>
            <a:pPr algn="ctr">
              <a:lnSpc>
                <a:spcPct val="150000"/>
              </a:lnSpc>
            </a:pPr>
            <a:r>
              <a:rPr sz="1400" b="1">
                <a:solidFill>
                  <a:schemeClr val="tx2"/>
                </a:solidFill>
                <a:latin typeface="Malgun Gothic"/>
              </a:rPr>
              <a:t>특정</a:t>
            </a:r>
            <a:r>
              <a:rPr sz="14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b="1" err="1">
                <a:solidFill>
                  <a:schemeClr val="tx2"/>
                </a:solidFill>
                <a:latin typeface="Malgun Gothic"/>
              </a:rPr>
              <a:t>구</a:t>
            </a:r>
            <a:r>
              <a:rPr sz="1400" err="1">
                <a:solidFill>
                  <a:schemeClr val="tx2"/>
                </a:solidFill>
                <a:latin typeface="Malgun Gothic"/>
              </a:rPr>
              <a:t>를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err="1">
                <a:solidFill>
                  <a:schemeClr val="tx2"/>
                </a:solidFill>
                <a:latin typeface="Malgun Gothic"/>
              </a:rPr>
              <a:t>선택하면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b="1" err="1">
                <a:solidFill>
                  <a:schemeClr val="tx2"/>
                </a:solidFill>
                <a:latin typeface="Malgun Gothic"/>
              </a:rPr>
              <a:t>상세</a:t>
            </a:r>
            <a:r>
              <a:rPr sz="14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b="1" err="1">
                <a:solidFill>
                  <a:schemeClr val="tx2"/>
                </a:solidFill>
                <a:latin typeface="Malgun Gothic"/>
              </a:rPr>
              <a:t>지표</a:t>
            </a:r>
            <a:r>
              <a:rPr sz="1400" err="1">
                <a:solidFill>
                  <a:schemeClr val="tx2"/>
                </a:solidFill>
                <a:latin typeface="Malgun Gothic"/>
              </a:rPr>
              <a:t>로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err="1">
                <a:solidFill>
                  <a:schemeClr val="tx2"/>
                </a:solidFill>
                <a:latin typeface="Malgun Gothic"/>
              </a:rPr>
              <a:t>이어집니다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.</a:t>
            </a:r>
            <a:endParaRPr lang="ko-KR" altLang="en-US" sz="1400">
              <a:solidFill>
                <a:schemeClr val="tx2"/>
              </a:solidFill>
              <a:latin typeface="Malgun Gothic"/>
              <a:ea typeface="Malgun Gothic"/>
            </a:endParaRPr>
          </a:p>
        </p:txBody>
      </p:sp>
      <p:pic>
        <p:nvPicPr>
          <p:cNvPr id="15" name="그림 14" descr="텍스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F1D65B-907F-7E54-4DC6-D609D3EC1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76" r="1449" b="21407"/>
          <a:stretch>
            <a:fillRect/>
          </a:stretch>
        </p:blipFill>
        <p:spPr>
          <a:xfrm>
            <a:off x="502057" y="1298825"/>
            <a:ext cx="2973424" cy="1891654"/>
          </a:xfrm>
          <a:prstGeom prst="rect">
            <a:avLst/>
          </a:prstGeom>
        </p:spPr>
      </p:pic>
      <p:pic>
        <p:nvPicPr>
          <p:cNvPr id="16" name="그림 15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C112CD-59BD-AEF3-14B8-DB1698E910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" t="86" r="46" b="21613"/>
          <a:stretch>
            <a:fillRect/>
          </a:stretch>
        </p:blipFill>
        <p:spPr>
          <a:xfrm>
            <a:off x="3479896" y="1388776"/>
            <a:ext cx="2980822" cy="1896623"/>
          </a:xfrm>
          <a:prstGeom prst="rect">
            <a:avLst/>
          </a:prstGeom>
        </p:spPr>
      </p:pic>
      <p:pic>
        <p:nvPicPr>
          <p:cNvPr id="18" name="그림 1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75145B-9680-EE86-A9B5-7566DBD466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93" r="-247" b="-1042"/>
          <a:stretch>
            <a:fillRect/>
          </a:stretch>
        </p:blipFill>
        <p:spPr>
          <a:xfrm>
            <a:off x="499110" y="3189726"/>
            <a:ext cx="2997153" cy="621550"/>
          </a:xfrm>
          <a:prstGeom prst="rect">
            <a:avLst/>
          </a:prstGeom>
        </p:spPr>
      </p:pic>
      <p:pic>
        <p:nvPicPr>
          <p:cNvPr id="19" name="그림 18" descr="텍스트, 스크린샷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25D62D-5E25-457E-072D-C5B95B91B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44" y="3193847"/>
            <a:ext cx="2613002" cy="614082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524A42D-30A4-01F8-CF1D-F135649E7C79}"/>
              </a:ext>
            </a:extLst>
          </p:cNvPr>
          <p:cNvSpPr/>
          <p:nvPr/>
        </p:nvSpPr>
        <p:spPr>
          <a:xfrm>
            <a:off x="6455827" y="2269024"/>
            <a:ext cx="341012" cy="40776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6" descr="S11_자치구비교_해운대vs동래_AI해석.png">
            <a:extLst>
              <a:ext uri="{FF2B5EF4-FFF2-40B4-BE49-F238E27FC236}">
                <a16:creationId xmlns:a16="http://schemas.microsoft.com/office/drawing/2014/main" id="{74FB07D5-D51B-C8CC-08CB-8BB534A0D0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4" r="590" b="204"/>
          <a:stretch>
            <a:fillRect/>
          </a:stretch>
        </p:blipFill>
        <p:spPr>
          <a:xfrm>
            <a:off x="6095712" y="3726707"/>
            <a:ext cx="5358241" cy="2252371"/>
          </a:xfrm>
          <a:prstGeom prst="rect">
            <a:avLst/>
          </a:prstGeom>
        </p:spPr>
      </p:pic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F04C5307-97EE-A5AF-0FB1-07713C48084B}"/>
              </a:ext>
            </a:extLst>
          </p:cNvPr>
          <p:cNvSpPr/>
          <p:nvPr/>
        </p:nvSpPr>
        <p:spPr>
          <a:xfrm>
            <a:off x="772371" y="4740215"/>
            <a:ext cx="4546600" cy="701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765C39-D565-9EB8-31C6-192A7593EEE5}"/>
              </a:ext>
            </a:extLst>
          </p:cNvPr>
          <p:cNvSpPr txBox="1"/>
          <p:nvPr/>
        </p:nvSpPr>
        <p:spPr>
          <a:xfrm>
            <a:off x="775419" y="4740215"/>
            <a:ext cx="4551680" cy="7017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4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해운대구는</a:t>
            </a:r>
            <a:r>
              <a:rPr lang="en-US" sz="14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급식·서비스</a:t>
            </a:r>
            <a:r>
              <a:rPr lang="en-US" sz="14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중심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, 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+mn-lt"/>
            </a:endParaRPr>
          </a:p>
          <a:p>
            <a:pPr algn="ctr"/>
            <a:r>
              <a:rPr lang="en-US" sz="14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동래구는</a:t>
            </a:r>
            <a:r>
              <a:rPr lang="en-US" sz="14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시설유지·환경관리</a:t>
            </a:r>
            <a:r>
              <a:rPr lang="en-US" sz="14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중심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+mn-lt"/>
            </a:endParaRPr>
          </a:p>
          <a:p>
            <a:pPr algn="ctr"/>
            <a:r>
              <a:rPr lang="en-US" sz="14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같은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부산이라도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진입</a:t>
            </a:r>
            <a:r>
              <a:rPr lang="en-US" sz="14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전략</a:t>
            </a:r>
            <a:r>
              <a:rPr lang="en-US" sz="14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이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달라집니다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0C8CCD55-8D09-4E8A-1CCD-07771015A2BB}"/>
              </a:ext>
            </a:extLst>
          </p:cNvPr>
          <p:cNvSpPr/>
          <p:nvPr/>
        </p:nvSpPr>
        <p:spPr>
          <a:xfrm rot="10800000">
            <a:off x="5562321" y="4885703"/>
            <a:ext cx="341012" cy="40776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ko-KR" sz="2400" b="1">
                <a:solidFill>
                  <a:srgbClr val="0F2340"/>
                </a:solidFill>
                <a:latin typeface="Malgun Gothic"/>
                <a:ea typeface="Malgun Gothic"/>
              </a:rPr>
              <a:t>물류 거점 </a:t>
            </a:r>
            <a:r>
              <a:rPr lang="ko-KR" altLang="en-US" sz="2400" b="1">
                <a:solidFill>
                  <a:srgbClr val="0F2340"/>
                </a:solidFill>
                <a:latin typeface="Malgun Gothic"/>
                <a:ea typeface="Malgun Gothic"/>
              </a:rPr>
              <a:t>분석 + AI해석</a:t>
            </a:r>
            <a:endParaRPr lang="ko-KR" sz="24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06</a:t>
            </a:r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8EFA2991-BA3A-E1C6-78C6-FD98D7221949}"/>
              </a:ext>
            </a:extLst>
          </p:cNvPr>
          <p:cNvSpPr/>
          <p:nvPr/>
        </p:nvSpPr>
        <p:spPr>
          <a:xfrm>
            <a:off x="6611112" y="189484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FBD4C0-C519-FBF4-FF9D-70D923FB8F47}"/>
              </a:ext>
            </a:extLst>
          </p:cNvPr>
          <p:cNvSpPr txBox="1"/>
          <p:nvPr/>
        </p:nvSpPr>
        <p:spPr>
          <a:xfrm>
            <a:off x="6614160" y="1949358"/>
            <a:ext cx="5191760" cy="6665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부산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1티어, </a:t>
            </a:r>
            <a:r>
              <a:rPr lang="en-US" sz="14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대전·세종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2티어, </a:t>
            </a:r>
            <a:r>
              <a:rPr lang="en-US" sz="14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수도권·광주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3티어</a:t>
            </a:r>
            <a:endParaRPr lang="en-US" sz="1600" dirty="0">
              <a:solidFill>
                <a:srgbClr val="000000"/>
              </a:solidFill>
              <a:latin typeface="Calibri"/>
              <a:ea typeface="Calibri"/>
              <a:cs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14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급식·식자재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물류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거점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구조를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자동</a:t>
            </a:r>
            <a:r>
              <a:rPr lang="en-US" sz="14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제안</a:t>
            </a:r>
            <a:r>
              <a:rPr lang="en-US" sz="14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합니다</a:t>
            </a:r>
            <a:r>
              <a:rPr lang="en-US" sz="14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 sz="1600" dirty="0">
              <a:ea typeface="Calibri"/>
              <a:cs typeface="Calibri"/>
            </a:endParaRPr>
          </a:p>
        </p:txBody>
      </p:sp>
      <p:pic>
        <p:nvPicPr>
          <p:cNvPr id="3" name="그림 2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41DA31-585A-65D5-113F-E0E62458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" r="382" b="25100"/>
          <a:stretch>
            <a:fillRect/>
          </a:stretch>
        </p:blipFill>
        <p:spPr>
          <a:xfrm>
            <a:off x="506705" y="1216887"/>
            <a:ext cx="5317514" cy="1618959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1119A5-9006-2B59-0703-8DACA4A2A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35" y="2832859"/>
            <a:ext cx="5310212" cy="927874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625945D-0A23-7882-2FEE-5C099BEC6351}"/>
              </a:ext>
            </a:extLst>
          </p:cNvPr>
          <p:cNvSpPr/>
          <p:nvPr/>
        </p:nvSpPr>
        <p:spPr>
          <a:xfrm>
            <a:off x="506513" y="2828693"/>
            <a:ext cx="1342730" cy="34680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C1131FE-33F2-8E65-B516-1A362FF07291}"/>
              </a:ext>
            </a:extLst>
          </p:cNvPr>
          <p:cNvSpPr/>
          <p:nvPr/>
        </p:nvSpPr>
        <p:spPr>
          <a:xfrm>
            <a:off x="6100227" y="2075984"/>
            <a:ext cx="341012" cy="40776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6" descr="S10c_AI경쟁구조해석_진입검토.png">
            <a:extLst>
              <a:ext uri="{FF2B5EF4-FFF2-40B4-BE49-F238E27FC236}">
                <a16:creationId xmlns:a16="http://schemas.microsoft.com/office/drawing/2014/main" id="{E5C88DE5-F94E-527B-39D9-4077E7A7E4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0" t="1168" r="541"/>
          <a:stretch>
            <a:fillRect/>
          </a:stretch>
        </p:blipFill>
        <p:spPr>
          <a:xfrm>
            <a:off x="5034280" y="3650510"/>
            <a:ext cx="6771684" cy="2620232"/>
          </a:xfrm>
          <a:prstGeom prst="rect">
            <a:avLst/>
          </a:prstGeom>
        </p:spPr>
      </p:pic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9005583D-ADEA-D5FE-5AD8-633F21623876}"/>
              </a:ext>
            </a:extLst>
          </p:cNvPr>
          <p:cNvSpPr/>
          <p:nvPr/>
        </p:nvSpPr>
        <p:spPr>
          <a:xfrm>
            <a:off x="352552" y="4617720"/>
            <a:ext cx="4292600" cy="660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CB0121-B4F5-040A-665A-FF669EF10162}"/>
              </a:ext>
            </a:extLst>
          </p:cNvPr>
          <p:cNvSpPr txBox="1"/>
          <p:nvPr/>
        </p:nvSpPr>
        <p:spPr>
          <a:xfrm>
            <a:off x="355600" y="4617720"/>
            <a:ext cx="4287520" cy="6665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AI 해석</a:t>
            </a:r>
            <a:r>
              <a:rPr lang="en-US" sz="14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은 최종 판단이 아니라 수치 지표를</a:t>
            </a:r>
            <a:endParaRPr lang="ko-KR" sz="1400" dirty="0">
              <a:solidFill>
                <a:schemeClr val="tx2"/>
              </a:solidFill>
              <a:latin typeface="Calibri"/>
              <a:ea typeface="맑은 고딕"/>
              <a:cs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14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읽기 쉬운 문장으로 바꾸는 </a:t>
            </a:r>
            <a:r>
              <a:rPr lang="en-US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보조 기능</a:t>
            </a:r>
            <a:r>
              <a:rPr lang="en-US" sz="14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입니다.</a:t>
            </a:r>
            <a:endParaRPr lang="ko-KR" sz="1400">
              <a:solidFill>
                <a:schemeClr val="tx2"/>
              </a:solidFill>
              <a:ea typeface="맑은 고딕"/>
              <a:cs typeface="Calibri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444FA264-2E00-60BC-2879-2FBDC0963A1F}"/>
              </a:ext>
            </a:extLst>
          </p:cNvPr>
          <p:cNvSpPr/>
          <p:nvPr/>
        </p:nvSpPr>
        <p:spPr>
          <a:xfrm rot="10800000">
            <a:off x="4759106" y="4758223"/>
            <a:ext cx="341012" cy="40776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89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비즈니스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</a:rPr>
              <a:t>07</a:t>
            </a:r>
            <a:endParaRPr lang="en-US" sz="1200" b="1" dirty="0">
              <a:solidFill>
                <a:srgbClr val="2563EB"/>
              </a:solidFill>
              <a:latin typeface="Malgun Gothic"/>
              <a:ea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dirty="0" err="1">
                <a:solidFill>
                  <a:srgbClr val="0F2340"/>
                </a:solidFill>
                <a:latin typeface="Malgun Gothic"/>
              </a:rPr>
              <a:t>현재는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무료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데모로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공개한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POC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단계입니다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3246120" cy="2717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73152" cy="2717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현재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08258"/>
            <a:ext cx="2926079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B2C 무료 데모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예비창업자가 직접 지역·품목 탐색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03120"/>
            <a:ext cx="3246120" cy="2717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2103120"/>
            <a:ext cx="73152" cy="2717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다음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708258"/>
            <a:ext cx="2926079" cy="19020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600" b="0" dirty="0">
                <a:solidFill>
                  <a:srgbClr val="0F172A"/>
                </a:solidFill>
                <a:latin typeface="Malgun Gothic"/>
              </a:rPr>
              <a:t>B2B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상담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도구</a:t>
            </a:r>
            <a:endParaRPr lang="ko-KR" altLang="en-US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pPr algn="l"/>
            <a:br>
              <a:rPr sz="2400" dirty="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창업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지원기관·상담사가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리포트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활용</a:t>
            </a:r>
            <a:endParaRPr lang="ko-KR" altLang="en-US">
              <a:ea typeface="맑은 고딕"/>
              <a:cs typeface="Calibri"/>
            </a:endParaRPr>
          </a:p>
          <a:p>
            <a:endParaRPr lang="ko-KR" sz="1600" dirty="0">
              <a:solidFill>
                <a:srgbClr val="0F172A"/>
              </a:solidFill>
              <a:latin typeface="Malgun Gothic"/>
              <a:ea typeface="Malgun Gothic"/>
            </a:endParaRPr>
          </a:p>
          <a:p>
            <a:r>
              <a:rPr lang="ko-KR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→ 상담 자료 준비 시간</a:t>
            </a:r>
            <a:endParaRPr lang="ko-KR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+mn-lt"/>
            </a:endParaRPr>
          </a:p>
          <a:p>
            <a:r>
              <a:rPr lang="ko-KR" altLang="en-US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 </a:t>
            </a:r>
            <a:r>
              <a:rPr lang="ko-KR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단축 · 후보 지역 압축</a:t>
            </a:r>
            <a:endParaRPr lang="ko-KR">
              <a:ea typeface="맑은 고딕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246120" cy="2717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73152" cy="2717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708258"/>
            <a:ext cx="2926079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플랫폼 연계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납품업체 영업 거점·지자체 정책 자료로 확대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C402D46-D6BB-53A0-D47A-5EA3A6C9BA77}"/>
              </a:ext>
            </a:extLst>
          </p:cNvPr>
          <p:cNvSpPr/>
          <p:nvPr/>
        </p:nvSpPr>
        <p:spPr>
          <a:xfrm>
            <a:off x="1967230" y="5249545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4479F2-30E5-31D5-A0BB-212067B255F1}"/>
              </a:ext>
            </a:extLst>
          </p:cNvPr>
          <p:cNvSpPr txBox="1"/>
          <p:nvPr/>
        </p:nvSpPr>
        <p:spPr>
          <a:xfrm>
            <a:off x="1971675" y="5356245"/>
            <a:ext cx="825817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핵심 수익화 방향은 </a:t>
            </a:r>
            <a:r>
              <a:rPr lang="ko-KR" altLang="en-US" sz="2000" b="1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창업 상담기관</a:t>
            </a:r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및 </a:t>
            </a:r>
            <a:r>
              <a:rPr lang="ko-KR" altLang="en-US" sz="2000" b="1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소상공인 지원센터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대상의</a:t>
            </a:r>
            <a:endParaRPr lang="ko-KR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상담 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보조 리포트/도구입니다.</a:t>
            </a:r>
            <a:endParaRPr lang="ko-K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기대 효과와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08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500" b="1" dirty="0">
                <a:solidFill>
                  <a:srgbClr val="0F2340"/>
                </a:solidFill>
                <a:latin typeface="Malgun Gothic"/>
              </a:rPr>
              <a:t>이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서비스는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공공수요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관점의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참고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자료이며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, </a:t>
            </a:r>
            <a:endParaRPr lang="ko-KR" altLang="en-US" sz="2500" b="1" dirty="0">
              <a:solidFill>
                <a:srgbClr val="0F2340"/>
              </a:solidFill>
              <a:latin typeface="Malgun Gothic"/>
            </a:endParaRPr>
          </a:p>
          <a:p>
            <a:pPr algn="l"/>
            <a:r>
              <a:rPr sz="2500" b="1">
                <a:solidFill>
                  <a:srgbClr val="0F2340"/>
                </a:solidFill>
                <a:latin typeface="Malgun Gothic"/>
              </a:rPr>
              <a:t>창업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성공을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예측하지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않습니다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176780"/>
            <a:ext cx="516636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76780"/>
            <a:ext cx="73152" cy="2743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341372"/>
            <a:ext cx="48463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60675"/>
            <a:ext cx="4846320" cy="15327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공공조달 시장 진입 전 지역·품목 수요를 사전 검토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4개 공공데이터 결합으로 다각도 분석 제공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상담 현장에서 지역별 수요 리포트로 활용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76780"/>
            <a:ext cx="516636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2176780"/>
            <a:ext cx="73152" cy="274320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2341372"/>
            <a:ext cx="48463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dirty="0" err="1">
                <a:solidFill>
                  <a:srgbClr val="0F2340"/>
                </a:solidFill>
                <a:latin typeface="Malgun Gothic"/>
              </a:rPr>
              <a:t>현재</a:t>
            </a:r>
            <a:r>
              <a:rPr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0F2340"/>
                </a:solidFill>
                <a:latin typeface="Malgun Gothic"/>
              </a:rPr>
              <a:t>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860675"/>
            <a:ext cx="4846320" cy="15327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공공조달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B2G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관점만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반영</a:t>
            </a:r>
            <a:br>
              <a:rPr sz="2400"/>
            </a:br>
            <a:br>
              <a:rPr sz="240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민간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실사용자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피드백은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추가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필요</a:t>
            </a:r>
            <a:br>
              <a:rPr sz="2400"/>
            </a:br>
            <a:br>
              <a:rPr sz="240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서비스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내에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한계를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명시해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과해석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방지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5561496-4D27-73E0-945D-812B74467CC7}"/>
              </a:ext>
            </a:extLst>
          </p:cNvPr>
          <p:cNvSpPr/>
          <p:nvPr/>
        </p:nvSpPr>
        <p:spPr>
          <a:xfrm>
            <a:off x="1967230" y="5249545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567F20-CDC0-DC15-4240-1BB30D782D21}"/>
              </a:ext>
            </a:extLst>
          </p:cNvPr>
          <p:cNvSpPr txBox="1"/>
          <p:nvPr/>
        </p:nvSpPr>
        <p:spPr>
          <a:xfrm>
            <a:off x="1971675" y="5356245"/>
            <a:ext cx="825817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감에 의존한 </a:t>
            </a:r>
            <a:r>
              <a:rPr lang="ko-KR" altLang="en-US" sz="2000" b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입지 선택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을 </a:t>
            </a:r>
            <a:r>
              <a:rPr lang="ko-KR" altLang="en-US" sz="2000" b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데이터 기반 사전 검토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로 바꾸는</a:t>
            </a:r>
            <a:endParaRPr lang="ko-KR" altLang="en-US" sz="2000" dirty="0">
              <a:solidFill>
                <a:schemeClr val="bg1"/>
              </a:solidFill>
              <a:latin typeface="Malgun Gothic"/>
              <a:ea typeface="Malgun Gothic"/>
              <a:cs typeface="Courier New"/>
            </a:endParaRPr>
          </a:p>
          <a:p>
            <a:pPr algn="ctr"/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첫 걸음입니다.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005B3-7596-656F-994D-5DACC9D6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27E4C0-C08A-ED69-90DB-79B2489FDC57}"/>
              </a:ext>
            </a:extLst>
          </p:cNvPr>
          <p:cNvSpPr/>
          <p:nvPr/>
        </p:nvSpPr>
        <p:spPr>
          <a:xfrm>
            <a:off x="9293" y="0"/>
            <a:ext cx="12191695" cy="6858000"/>
          </a:xfrm>
          <a:prstGeom prst="rect">
            <a:avLst/>
          </a:prstGeom>
          <a:solidFill>
            <a:srgbClr val="F0F7FF"/>
          </a:solidFill>
          <a:ln>
            <a:solidFill>
              <a:srgbClr val="F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D851A-2471-F8FB-98E9-7628690E843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45B8D-BC32-5C58-0D90-7774ADBB2BE1}"/>
              </a:ext>
            </a:extLst>
          </p:cNvPr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2026 공공조달데이터·AI 활용 창업경진대회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BC9DE-A93D-4101-2E78-8A1004CE460E}"/>
              </a:ext>
            </a:extLst>
          </p:cNvPr>
          <p:cNvSpPr txBox="1"/>
          <p:nvPr/>
        </p:nvSpPr>
        <p:spPr>
          <a:xfrm>
            <a:off x="1447799" y="3424540"/>
            <a:ext cx="3809630" cy="794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공공조달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수요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기반</a:t>
            </a:r>
            <a:br>
              <a:rPr sz="1100" dirty="0"/>
            </a:br>
            <a:r>
              <a:rPr sz="2400" b="1">
                <a:solidFill>
                  <a:srgbClr val="0F2340"/>
                </a:solidFill>
                <a:latin typeface="Malgun Gothic"/>
              </a:rPr>
              <a:t>창업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입지·물류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거점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분석</a:t>
            </a:r>
            <a:endParaRPr lang="ko-KR" altLang="en-US" sz="28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CEEDE-5EFB-9489-F756-12D336763018}"/>
              </a:ext>
            </a:extLst>
          </p:cNvPr>
          <p:cNvSpPr txBox="1"/>
          <p:nvPr/>
        </p:nvSpPr>
        <p:spPr>
          <a:xfrm>
            <a:off x="1159281" y="1636627"/>
            <a:ext cx="9875520" cy="107106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6600" b="1">
                <a:solidFill>
                  <a:srgbClr val="0F172A"/>
                </a:solidFill>
                <a:latin typeface="Malgun Gothic"/>
                <a:ea typeface="Malgun Gothic"/>
              </a:rPr>
              <a:t>감사합니다.</a:t>
            </a:r>
            <a:endParaRPr lang="ko-KR" sz="6600">
              <a:ea typeface="맑은 고딕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22964C-D164-0E77-CBC9-99EAC5BE7BA1}"/>
              </a:ext>
            </a:extLst>
          </p:cNvPr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0F2340"/>
                </a:solidFill>
                <a:latin typeface="Malgun Gothic"/>
              </a:rPr>
              <a:t>발표자  모세종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0CA912-CAB4-8F79-3149-5D161F90F48E}"/>
              </a:ext>
            </a:extLst>
          </p:cNvPr>
          <p:cNvSpPr txBox="1"/>
          <p:nvPr/>
        </p:nvSpPr>
        <p:spPr>
          <a:xfrm>
            <a:off x="8229600" y="5989320"/>
            <a:ext cx="32918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0" dirty="0" err="1">
                <a:solidFill>
                  <a:srgbClr val="64748B"/>
                </a:solidFill>
                <a:latin typeface="Malgun Gothic"/>
              </a:rPr>
              <a:t>발표</a:t>
            </a:r>
            <a:r>
              <a:rPr sz="12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lang="en-US" sz="1200" dirty="0">
                <a:solidFill>
                  <a:srgbClr val="64748B"/>
                </a:solidFill>
                <a:latin typeface="Malgun Gothic"/>
              </a:rPr>
              <a:t>5</a:t>
            </a:r>
            <a:r>
              <a:rPr sz="1200" b="0" dirty="0">
                <a:solidFill>
                  <a:srgbClr val="64748B"/>
                </a:solidFill>
                <a:latin typeface="Malgun Gothic"/>
              </a:rPr>
              <a:t>분 + Q&amp;A 5분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4BD7E-15CD-F065-236B-1F39F6311B20}"/>
              </a:ext>
            </a:extLst>
          </p:cNvPr>
          <p:cNvSpPr txBox="1"/>
          <p:nvPr/>
        </p:nvSpPr>
        <p:spPr>
          <a:xfrm>
            <a:off x="1273561" y="6344113"/>
            <a:ext cx="532284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sz="1400" dirty="0">
                <a:ea typeface="+mn-lt"/>
                <a:cs typeface="+mn-lt"/>
              </a:rPr>
              <a:t>https://github.com/mosejong/procurement-logistics-ai</a:t>
            </a:r>
            <a:endParaRPr lang="ko-KR" sz="1400">
              <a:ea typeface="맑은 고딕"/>
              <a:cs typeface="Calibri"/>
            </a:endParaRPr>
          </a:p>
        </p:txBody>
      </p:sp>
      <p:pic>
        <p:nvPicPr>
          <p:cNvPr id="19" name="그림 18" descr="패턴, 사각형, 그래픽, 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CB6D27-99B8-5A8D-34C1-E993C7F8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317" y="3317488"/>
            <a:ext cx="2518318" cy="2518318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4BCFE37-F8B1-7C7C-7855-A4C80A8B65B3}"/>
              </a:ext>
            </a:extLst>
          </p:cNvPr>
          <p:cNvSpPr/>
          <p:nvPr/>
        </p:nvSpPr>
        <p:spPr>
          <a:xfrm>
            <a:off x="5829820" y="3818587"/>
            <a:ext cx="2725433" cy="1664802"/>
          </a:xfrm>
          <a:prstGeom prst="right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3C3164-68E5-CDA8-B186-EB7CAB3AD792}"/>
              </a:ext>
            </a:extLst>
          </p:cNvPr>
          <p:cNvSpPr txBox="1"/>
          <p:nvPr/>
        </p:nvSpPr>
        <p:spPr>
          <a:xfrm>
            <a:off x="6099948" y="4233513"/>
            <a:ext cx="215706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400" b="1">
                <a:ea typeface="맑은 고딕"/>
                <a:cs typeface="Calibri"/>
              </a:rPr>
              <a:t>라이브 데모</a:t>
            </a:r>
            <a:endParaRPr lang="ko-KR" sz="2400" b="1">
              <a:ea typeface="맑은 고딕"/>
              <a:cs typeface="Calibri"/>
            </a:endParaRPr>
          </a:p>
          <a:p>
            <a:r>
              <a:rPr lang="ko-KR" altLang="en-US" sz="2400" b="1">
                <a:ea typeface="맑은 고딕"/>
                <a:cs typeface="Calibri"/>
              </a:rPr>
              <a:t>바로가기</a:t>
            </a:r>
            <a:endParaRPr lang="ko-KR" altLang="en-US" b="1" dirty="0">
              <a:ea typeface="맑은 고딕"/>
              <a:cs typeface="Calibri"/>
            </a:endParaRPr>
          </a:p>
        </p:txBody>
      </p:sp>
      <p:pic>
        <p:nvPicPr>
          <p:cNvPr id="22" name="그림 21" descr="로고, 텍스트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014788-0B9D-E926-C005-363147A0A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t="17087" r="26515" b="16667"/>
          <a:stretch>
            <a:fillRect/>
          </a:stretch>
        </p:blipFill>
        <p:spPr>
          <a:xfrm>
            <a:off x="688202" y="6257021"/>
            <a:ext cx="542584" cy="4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83D2A0-913A-443A-9CF6-9609FB9E9D1D}">
  <we:reference id="wa200005669" version="2.0.0.0" store="en-US" storeType="omex"/>
  <we:alternateReferences>
    <we:reference id="wa200005669" version="2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913</cp:revision>
  <dcterms:created xsi:type="dcterms:W3CDTF">2013-01-27T09:14:16Z</dcterms:created>
  <dcterms:modified xsi:type="dcterms:W3CDTF">2026-05-19T04:01:44Z</dcterms:modified>
  <cp:category/>
</cp:coreProperties>
</file>