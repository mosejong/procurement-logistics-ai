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5" r:id="rId8"/>
    <p:sldId id="279" r:id="rId9"/>
    <p:sldId id="270" r:id="rId10"/>
    <p:sldId id="271" r:id="rId11"/>
    <p:sldId id="280" r:id="rId12"/>
    <p:sldId id="27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194A14-DEA4-43D1-6AE0-680207CD8132}" v="2309" dt="2026-05-18T14:59:02.734"/>
    <p1510:client id="{604FCC6F-3D47-A295-75EC-19558837CE6F}" v="627" dt="2026-05-19T00:46:59.422"/>
    <p1510:client id="{94674C48-0ABA-B26F-4039-04AD4DEAADC3}" v="44" dt="2026-05-19T01:08:34.711"/>
    <p1510:client id="{D574EE88-DC9B-8A1C-4C79-4DE3DDB4AC0E}" v="1305" dt="2026-05-19T06:39:22.5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/>
          </a:solidFill>
          <a:ln>
            <a:solidFill>
              <a:srgbClr val="F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713232"/>
            <a:ext cx="10789920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Malgun Gothic"/>
              </a:rPr>
              <a:t>2026 공공조달데이터·AI 활용 창업경진대회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881360" cy="1143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3800" b="1">
                <a:solidFill>
                  <a:srgbClr val="0F2340"/>
                </a:solidFill>
                <a:latin typeface="Malgun Gothic"/>
              </a:rPr>
              <a:t>공공조달 수요 기반</a:t>
            </a:r>
            <a:br/>
            <a:r>
              <a:rPr sz="3800" b="1">
                <a:solidFill>
                  <a:srgbClr val="0F2340"/>
                </a:solidFill>
                <a:latin typeface="Malgun Gothic"/>
              </a:rPr>
              <a:t>창업 입지·물류 거점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788920"/>
            <a:ext cx="987552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나라장터 입찰공고 100,083건으로 지역별 공공수요를 해석하는 서비스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3657600"/>
            <a:ext cx="1645920" cy="384048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713232" y="3753612"/>
            <a:ext cx="1645920" cy="21698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조달청 데이터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87752" y="3657600"/>
            <a:ext cx="1645920" cy="384048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/>
          <p:cNvSpPr txBox="1"/>
          <p:nvPr/>
        </p:nvSpPr>
        <p:spPr>
          <a:xfrm>
            <a:off x="2587752" y="3753612"/>
            <a:ext cx="1645920" cy="21698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입지 분석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3657600"/>
            <a:ext cx="1645920" cy="384048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TextBox 11"/>
          <p:cNvSpPr txBox="1"/>
          <p:nvPr/>
        </p:nvSpPr>
        <p:spPr>
          <a:xfrm>
            <a:off x="4462272" y="3753612"/>
            <a:ext cx="1645920" cy="21698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algun Gothic"/>
              </a:rPr>
              <a:t>AI 해석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36792" y="3657600"/>
            <a:ext cx="1645920" cy="384048"/>
          </a:xfrm>
          <a:prstGeom prst="round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6336792" y="3753612"/>
            <a:ext cx="1645920" cy="21698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en-US" sz="1050" b="1" err="1">
                <a:solidFill>
                  <a:srgbClr val="FFFFFF"/>
                </a:solidFill>
                <a:latin typeface="Malgun Gothic"/>
                <a:ea typeface="Malgun Gothic"/>
                <a:cs typeface="+mn-lt"/>
              </a:rPr>
              <a:t>물류</a:t>
            </a:r>
            <a:r>
              <a:rPr lang="en-US" sz="1050" b="1" dirty="0">
                <a:solidFill>
                  <a:srgbClr val="FFFFFF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1050" b="1">
                <a:solidFill>
                  <a:srgbClr val="FFFFFF"/>
                </a:solidFill>
                <a:latin typeface="Malgun Gothic"/>
                <a:ea typeface="Malgun Gothic"/>
                <a:cs typeface="+mn-lt"/>
              </a:rPr>
              <a:t>거점 </a:t>
            </a:r>
            <a:r>
              <a:rPr lang="ko-KR" altLang="en-US" sz="1050" b="1">
                <a:solidFill>
                  <a:srgbClr val="FFFFFF"/>
                </a:solidFill>
                <a:latin typeface="Malgun Gothic"/>
                <a:ea typeface="Malgun Gothic"/>
                <a:cs typeface="+mn-lt"/>
              </a:rPr>
              <a:t>분석</a:t>
            </a:r>
            <a:endParaRPr lang="ko-KR" altLang="en-US" sz="1050" b="1">
              <a:solidFill>
                <a:srgbClr val="FFFFFF"/>
              </a:solidFill>
              <a:latin typeface="Malgun Gothic"/>
              <a:ea typeface="Malgun Gothic"/>
              <a:cs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45720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1">
                <a:solidFill>
                  <a:srgbClr val="0F2340"/>
                </a:solidFill>
                <a:latin typeface="Malgun Gothic"/>
              </a:rPr>
              <a:t>발표자  모세종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5989320"/>
            <a:ext cx="3291840" cy="24006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0" dirty="0" err="1">
                <a:solidFill>
                  <a:srgbClr val="64748B"/>
                </a:solidFill>
                <a:latin typeface="Malgun Gothic"/>
              </a:rPr>
              <a:t>발표</a:t>
            </a:r>
            <a:r>
              <a:rPr sz="1200" b="0" dirty="0">
                <a:solidFill>
                  <a:srgbClr val="64748B"/>
                </a:solidFill>
                <a:latin typeface="Malgun Gothic"/>
              </a:rPr>
              <a:t> </a:t>
            </a:r>
            <a:r>
              <a:rPr lang="en-US" sz="1200" dirty="0">
                <a:solidFill>
                  <a:srgbClr val="64748B"/>
                </a:solidFill>
                <a:latin typeface="Malgun Gothic"/>
              </a:rPr>
              <a:t>5</a:t>
            </a:r>
            <a:r>
              <a:rPr sz="1200" b="0" dirty="0">
                <a:solidFill>
                  <a:srgbClr val="64748B"/>
                </a:solidFill>
                <a:latin typeface="Malgun Gothic"/>
              </a:rPr>
              <a:t>분 + Q&amp;A 5분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68680" y="1417320"/>
            <a:ext cx="438912" cy="43891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868680" y="1527048"/>
            <a:ext cx="438912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399032"/>
            <a:ext cx="310896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000" b="1">
                <a:solidFill>
                  <a:srgbClr val="0F2340"/>
                </a:solidFill>
                <a:latin typeface="Malgun Gothic"/>
              </a:rPr>
              <a:t>문제 정의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793116"/>
            <a:ext cx="8138160" cy="30162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Malgun Gothic"/>
              </a:rPr>
              <a:t>창업자는 공공기관 수요를 보지 못한다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457256"/>
            <a:ext cx="438912" cy="43891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868680" y="2566984"/>
            <a:ext cx="438912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438968"/>
            <a:ext cx="310896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000" b="1">
                <a:solidFill>
                  <a:srgbClr val="0F2340"/>
                </a:solidFill>
                <a:latin typeface="Malgun Gothic"/>
              </a:rPr>
              <a:t>서비스</a:t>
            </a:r>
            <a:r>
              <a:rPr lang="ko-KR" sz="2000" b="1">
                <a:solidFill>
                  <a:srgbClr val="0F2340"/>
                </a:solidFill>
                <a:latin typeface="Malgun Gothic"/>
                <a:ea typeface="맑은 고딕"/>
              </a:rPr>
              <a:t> 및 데이터</a:t>
            </a:r>
            <a:endParaRPr lang="ko-KR" altLang="en-US" sz="2000" b="1">
              <a:solidFill>
                <a:srgbClr val="0F2340"/>
              </a:solidFill>
              <a:latin typeface="Malgun Gothic"/>
              <a:ea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508760" y="2833052"/>
            <a:ext cx="8138160" cy="30162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en-US" sz="1600">
                <a:solidFill>
                  <a:srgbClr val="64748B"/>
                </a:solidFill>
                <a:latin typeface="Malgun Gothic"/>
                <a:ea typeface="Malgun Gothic"/>
                <a:cs typeface="+mn-lt"/>
              </a:rPr>
              <a:t>10</a:t>
            </a:r>
            <a:r>
              <a:rPr lang="ko-KR" altLang="en-US" sz="1600">
                <a:solidFill>
                  <a:srgbClr val="64748B"/>
                </a:solidFill>
                <a:latin typeface="Malgun Gothic"/>
                <a:ea typeface="Malgun Gothic"/>
                <a:cs typeface="+mn-lt"/>
              </a:rPr>
              <a:t>만</a:t>
            </a:r>
            <a:r>
              <a:rPr lang="en-US" sz="1600" dirty="0">
                <a:solidFill>
                  <a:srgbClr val="64748B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ko-KR" altLang="en-US" sz="1600" dirty="0">
                <a:solidFill>
                  <a:srgbClr val="64748B"/>
                </a:solidFill>
                <a:latin typeface="Malgun Gothic"/>
                <a:ea typeface="Malgun Gothic"/>
                <a:cs typeface="+mn-lt"/>
              </a:rPr>
              <a:t>건</a:t>
            </a:r>
            <a:r>
              <a:rPr lang="en-US" sz="1600" dirty="0">
                <a:solidFill>
                  <a:srgbClr val="64748B"/>
                </a:solidFill>
                <a:latin typeface="Malgun Gothic"/>
                <a:ea typeface="Malgun Gothic"/>
                <a:cs typeface="+mn-lt"/>
              </a:rPr>
              <a:t> · 4</a:t>
            </a:r>
            <a:r>
              <a:rPr lang="ko-KR" altLang="en-US" sz="1600" dirty="0">
                <a:solidFill>
                  <a:srgbClr val="64748B"/>
                </a:solidFill>
                <a:latin typeface="Malgun Gothic"/>
                <a:ea typeface="Malgun Gothic"/>
                <a:cs typeface="+mn-lt"/>
              </a:rPr>
              <a:t>개</a:t>
            </a:r>
            <a:r>
              <a:rPr lang="en-US" sz="1600" dirty="0">
                <a:solidFill>
                  <a:srgbClr val="64748B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ko-KR" altLang="en-US" sz="1600" dirty="0">
                <a:solidFill>
                  <a:srgbClr val="64748B"/>
                </a:solidFill>
                <a:latin typeface="Malgun Gothic"/>
                <a:ea typeface="Malgun Gothic"/>
                <a:cs typeface="+mn-lt"/>
              </a:rPr>
              <a:t>기관</a:t>
            </a:r>
            <a:r>
              <a:rPr lang="en-US" sz="1600" dirty="0">
                <a:solidFill>
                  <a:srgbClr val="64748B"/>
                </a:solidFill>
                <a:latin typeface="Malgun Gothic"/>
                <a:ea typeface="Malgun Gothic"/>
                <a:cs typeface="+mn-lt"/>
              </a:rPr>
              <a:t> · ML 98%</a:t>
            </a:r>
            <a:endParaRPr lang="ko-KR" dirty="0">
              <a:solidFill>
                <a:srgbClr val="000000"/>
              </a:solidFill>
              <a:latin typeface="Calibri"/>
              <a:ea typeface="맑은 고딕" panose="020B0503020000020004" pitchFamily="34" charset="-127"/>
              <a:cs typeface="Calibri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868680" y="3500808"/>
            <a:ext cx="438912" cy="43891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868680" y="3610536"/>
            <a:ext cx="438912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Malgun Gothic"/>
              </a:rPr>
              <a:t>03</a:t>
            </a:r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1508760" y="3533320"/>
            <a:ext cx="310896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000" b="1">
                <a:solidFill>
                  <a:srgbClr val="0F2340"/>
                </a:solidFill>
                <a:latin typeface="Malgun Gothic"/>
              </a:rPr>
              <a:t>데모</a:t>
            </a:r>
            <a:endParaRPr lang="ko-KR" altLang="en-US" sz="2000" b="1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08760" y="3876604"/>
            <a:ext cx="8138160" cy="30162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ko-KR" sz="1600" b="0">
                <a:solidFill>
                  <a:srgbClr val="64748B"/>
                </a:solidFill>
                <a:latin typeface="Malgun Gothic"/>
                <a:ea typeface="Malgun Gothic"/>
                <a:cs typeface="+mn-lt"/>
              </a:rPr>
              <a:t>부산 </a:t>
            </a:r>
            <a:r>
              <a:rPr lang="ko-KR" sz="1600">
                <a:solidFill>
                  <a:srgbClr val="64748B"/>
                </a:solidFill>
                <a:latin typeface="Malgun Gothic"/>
                <a:ea typeface="Malgun Gothic"/>
                <a:cs typeface="+mn-lt"/>
              </a:rPr>
              <a:t>급식·식자재 창업 시나리오</a:t>
            </a:r>
            <a:endParaRPr lang="ko-KR" sz="1600" dirty="0">
              <a:solidFill>
                <a:srgbClr val="64748B"/>
              </a:solidFill>
              <a:latin typeface="Malgun Gothic"/>
              <a:ea typeface="Malgun Gothic"/>
              <a:cs typeface="+mn-lt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868680" y="4540744"/>
            <a:ext cx="438912" cy="438912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868680" y="4650472"/>
            <a:ext cx="438912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en-US" sz="1000" b="1">
                <a:solidFill>
                  <a:srgbClr val="FFFFFF"/>
                </a:solidFill>
                <a:latin typeface="Malgun Gothic"/>
              </a:rPr>
              <a:t>04</a:t>
            </a:r>
            <a:endParaRPr lang="ko-KR"/>
          </a:p>
        </p:txBody>
      </p:sp>
      <p:sp>
        <p:nvSpPr>
          <p:cNvPr id="24" name="TextBox 23"/>
          <p:cNvSpPr txBox="1"/>
          <p:nvPr/>
        </p:nvSpPr>
        <p:spPr>
          <a:xfrm>
            <a:off x="1508760" y="4522456"/>
            <a:ext cx="310896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000" b="1" dirty="0" err="1">
                <a:solidFill>
                  <a:srgbClr val="0F2340"/>
                </a:solidFill>
                <a:latin typeface="Malgun Gothic"/>
              </a:rPr>
              <a:t>비즈니스</a:t>
            </a:r>
            <a:r>
              <a:rPr sz="20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lang="ko-KR" sz="2000" b="1">
                <a:solidFill>
                  <a:srgbClr val="0F2340"/>
                </a:solidFill>
                <a:latin typeface="Malgun Gothic"/>
              </a:rPr>
              <a:t>모델</a:t>
            </a:r>
            <a:endParaRPr lang="ko-KR" altLang="en-US" sz="2000" b="1" dirty="0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508760" y="4916540"/>
            <a:ext cx="8138160" cy="30162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en-US" sz="1600">
                <a:solidFill>
                  <a:srgbClr val="64748B"/>
                </a:solidFill>
                <a:latin typeface="Malgun Gothic"/>
                <a:ea typeface="Malgun Gothic"/>
                <a:cs typeface="+mn-lt"/>
              </a:rPr>
              <a:t>B2B </a:t>
            </a:r>
            <a:r>
              <a:rPr lang="ko-KR" sz="1600">
                <a:solidFill>
                  <a:srgbClr val="64748B"/>
                </a:solidFill>
                <a:latin typeface="Malgun Gothic"/>
                <a:ea typeface="Malgun Gothic"/>
                <a:cs typeface="+mn-lt"/>
              </a:rPr>
              <a:t>상담</a:t>
            </a:r>
            <a:r>
              <a:rPr lang="en-US" sz="1600" dirty="0">
                <a:solidFill>
                  <a:srgbClr val="64748B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ko-KR" sz="1600">
                <a:solidFill>
                  <a:srgbClr val="64748B"/>
                </a:solidFill>
                <a:latin typeface="Malgun Gothic"/>
                <a:ea typeface="Malgun Gothic"/>
                <a:cs typeface="+mn-lt"/>
              </a:rPr>
              <a:t>도구</a:t>
            </a:r>
            <a:r>
              <a:rPr lang="en-US" sz="1600">
                <a:solidFill>
                  <a:srgbClr val="64748B"/>
                </a:solidFill>
                <a:latin typeface="Malgun Gothic"/>
                <a:ea typeface="Malgun Gothic"/>
                <a:cs typeface="+mn-lt"/>
              </a:rPr>
              <a:t> · </a:t>
            </a:r>
            <a:r>
              <a:rPr lang="ko-KR" sz="1600">
                <a:solidFill>
                  <a:srgbClr val="64748B"/>
                </a:solidFill>
                <a:latin typeface="Malgun Gothic"/>
                <a:ea typeface="Malgun Gothic"/>
                <a:cs typeface="+mn-lt"/>
              </a:rPr>
              <a:t>기대효과</a:t>
            </a:r>
            <a:endParaRPr sz="1600" b="0">
              <a:solidFill>
                <a:srgbClr val="64748B"/>
              </a:solidFill>
              <a:latin typeface="Malgun Gothic"/>
              <a:ea typeface="Malgun Gothi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ounded Rectangle 6">
            <a:extLst>
              <a:ext uri="{FF2B5EF4-FFF2-40B4-BE49-F238E27FC236}">
                <a16:creationId xmlns:a16="http://schemas.microsoft.com/office/drawing/2014/main" id="{42AA8B7C-D943-A39E-61EA-83F9044AAE65}"/>
              </a:ext>
            </a:extLst>
          </p:cNvPr>
          <p:cNvSpPr/>
          <p:nvPr/>
        </p:nvSpPr>
        <p:spPr>
          <a:xfrm>
            <a:off x="640080" y="2539139"/>
            <a:ext cx="3657600" cy="29718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Rectangle 7">
            <a:extLst>
              <a:ext uri="{FF2B5EF4-FFF2-40B4-BE49-F238E27FC236}">
                <a16:creationId xmlns:a16="http://schemas.microsoft.com/office/drawing/2014/main" id="{E12655C4-29ED-5CBA-860B-E62D038DEF5D}"/>
              </a:ext>
            </a:extLst>
          </p:cNvPr>
          <p:cNvSpPr/>
          <p:nvPr/>
        </p:nvSpPr>
        <p:spPr>
          <a:xfrm>
            <a:off x="640080" y="2539139"/>
            <a:ext cx="73152" cy="29718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Rounded Rectangle 10">
            <a:extLst>
              <a:ext uri="{FF2B5EF4-FFF2-40B4-BE49-F238E27FC236}">
                <a16:creationId xmlns:a16="http://schemas.microsoft.com/office/drawing/2014/main" id="{31939D29-A045-21CA-00B7-2DCD91A42D78}"/>
              </a:ext>
            </a:extLst>
          </p:cNvPr>
          <p:cNvSpPr/>
          <p:nvPr/>
        </p:nvSpPr>
        <p:spPr>
          <a:xfrm>
            <a:off x="4480560" y="2539139"/>
            <a:ext cx="3474720" cy="29718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Rectangle 11">
            <a:extLst>
              <a:ext uri="{FF2B5EF4-FFF2-40B4-BE49-F238E27FC236}">
                <a16:creationId xmlns:a16="http://schemas.microsoft.com/office/drawing/2014/main" id="{6660C44B-2DC3-FF71-C991-FEFFAB39EF07}"/>
              </a:ext>
            </a:extLst>
          </p:cNvPr>
          <p:cNvSpPr/>
          <p:nvPr/>
        </p:nvSpPr>
        <p:spPr>
          <a:xfrm>
            <a:off x="4480560" y="2539139"/>
            <a:ext cx="73152" cy="2971800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9" name="Rounded Rectangle 14">
            <a:extLst>
              <a:ext uri="{FF2B5EF4-FFF2-40B4-BE49-F238E27FC236}">
                <a16:creationId xmlns:a16="http://schemas.microsoft.com/office/drawing/2014/main" id="{A534E09E-103F-27EC-445F-B91ABE6ED8A9}"/>
              </a:ext>
            </a:extLst>
          </p:cNvPr>
          <p:cNvSpPr/>
          <p:nvPr/>
        </p:nvSpPr>
        <p:spPr>
          <a:xfrm>
            <a:off x="8138160" y="2539139"/>
            <a:ext cx="3429000" cy="29718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1" name="Rectangle 15">
            <a:extLst>
              <a:ext uri="{FF2B5EF4-FFF2-40B4-BE49-F238E27FC236}">
                <a16:creationId xmlns:a16="http://schemas.microsoft.com/office/drawing/2014/main" id="{8295FE01-A563-315F-D4D7-8262E6FFE2E8}"/>
              </a:ext>
            </a:extLst>
          </p:cNvPr>
          <p:cNvSpPr/>
          <p:nvPr/>
        </p:nvSpPr>
        <p:spPr>
          <a:xfrm>
            <a:off x="8138160" y="2539139"/>
            <a:ext cx="73152" cy="2971800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10698480" cy="82484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500" b="1" dirty="0" err="1">
                <a:solidFill>
                  <a:srgbClr val="0F2340"/>
                </a:solidFill>
                <a:latin typeface="Malgun Gothic"/>
              </a:rPr>
              <a:t>창업자는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lang="ko-KR" sz="2500" b="1" dirty="0">
                <a:solidFill>
                  <a:srgbClr val="0F2340"/>
                </a:solidFill>
                <a:latin typeface="Malgun Gothic"/>
              </a:rPr>
              <a:t>상권을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봅니다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.</a:t>
            </a:r>
            <a:br>
              <a:rPr dirty="0"/>
            </a:br>
            <a:r>
              <a:rPr sz="2500" b="1" dirty="0" err="1">
                <a:solidFill>
                  <a:srgbClr val="0F2340"/>
                </a:solidFill>
                <a:latin typeface="Malgun Gothic"/>
              </a:rPr>
              <a:t>공공기관이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필요로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하는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것은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보지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못합니다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197" y="2691075"/>
            <a:ext cx="306324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>
                <a:solidFill>
                  <a:srgbClr val="0F2340"/>
                </a:solidFill>
                <a:latin typeface="Malgun Gothic"/>
              </a:rPr>
              <a:t>현장에서 본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5197" y="3184386"/>
            <a:ext cx="3063240" cy="112319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수요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예측이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틀리면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altLang="en-US" dirty="0">
              <a:cs typeface="Calibri"/>
            </a:endParaRPr>
          </a:p>
          <a:p>
            <a:pPr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재고·이동·운영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비용이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dirty="0">
              <a:solidFill>
                <a:srgbClr val="000000"/>
              </a:solidFill>
              <a:latin typeface="Calibri"/>
              <a:cs typeface="Calibri"/>
            </a:endParaRPr>
          </a:p>
          <a:p>
            <a:pPr algn="l"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바로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손실로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이어집니다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.</a:t>
            </a:r>
            <a:endParaRPr>
              <a:ea typeface="Calibri"/>
              <a:cs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87668" y="2691075"/>
            <a:ext cx="306324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>
                <a:solidFill>
                  <a:srgbClr val="0F2340"/>
                </a:solidFill>
                <a:latin typeface="Malgun Gothic"/>
              </a:rPr>
              <a:t>기존 판단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7668" y="3184386"/>
            <a:ext cx="3063240" cy="149252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예비창업자는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altLang="en-US" dirty="0">
              <a:cs typeface="Calibri"/>
            </a:endParaRPr>
          </a:p>
          <a:p>
            <a:pPr>
              <a:lnSpc>
                <a:spcPct val="150000"/>
              </a:lnSpc>
            </a:pPr>
            <a:r>
              <a:rPr sz="1600" b="0" err="1">
                <a:solidFill>
                  <a:srgbClr val="0F172A"/>
                </a:solidFill>
                <a:latin typeface="Malgun Gothic"/>
              </a:rPr>
              <a:t>유동인구와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상권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lang="ko-KR" sz="1600">
                <a:solidFill>
                  <a:srgbClr val="0F172A"/>
                </a:solidFill>
                <a:latin typeface="Malgun Gothic"/>
              </a:rPr>
              <a:t>정보를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>
                <a:solidFill>
                  <a:srgbClr val="0F172A"/>
                </a:solidFill>
                <a:latin typeface="Malgun Gothic"/>
              </a:rPr>
              <a:t>보지만</a:t>
            </a:r>
            <a:endParaRPr lang="ko-KR" dirty="0">
              <a:solidFill>
                <a:srgbClr val="000000"/>
              </a:solidFill>
              <a:latin typeface="Calibri"/>
              <a:cs typeface="Calibri"/>
            </a:endParaRPr>
          </a:p>
          <a:p>
            <a:pPr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공공수요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데이터는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>
              <a:solidFill>
                <a:srgbClr val="000000"/>
              </a:solidFill>
              <a:latin typeface="Calibri"/>
              <a:cs typeface="Calibri"/>
            </a:endParaRPr>
          </a:p>
          <a:p>
            <a:pPr algn="l">
              <a:lnSpc>
                <a:spcPct val="150000"/>
              </a:lnSpc>
            </a:pPr>
            <a:r>
              <a:rPr sz="1600" b="0" dirty="0">
                <a:solidFill>
                  <a:srgbClr val="0F172A"/>
                </a:solidFill>
                <a:latin typeface="Malgun Gothic"/>
              </a:rPr>
              <a:t>잘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활용하지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못합니다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.</a:t>
            </a:r>
            <a:endParaRPr>
              <a:ea typeface="Calibri"/>
              <a:cs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39328" y="2691074"/>
            <a:ext cx="306324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>
                <a:solidFill>
                  <a:srgbClr val="0F2340"/>
                </a:solidFill>
                <a:latin typeface="Malgun Gothic"/>
              </a:rPr>
              <a:t>프로젝트 질문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3184385"/>
            <a:ext cx="3063240" cy="112319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50000"/>
              </a:lnSpc>
            </a:pPr>
            <a:r>
              <a:rPr sz="1600" b="0" err="1">
                <a:solidFill>
                  <a:srgbClr val="0F172A"/>
                </a:solidFill>
                <a:latin typeface="Malgun Gothic"/>
              </a:rPr>
              <a:t>입찰공고를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지역별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수요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>
                <a:solidFill>
                  <a:srgbClr val="0F172A"/>
                </a:solidFill>
                <a:latin typeface="Malgun Gothic"/>
              </a:rPr>
              <a:t>신호로</a:t>
            </a:r>
            <a:endParaRPr lang="ko-KR" altLang="en-US">
              <a:solidFill>
                <a:srgbClr val="000000"/>
              </a:solidFill>
              <a:latin typeface="Calibri"/>
              <a:ea typeface="맑은 고딕" panose="020B0503020000020004" pitchFamily="34" charset="-127"/>
              <a:cs typeface="Calibri"/>
            </a:endParaRPr>
          </a:p>
          <a:p>
            <a:pPr>
              <a:lnSpc>
                <a:spcPct val="150000"/>
              </a:lnSpc>
            </a:pPr>
            <a:r>
              <a:rPr sz="1600" b="0">
                <a:solidFill>
                  <a:srgbClr val="0F172A"/>
                </a:solidFill>
                <a:latin typeface="Malgun Gothic"/>
              </a:rPr>
              <a:t>보면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창업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입지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사전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검토에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altLang="en-US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  <a:p>
            <a:pPr>
              <a:lnSpc>
                <a:spcPct val="150000"/>
              </a:lnSpc>
            </a:pPr>
            <a:r>
              <a:rPr sz="1600" b="0">
                <a:solidFill>
                  <a:srgbClr val="0F172A"/>
                </a:solidFill>
                <a:latin typeface="Malgun Gothic"/>
              </a:rPr>
              <a:t>활용할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수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있지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않을까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?</a:t>
            </a:r>
            <a:endParaRPr lang="ko-KR" altLang="en-US">
              <a:ea typeface="맑은 고딕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6">
            <a:extLst>
              <a:ext uri="{FF2B5EF4-FFF2-40B4-BE49-F238E27FC236}">
                <a16:creationId xmlns:a16="http://schemas.microsoft.com/office/drawing/2014/main" id="{09C87E33-E9E1-C4A6-8CCF-3528AC6525D9}"/>
              </a:ext>
            </a:extLst>
          </p:cNvPr>
          <p:cNvSpPr/>
          <p:nvPr/>
        </p:nvSpPr>
        <p:spPr>
          <a:xfrm>
            <a:off x="683210" y="1863402"/>
            <a:ext cx="10764233" cy="1140892"/>
          </a:xfrm>
          <a:prstGeom prst="frame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lnSpc>
                <a:spcPct val="150000"/>
              </a:lnSpc>
            </a:pPr>
            <a:r>
              <a:rPr lang="en-US" sz="2000" b="1" err="1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대표</a:t>
            </a:r>
            <a:r>
              <a:rPr lang="en-US" sz="2000" b="1" dirty="0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2000" b="1" err="1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시나리오</a:t>
            </a:r>
            <a:r>
              <a:rPr lang="en-US" sz="2000" b="1" dirty="0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: </a:t>
            </a:r>
            <a:r>
              <a:rPr lang="en-US" sz="2000" b="1" err="1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급식·식자재</a:t>
            </a:r>
            <a:endParaRPr lang="en-US" err="1">
              <a:solidFill>
                <a:srgbClr val="FFFFFF"/>
              </a:solidFill>
              <a:latin typeface="Calibri"/>
              <a:ea typeface="Calibri"/>
              <a:cs typeface="+mn-lt"/>
            </a:endParaRPr>
          </a:p>
          <a:p>
            <a:pPr algn="ctr"/>
            <a:r>
              <a:rPr lang="en-US" sz="2000" b="1" dirty="0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       </a:t>
            </a:r>
            <a:r>
              <a:rPr lang="en-US" sz="2000" b="1" dirty="0" err="1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반복</a:t>
            </a:r>
            <a:r>
              <a:rPr lang="en-US" sz="2000" b="1" dirty="0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2000" b="1" dirty="0" err="1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수요가</a:t>
            </a:r>
            <a:r>
              <a:rPr lang="en-US" sz="2000" b="1" dirty="0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2000" b="1" dirty="0" err="1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있고</a:t>
            </a:r>
            <a:r>
              <a:rPr lang="en-US" sz="2000" b="1" dirty="0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, </a:t>
            </a:r>
            <a:r>
              <a:rPr lang="en-US" sz="2000" b="1" dirty="0" err="1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납품·보관·이동</a:t>
            </a:r>
            <a:r>
              <a:rPr lang="en-US" sz="2000" b="1" dirty="0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2000" b="1" dirty="0" err="1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비용이</a:t>
            </a:r>
            <a:r>
              <a:rPr lang="en-US" sz="2000" b="1" dirty="0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2000" b="1" dirty="0" err="1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입지</a:t>
            </a:r>
            <a:r>
              <a:rPr lang="en-US" sz="2000" b="1" dirty="0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2000" b="1" dirty="0" err="1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판단에</a:t>
            </a:r>
            <a:r>
              <a:rPr lang="en-US" sz="2000" b="1" dirty="0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2000" b="1" dirty="0" err="1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직접</a:t>
            </a:r>
            <a:r>
              <a:rPr lang="en-US" sz="2000" b="1" dirty="0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2000" b="1" dirty="0" err="1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영향을</a:t>
            </a:r>
            <a:r>
              <a:rPr lang="en-US" sz="2000" b="1" dirty="0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2000" b="1" dirty="0" err="1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주는</a:t>
            </a:r>
            <a:r>
              <a:rPr lang="en-US" sz="2000" b="1" dirty="0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2000" b="1" dirty="0" err="1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품목입니다</a:t>
            </a:r>
            <a:r>
              <a:rPr lang="en-US" sz="2000" b="1" dirty="0">
                <a:solidFill>
                  <a:srgbClr val="000000"/>
                </a:solidFill>
                <a:latin typeface="Malgun Gothic"/>
                <a:ea typeface="Malgun Gothic"/>
                <a:cs typeface="+mn-lt"/>
              </a:rPr>
              <a:t>.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서비스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10698480" cy="4401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500" b="1" dirty="0" err="1">
                <a:solidFill>
                  <a:srgbClr val="0F2340"/>
                </a:solidFill>
                <a:latin typeface="Malgun Gothic"/>
              </a:rPr>
              <a:t>공공조달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시장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진입을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앞둔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lang="ko-KR" sz="2500" b="1" dirty="0" err="1">
                <a:solidFill>
                  <a:srgbClr val="0F2340"/>
                </a:solidFill>
                <a:latin typeface="Malgun Gothic"/>
                <a:ea typeface="Malgun Gothic"/>
              </a:rPr>
              <a:t>사람에게</a:t>
            </a:r>
            <a:r>
              <a:rPr lang="ko-KR" sz="2500" b="1" dirty="0">
                <a:solidFill>
                  <a:srgbClr val="0F2340"/>
                </a:solidFill>
                <a:latin typeface="Malgun Gothic"/>
                <a:ea typeface="Malgun Gothic"/>
              </a:rPr>
              <a:t> </a:t>
            </a:r>
            <a:r>
              <a:rPr lang="ko-KR" sz="2500" b="1" dirty="0" err="1">
                <a:solidFill>
                  <a:srgbClr val="0F2340"/>
                </a:solidFill>
                <a:latin typeface="Malgun Gothic"/>
                <a:ea typeface="Malgun Gothic"/>
              </a:rPr>
              <a:t>지역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선택의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근거를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제공합니다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.</a:t>
            </a:r>
            <a:endParaRPr lang="ko-KR" sz="2500" b="1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40080" y="3114233"/>
            <a:ext cx="3657600" cy="29718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Rectangle 7"/>
          <p:cNvSpPr/>
          <p:nvPr/>
        </p:nvSpPr>
        <p:spPr>
          <a:xfrm>
            <a:off x="640080" y="3114233"/>
            <a:ext cx="73152" cy="29718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TextBox 8"/>
          <p:cNvSpPr txBox="1"/>
          <p:nvPr/>
        </p:nvSpPr>
        <p:spPr>
          <a:xfrm>
            <a:off x="841247" y="3278825"/>
            <a:ext cx="333756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 dirty="0">
                <a:solidFill>
                  <a:srgbClr val="0F2340"/>
                </a:solidFill>
                <a:latin typeface="Malgun Gothic"/>
              </a:rPr>
              <a:t>① </a:t>
            </a:r>
            <a:r>
              <a:rPr b="1" dirty="0" err="1">
                <a:solidFill>
                  <a:srgbClr val="0F2340"/>
                </a:solidFill>
                <a:latin typeface="Malgun Gothic"/>
              </a:rPr>
              <a:t>예비창업자</a:t>
            </a:r>
            <a:endParaRPr lang="ko-KR" altLang="en-US" b="1" dirty="0" err="1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41247" y="3739073"/>
            <a:ext cx="3337560" cy="19791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급식·식자재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납품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창업을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altLang="en-US" dirty="0">
              <a:cs typeface="Calibri"/>
            </a:endParaRPr>
          </a:p>
          <a:p>
            <a:pPr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고민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중이지만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,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어느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지역부터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sz="1600" dirty="0" err="1">
              <a:solidFill>
                <a:srgbClr val="0F172A"/>
              </a:solidFill>
              <a:latin typeface="Malgun Gothic"/>
            </a:endParaRPr>
          </a:p>
          <a:p>
            <a:r>
              <a:rPr sz="1600" b="0" err="1">
                <a:solidFill>
                  <a:srgbClr val="0F172A"/>
                </a:solidFill>
                <a:latin typeface="Malgun Gothic"/>
              </a:rPr>
              <a:t>진입해야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할지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감에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의존하고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있음</a:t>
            </a:r>
            <a:br>
              <a:rPr sz="2400" dirty="0"/>
            </a:br>
            <a:br>
              <a:rPr sz="2400" dirty="0"/>
            </a:br>
            <a:r>
              <a:rPr sz="1600" b="0" dirty="0">
                <a:solidFill>
                  <a:srgbClr val="0F172A"/>
                </a:solidFill>
                <a:latin typeface="Malgun Gothic"/>
              </a:rPr>
              <a:t>→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지역별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공공수요·경쟁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>
                <a:solidFill>
                  <a:srgbClr val="0F172A"/>
                </a:solidFill>
                <a:latin typeface="Malgun Gothic"/>
              </a:rPr>
              <a:t>구조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sz="1600">
              <a:solidFill>
                <a:srgbClr val="0F172A"/>
              </a:solidFill>
              <a:latin typeface="Malgun Gothic"/>
            </a:endParaRPr>
          </a:p>
          <a:p>
            <a:pPr>
              <a:lnSpc>
                <a:spcPct val="150000"/>
              </a:lnSpc>
            </a:pPr>
            <a:r>
              <a:rPr lang="ko-KR" sz="1600" dirty="0">
                <a:solidFill>
                  <a:srgbClr val="0F172A"/>
                </a:solidFill>
                <a:latin typeface="Malgun Gothic"/>
                <a:ea typeface="맑은 고딕"/>
              </a:rPr>
              <a:t> 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비교로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후보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지역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압축</a:t>
            </a:r>
            <a:endParaRPr sz="1600" b="0" dirty="0">
              <a:solidFill>
                <a:srgbClr val="0F172A"/>
              </a:solidFill>
              <a:latin typeface="Malgun Gothic"/>
              <a:ea typeface="Malgun Gothic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480560" y="3114233"/>
            <a:ext cx="3474720" cy="29718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Rectangle 11"/>
          <p:cNvSpPr/>
          <p:nvPr/>
        </p:nvSpPr>
        <p:spPr>
          <a:xfrm>
            <a:off x="4480560" y="3114233"/>
            <a:ext cx="73152" cy="2971800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4681728" y="3278825"/>
            <a:ext cx="3154679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>
                <a:solidFill>
                  <a:srgbClr val="0F2340"/>
                </a:solidFill>
                <a:latin typeface="Malgun Gothic"/>
              </a:rPr>
              <a:t>② B2G 납품업체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3739073"/>
            <a:ext cx="3154679" cy="1609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50000"/>
              </a:lnSpc>
            </a:pPr>
            <a:r>
              <a:rPr sz="1600" b="0" dirty="0" err="1">
                <a:solidFill>
                  <a:srgbClr val="0F172A"/>
                </a:solidFill>
                <a:latin typeface="Malgun Gothic"/>
              </a:rPr>
              <a:t>신규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영업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지역을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확장해야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altLang="en-US" dirty="0">
              <a:cs typeface="Calibri"/>
            </a:endParaRPr>
          </a:p>
          <a:p>
            <a:r>
              <a:rPr sz="1600" b="0" err="1">
                <a:solidFill>
                  <a:srgbClr val="0F172A"/>
                </a:solidFill>
                <a:latin typeface="Malgun Gothic"/>
              </a:rPr>
              <a:t>하지만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내부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데이터가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부족함</a:t>
            </a:r>
            <a:br>
              <a:rPr sz="2400" dirty="0"/>
            </a:br>
            <a:br>
              <a:rPr sz="2400" dirty="0"/>
            </a:br>
            <a:r>
              <a:rPr sz="1600" b="0" dirty="0">
                <a:solidFill>
                  <a:srgbClr val="0F172A"/>
                </a:solidFill>
                <a:latin typeface="Malgun Gothic"/>
              </a:rPr>
              <a:t>→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공고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건수·경쟁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구조로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sz="1600" dirty="0" err="1">
              <a:solidFill>
                <a:srgbClr val="0F172A"/>
              </a:solidFill>
              <a:latin typeface="Malgun Gothic"/>
            </a:endParaRPr>
          </a:p>
          <a:p>
            <a:pPr>
              <a:lnSpc>
                <a:spcPct val="150000"/>
              </a:lnSpc>
            </a:pPr>
            <a:r>
              <a:rPr lang="ko-KR" sz="1600" dirty="0">
                <a:solidFill>
                  <a:srgbClr val="0F172A"/>
                </a:solidFill>
                <a:latin typeface="Malgun Gothic"/>
                <a:ea typeface="맑은 고딕"/>
              </a:rPr>
              <a:t> 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우선순위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설정</a:t>
            </a:r>
            <a:endParaRPr sz="1600" b="0" dirty="0">
              <a:solidFill>
                <a:srgbClr val="0F172A"/>
              </a:solidFill>
              <a:latin typeface="Malgun Gothic"/>
              <a:ea typeface="Malgun Gothic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138160" y="3114233"/>
            <a:ext cx="3429000" cy="29718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Rectangle 15"/>
          <p:cNvSpPr/>
          <p:nvPr/>
        </p:nvSpPr>
        <p:spPr>
          <a:xfrm>
            <a:off x="8138160" y="3114233"/>
            <a:ext cx="73152" cy="2971800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TextBox 16"/>
          <p:cNvSpPr txBox="1"/>
          <p:nvPr/>
        </p:nvSpPr>
        <p:spPr>
          <a:xfrm>
            <a:off x="8339328" y="3278825"/>
            <a:ext cx="310896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>
                <a:solidFill>
                  <a:srgbClr val="0F2340"/>
                </a:solidFill>
                <a:latin typeface="Malgun Gothic"/>
              </a:rPr>
              <a:t>③ 창업 상담기관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9328" y="3739073"/>
            <a:ext cx="3108960" cy="1609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lnSpc>
                <a:spcPct val="150000"/>
              </a:lnSpc>
            </a:pPr>
            <a:r>
              <a:rPr sz="1600" b="0" err="1">
                <a:solidFill>
                  <a:srgbClr val="0F172A"/>
                </a:solidFill>
                <a:latin typeface="Malgun Gothic"/>
              </a:rPr>
              <a:t>상담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시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지역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수요를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>
                <a:solidFill>
                  <a:srgbClr val="0F172A"/>
                </a:solidFill>
                <a:latin typeface="Malgun Gothic"/>
              </a:rPr>
              <a:t>설명할</a:t>
            </a:r>
            <a:endParaRPr lang="ko-KR" altLang="en-US">
              <a:cs typeface="Calibri"/>
            </a:endParaRPr>
          </a:p>
          <a:p>
            <a:r>
              <a:rPr sz="1600" b="0">
                <a:solidFill>
                  <a:srgbClr val="0F172A"/>
                </a:solidFill>
                <a:latin typeface="Malgun Gothic"/>
              </a:rPr>
              <a:t>근거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자료가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부족함</a:t>
            </a:r>
            <a:br>
              <a:rPr sz="2400" dirty="0"/>
            </a:br>
            <a:br>
              <a:rPr sz="2400" dirty="0"/>
            </a:br>
            <a:r>
              <a:rPr sz="1600" b="0" dirty="0">
                <a:solidFill>
                  <a:srgbClr val="0F172A"/>
                </a:solidFill>
                <a:latin typeface="Malgun Gothic"/>
              </a:rPr>
              <a:t>→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지역별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수요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리포트를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endParaRPr lang="ko-KR" sz="1600" dirty="0" err="1">
              <a:solidFill>
                <a:srgbClr val="0F172A"/>
              </a:solidFill>
              <a:latin typeface="Malgun Gothic"/>
            </a:endParaRPr>
          </a:p>
          <a:p>
            <a:pPr>
              <a:lnSpc>
                <a:spcPct val="150000"/>
              </a:lnSpc>
            </a:pPr>
            <a:r>
              <a:rPr lang="ko-KR" sz="1600" dirty="0">
                <a:solidFill>
                  <a:srgbClr val="0F172A"/>
                </a:solidFill>
                <a:latin typeface="Malgun Gothic"/>
                <a:ea typeface="맑은 고딕"/>
              </a:rPr>
              <a:t> 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상담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보조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자료로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활용</a:t>
            </a:r>
            <a:endParaRPr sz="1600" b="0" dirty="0">
              <a:solidFill>
                <a:srgbClr val="0F172A"/>
              </a:solidFill>
              <a:latin typeface="Malgun Gothic"/>
              <a:ea typeface="Malgun Gothic"/>
            </a:endParaRPr>
          </a:p>
        </p:txBody>
      </p:sp>
      <p:pic>
        <p:nvPicPr>
          <p:cNvPr id="20" name="그래픽 19" descr="혼란스러운 사람 단색으로 채워진">
            <a:extLst>
              <a:ext uri="{FF2B5EF4-FFF2-40B4-BE49-F238E27FC236}">
                <a16:creationId xmlns:a16="http://schemas.microsoft.com/office/drawing/2014/main" id="{A7D0759D-6B9A-7437-7058-22484EDCF77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6762" y="2037271"/>
            <a:ext cx="770628" cy="7131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14">
            <a:extLst>
              <a:ext uri="{FF2B5EF4-FFF2-40B4-BE49-F238E27FC236}">
                <a16:creationId xmlns:a16="http://schemas.microsoft.com/office/drawing/2014/main" id="{93A8975D-CA70-9253-C06B-5A8026E1B399}"/>
              </a:ext>
            </a:extLst>
          </p:cNvPr>
          <p:cNvSpPr/>
          <p:nvPr/>
        </p:nvSpPr>
        <p:spPr>
          <a:xfrm>
            <a:off x="8750730" y="2329035"/>
            <a:ext cx="2535782" cy="3554536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프로젝트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560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1">
                <a:solidFill>
                  <a:srgbClr val="2563EB"/>
                </a:solidFill>
                <a:latin typeface="Malgun Gothi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143000"/>
            <a:ext cx="10607040" cy="82484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500" b="1" err="1">
                <a:solidFill>
                  <a:srgbClr val="0F2340"/>
                </a:solidFill>
                <a:latin typeface="Malgun Gothic"/>
              </a:rPr>
              <a:t>나라장터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입찰공고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100,083건을 </a:t>
            </a:r>
            <a:r>
              <a:rPr lang="ko-KR" altLang="en-US" sz="2500" b="1">
                <a:solidFill>
                  <a:srgbClr val="0F2340"/>
                </a:solidFill>
                <a:latin typeface="Malgun Gothic"/>
                <a:ea typeface="Malgun Gothic"/>
              </a:rPr>
              <a:t>분석하여,</a:t>
            </a:r>
            <a:br>
              <a:rPr sz="2500" dirty="0"/>
            </a:br>
            <a:r>
              <a:rPr sz="2500" b="1">
                <a:solidFill>
                  <a:srgbClr val="0F2340"/>
                </a:solidFill>
                <a:latin typeface="Malgun Gothic"/>
              </a:rPr>
              <a:t>창업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입지·물류</a:t>
            </a:r>
            <a:r>
              <a:rPr sz="2500" b="1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거점</a:t>
            </a:r>
            <a:r>
              <a:rPr sz="2500" b="1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판단을</a:t>
            </a:r>
            <a:r>
              <a:rPr sz="2500" b="1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돕는</a:t>
            </a:r>
            <a:r>
              <a:rPr sz="2500" b="1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서비스입니다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.</a:t>
            </a:r>
            <a:endParaRPr lang="ko-KR" altLang="en-US" sz="2500" b="1" dirty="0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2331720"/>
            <a:ext cx="2104462" cy="3554536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7839" y="2651760"/>
            <a:ext cx="2128520" cy="4862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2800" b="1">
                <a:solidFill>
                  <a:srgbClr val="1D4ED8"/>
                </a:solidFill>
                <a:latin typeface="Malgun Gothic"/>
              </a:rPr>
              <a:t>100,083건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7839" y="3878967"/>
            <a:ext cx="212852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2000" b="1">
                <a:solidFill>
                  <a:srgbClr val="0F2340"/>
                </a:solidFill>
                <a:latin typeface="Malgun Gothic"/>
              </a:rPr>
              <a:t>입찰공고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839" y="5026616"/>
            <a:ext cx="2128520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Malgun Gothic"/>
              </a:rPr>
              <a:t>최근 2년 수집·분석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7653" y="2341880"/>
            <a:ext cx="2104462" cy="3554536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30880" y="2651760"/>
            <a:ext cx="2118360" cy="4862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2800" b="1">
                <a:solidFill>
                  <a:srgbClr val="1D4ED8"/>
                </a:solidFill>
                <a:latin typeface="Malgun Gothic"/>
              </a:rPr>
              <a:t>17개 시도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0880" y="3878967"/>
            <a:ext cx="211836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2000" b="1">
                <a:solidFill>
                  <a:srgbClr val="0F2340"/>
                </a:solidFill>
                <a:latin typeface="Malgun Gothic"/>
              </a:rPr>
              <a:t>전국 범위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0880" y="5026616"/>
            <a:ext cx="2118360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ko-KR" altLang="en-US" sz="1400">
                <a:solidFill>
                  <a:srgbClr val="64748B"/>
                </a:solidFill>
                <a:latin typeface="Malgun Gothic"/>
                <a:ea typeface="Malgun Gothic"/>
              </a:rPr>
              <a:t>광역 단위 전체</a:t>
            </a:r>
            <a:endParaRPr lang="ko-KR" sz="1400" dirty="0">
              <a:solidFill>
                <a:srgbClr val="64748B"/>
              </a:solidFill>
              <a:latin typeface="Malgun Gothic"/>
              <a:ea typeface="Malgun Gothic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992386" y="2349356"/>
            <a:ext cx="2118839" cy="3554536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64628" y="2651760"/>
            <a:ext cx="2545080" cy="4862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2800" b="1">
                <a:solidFill>
                  <a:srgbClr val="1D4ED8"/>
                </a:solidFill>
                <a:latin typeface="Malgun Gothic"/>
              </a:rPr>
              <a:t>5종 AI 해석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4628" y="3878967"/>
            <a:ext cx="254508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2000" b="1">
                <a:solidFill>
                  <a:srgbClr val="0F2340"/>
                </a:solidFill>
                <a:latin typeface="Malgun Gothic"/>
              </a:rPr>
              <a:t>보조 설명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4628" y="5026616"/>
            <a:ext cx="2545080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Malgun Gothic"/>
              </a:rPr>
              <a:t>수치를 자연어로 변환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288FE9-DF63-D48B-E4C0-26A247E2A0B1}"/>
              </a:ext>
            </a:extLst>
          </p:cNvPr>
          <p:cNvSpPr txBox="1"/>
          <p:nvPr/>
        </p:nvSpPr>
        <p:spPr>
          <a:xfrm>
            <a:off x="6004751" y="2661919"/>
            <a:ext cx="2108200" cy="4862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en-US" sz="2800" b="1">
                <a:solidFill>
                  <a:srgbClr val="1D4ED8"/>
                </a:solidFill>
                <a:latin typeface="Malgun Gothic"/>
              </a:rPr>
              <a:t>220</a:t>
            </a:r>
            <a:r>
              <a:rPr lang="ko-KR" altLang="en-US" sz="2800" b="1">
                <a:solidFill>
                  <a:srgbClr val="1D4ED8"/>
                </a:solidFill>
                <a:latin typeface="Malgun Gothic"/>
                <a:ea typeface="Malgun Gothic"/>
              </a:rPr>
              <a:t>개</a:t>
            </a:r>
            <a:r>
              <a:rPr lang="en-US" sz="2800" b="1">
                <a:solidFill>
                  <a:srgbClr val="1D4ED8"/>
                </a:solidFill>
                <a:latin typeface="Malgun Gothic"/>
              </a:rPr>
              <a:t> </a:t>
            </a:r>
            <a:r>
              <a:rPr lang="ko-KR" altLang="en-US" sz="2800" b="1">
                <a:solidFill>
                  <a:srgbClr val="1D4ED8"/>
                </a:solidFill>
                <a:latin typeface="Malgun Gothic"/>
                <a:ea typeface="Malgun Gothic"/>
              </a:rPr>
              <a:t>지역</a:t>
            </a:r>
            <a:endParaRPr lang="ko-KR" altLang="en-US" sz="2800" b="1">
              <a:solidFill>
                <a:srgbClr val="1D4ED8"/>
              </a:solidFill>
              <a:latin typeface="Malgun Gothic"/>
              <a:ea typeface="맑은 고딕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653F72-7C8D-7CF6-2268-DEF52AA664B6}"/>
              </a:ext>
            </a:extLst>
          </p:cNvPr>
          <p:cNvSpPr txBox="1"/>
          <p:nvPr/>
        </p:nvSpPr>
        <p:spPr>
          <a:xfrm>
            <a:off x="6004751" y="3889126"/>
            <a:ext cx="210820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ko-KR" altLang="en-US" sz="2000" b="1">
                <a:solidFill>
                  <a:srgbClr val="0F2340"/>
                </a:solidFill>
                <a:latin typeface="Malgun Gothic"/>
                <a:ea typeface="Malgun Gothic"/>
              </a:rPr>
              <a:t>시</a:t>
            </a:r>
            <a:r>
              <a:rPr lang="ko-KR" sz="2000" b="1">
                <a:solidFill>
                  <a:srgbClr val="0F2340"/>
                </a:solidFill>
                <a:latin typeface="Malgun Gothic"/>
                <a:ea typeface="Malgun Gothic"/>
              </a:rPr>
              <a:t>·</a:t>
            </a:r>
            <a:r>
              <a:rPr lang="ko-KR" altLang="en-US" sz="2000" b="1">
                <a:solidFill>
                  <a:srgbClr val="0F2340"/>
                </a:solidFill>
                <a:latin typeface="Malgun Gothic"/>
                <a:ea typeface="Malgun Gothic"/>
              </a:rPr>
              <a:t>군</a:t>
            </a:r>
            <a:r>
              <a:rPr lang="ko-KR" sz="2000" b="1">
                <a:solidFill>
                  <a:srgbClr val="0F2340"/>
                </a:solidFill>
                <a:latin typeface="Malgun Gothic"/>
                <a:ea typeface="Malgun Gothic"/>
              </a:rPr>
              <a:t>·</a:t>
            </a:r>
            <a:r>
              <a:rPr lang="ko-KR" altLang="en-US" sz="2000" b="1">
                <a:solidFill>
                  <a:srgbClr val="0F2340"/>
                </a:solidFill>
                <a:latin typeface="Malgun Gothic"/>
                <a:ea typeface="Malgun Gothic"/>
              </a:rPr>
              <a:t>구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0C20CE-7FE7-3201-C4B3-4DE6B14EFC70}"/>
              </a:ext>
            </a:extLst>
          </p:cNvPr>
          <p:cNvSpPr txBox="1"/>
          <p:nvPr/>
        </p:nvSpPr>
        <p:spPr>
          <a:xfrm>
            <a:off x="6004751" y="5036775"/>
            <a:ext cx="2108200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ko-KR" altLang="en-US" sz="1400">
                <a:solidFill>
                  <a:srgbClr val="64748B"/>
                </a:solidFill>
                <a:latin typeface="Malgun Gothic"/>
                <a:ea typeface="Malgun Gothic"/>
              </a:rPr>
              <a:t>세부 지역 분석</a:t>
            </a:r>
            <a:endParaRPr lang="ko-KR" altLang="en-US" sz="1400" dirty="0">
              <a:solidFill>
                <a:srgbClr val="64748B"/>
              </a:solidFill>
              <a:latin typeface="Malgun Gothic"/>
              <a:ea typeface="Malgun Gothi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CF6B4905-16DF-109C-2A8C-3DDCB58C21DA}"/>
              </a:ext>
            </a:extLst>
          </p:cNvPr>
          <p:cNvSpPr/>
          <p:nvPr/>
        </p:nvSpPr>
        <p:spPr>
          <a:xfrm>
            <a:off x="1910080" y="4739640"/>
            <a:ext cx="8290560" cy="9144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데이터 결합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4006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lang="en-US" sz="1200" b="1">
                <a:solidFill>
                  <a:srgbClr val="2563EB"/>
                </a:solidFill>
                <a:latin typeface="Malgun Gothic"/>
              </a:rPr>
              <a:t>04</a:t>
            </a:r>
            <a:endParaRPr sz="1200" b="1">
              <a:solidFill>
                <a:srgbClr val="2563EB"/>
              </a:solidFill>
              <a:latin typeface="Malgun Gothic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143000"/>
            <a:ext cx="10698480" cy="4401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500" b="1">
                <a:solidFill>
                  <a:srgbClr val="0F2340"/>
                </a:solidFill>
                <a:latin typeface="Malgun Gothic"/>
              </a:rPr>
              <a:t>공공수요 하나만으로는 입지를 판단하기 어렵습니다.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2606040" cy="19202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965960"/>
            <a:ext cx="73152" cy="192024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5528" y="2130552"/>
            <a:ext cx="228600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800" b="1">
                <a:solidFill>
                  <a:srgbClr val="0F2340"/>
                </a:solidFill>
                <a:latin typeface="Malgun Gothic"/>
              </a:rPr>
              <a:t>조달청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540000"/>
            <a:ext cx="2286000" cy="7538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0F172A"/>
                </a:solidFill>
                <a:latin typeface="Malgun Gothic"/>
              </a:rPr>
              <a:t>어떤 품목이</a:t>
            </a:r>
            <a:br>
              <a:rPr sz="1600"/>
            </a:br>
            <a:r>
              <a:rPr sz="1600" b="0">
                <a:solidFill>
                  <a:srgbClr val="0F172A"/>
                </a:solidFill>
                <a:latin typeface="Malgun Gothic"/>
              </a:rPr>
              <a:t>얼마나 발주되는가</a:t>
            </a:r>
            <a:endParaRPr lang="ko-KR" altLang="en-US"/>
          </a:p>
        </p:txBody>
      </p:sp>
      <p:sp>
        <p:nvSpPr>
          <p:cNvPr id="11" name="Rounded Rectangle 10"/>
          <p:cNvSpPr/>
          <p:nvPr/>
        </p:nvSpPr>
        <p:spPr>
          <a:xfrm>
            <a:off x="3502152" y="1965960"/>
            <a:ext cx="2606040" cy="19202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02152" y="1965960"/>
            <a:ext cx="73152" cy="1920240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03320" y="2130552"/>
            <a:ext cx="228600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800" b="1">
                <a:solidFill>
                  <a:srgbClr val="0F2340"/>
                </a:solidFill>
                <a:latin typeface="Malgun Gothic"/>
              </a:rPr>
              <a:t>행안부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540000"/>
            <a:ext cx="2286000" cy="7538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0F172A"/>
                </a:solidFill>
                <a:latin typeface="Malgun Gothic"/>
              </a:rPr>
              <a:t>지역 인구 규모와</a:t>
            </a:r>
            <a:br>
              <a:rPr sz="1600"/>
            </a:br>
            <a:r>
              <a:rPr sz="1600" b="0">
                <a:solidFill>
                  <a:srgbClr val="0F172A"/>
                </a:solidFill>
                <a:latin typeface="Malgun Gothic"/>
              </a:rPr>
              <a:t>소비층 구성</a:t>
            </a:r>
            <a:endParaRPr lang="ko-KR" altLang="en-US"/>
          </a:p>
        </p:txBody>
      </p:sp>
      <p:sp>
        <p:nvSpPr>
          <p:cNvPr id="15" name="Rounded Rectangle 14"/>
          <p:cNvSpPr/>
          <p:nvPr/>
        </p:nvSpPr>
        <p:spPr>
          <a:xfrm>
            <a:off x="6409944" y="1965960"/>
            <a:ext cx="2606040" cy="19202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9944" y="1965960"/>
            <a:ext cx="73152" cy="19202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11112" y="2130552"/>
            <a:ext cx="228600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800" b="1">
                <a:solidFill>
                  <a:srgbClr val="0F2340"/>
                </a:solidFill>
                <a:latin typeface="Malgun Gothic"/>
              </a:rPr>
              <a:t>소상공인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112" y="2540000"/>
            <a:ext cx="2286000" cy="7538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0F172A"/>
                </a:solidFill>
                <a:latin typeface="Malgun Gothic"/>
              </a:rPr>
              <a:t>업종별 점포 수와</a:t>
            </a:r>
            <a:br>
              <a:rPr sz="1600"/>
            </a:br>
            <a:r>
              <a:rPr sz="1600" b="0">
                <a:solidFill>
                  <a:srgbClr val="0F172A"/>
                </a:solidFill>
                <a:latin typeface="Malgun Gothic"/>
              </a:rPr>
              <a:t>경쟁 포화도</a:t>
            </a:r>
            <a:endParaRPr lang="ko-KR" altLang="en-US"/>
          </a:p>
        </p:txBody>
      </p:sp>
      <p:sp>
        <p:nvSpPr>
          <p:cNvPr id="19" name="Rounded Rectangle 18"/>
          <p:cNvSpPr/>
          <p:nvPr/>
        </p:nvSpPr>
        <p:spPr>
          <a:xfrm>
            <a:off x="9317736" y="1965960"/>
            <a:ext cx="2606040" cy="19202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317736" y="1965960"/>
            <a:ext cx="73152" cy="1920240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518904" y="2130552"/>
            <a:ext cx="228600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800" b="1">
                <a:solidFill>
                  <a:srgbClr val="0F2340"/>
                </a:solidFill>
                <a:latin typeface="Malgun Gothic"/>
              </a:rPr>
              <a:t>KOSIS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18904" y="2540000"/>
            <a:ext cx="2286000" cy="7538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0F172A"/>
                </a:solidFill>
                <a:latin typeface="Malgun Gothic"/>
              </a:rPr>
              <a:t>업종별 생존율과</a:t>
            </a:r>
            <a:br>
              <a:rPr sz="1600"/>
            </a:br>
            <a:r>
              <a:rPr sz="1600" b="0">
                <a:solidFill>
                  <a:srgbClr val="0F172A"/>
                </a:solidFill>
                <a:latin typeface="Malgun Gothic"/>
              </a:rPr>
              <a:t>진입 리스크</a:t>
            </a:r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F70DF8D-2EB7-6AFA-3447-6907EB85BB25}"/>
              </a:ext>
            </a:extLst>
          </p:cNvPr>
          <p:cNvSpPr txBox="1"/>
          <p:nvPr/>
        </p:nvSpPr>
        <p:spPr>
          <a:xfrm>
            <a:off x="0" y="5004990"/>
            <a:ext cx="121920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     </a:t>
            </a:r>
            <a:r>
              <a:rPr lang="en-US" sz="2000" i="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4개 </a:t>
            </a:r>
            <a:r>
              <a:rPr lang="en-US" sz="2000" i="0" dirty="0" err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기관</a:t>
            </a:r>
            <a:r>
              <a:rPr lang="en-US" sz="2000" i="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 </a:t>
            </a:r>
            <a:r>
              <a:rPr lang="en-US" sz="2000" i="0" dirty="0" err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데이터를</a:t>
            </a:r>
            <a:r>
              <a:rPr lang="en-US" sz="2000" i="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 </a:t>
            </a:r>
            <a:r>
              <a:rPr lang="en-US" sz="2000" i="0" dirty="0" err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결합해야</a:t>
            </a:r>
            <a:r>
              <a:rPr lang="en-US" sz="2000" i="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 </a:t>
            </a:r>
            <a:r>
              <a:rPr lang="en-US" sz="2000" b="1" i="0" dirty="0" err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기회</a:t>
            </a:r>
            <a:r>
              <a:rPr lang="en-US" sz="2000" i="0" dirty="0" err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와</a:t>
            </a:r>
            <a:r>
              <a:rPr lang="en-US" sz="2000" i="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 </a:t>
            </a:r>
            <a:r>
              <a:rPr lang="en-US" sz="2000" b="1" i="0" dirty="0" err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위험</a:t>
            </a:r>
            <a:r>
              <a:rPr lang="en-US" sz="2000" i="0" dirty="0" err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을</a:t>
            </a:r>
            <a:r>
              <a:rPr lang="en-US" sz="2000" i="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 </a:t>
            </a:r>
            <a:r>
              <a:rPr lang="en-US" sz="2000" i="0" dirty="0" err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구분할</a:t>
            </a:r>
            <a:r>
              <a:rPr lang="en-US" sz="2000" i="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 수 </a:t>
            </a:r>
            <a:r>
              <a:rPr lang="en-US" sz="2000" i="0" dirty="0" err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있습니다</a:t>
            </a:r>
            <a:r>
              <a:rPr lang="en-US" sz="2000" i="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.</a:t>
            </a:r>
            <a:endParaRPr lang="en-US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5B82A0A7-7BE2-63DE-A685-EAE216333E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40560" y="4861560"/>
            <a:ext cx="680720" cy="66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247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ko-KR" sz="2400" b="1">
                <a:solidFill>
                  <a:srgbClr val="0F2340"/>
                </a:solidFill>
                <a:latin typeface="Malgun Gothic"/>
                <a:ea typeface="Malgun Gothic"/>
                <a:cs typeface="+mn-lt"/>
              </a:rPr>
              <a:t>데모</a:t>
            </a:r>
            <a:r>
              <a:rPr lang="ko-KR" sz="2400" b="1">
                <a:solidFill>
                  <a:srgbClr val="0F2340"/>
                </a:solidFill>
                <a:latin typeface="Malgun Gothic"/>
                <a:ea typeface="맑은 고딕"/>
                <a:cs typeface="+mn-lt"/>
              </a:rPr>
              <a:t> 요약</a:t>
            </a:r>
            <a:endParaRPr lang="ko-KR" sz="2400" b="1">
              <a:solidFill>
                <a:srgbClr val="0F2340"/>
              </a:solidFill>
              <a:latin typeface="Malgun Gothic"/>
              <a:ea typeface="Malgun Gothic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4006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lang="en-US" sz="1200" b="1">
                <a:solidFill>
                  <a:srgbClr val="2563EB"/>
                </a:solidFill>
                <a:latin typeface="Malgun Gothic"/>
              </a:rPr>
              <a:t>05</a:t>
            </a:r>
            <a:endParaRPr sz="1200" b="1">
              <a:solidFill>
                <a:srgbClr val="2563EB"/>
              </a:solidFill>
              <a:latin typeface="Malgun Gothic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7492" y="1078992"/>
            <a:ext cx="2835791" cy="22467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① 부산 선택 후 자치구 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14335" y="1078992"/>
            <a:ext cx="3037073" cy="22467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② 해운대구 선택 후 상세 지표</a:t>
            </a:r>
          </a:p>
        </p:txBody>
      </p:sp>
      <p:sp>
        <p:nvSpPr>
          <p:cNvPr id="14" name="Rounded Rectangle 10">
            <a:extLst>
              <a:ext uri="{FF2B5EF4-FFF2-40B4-BE49-F238E27FC236}">
                <a16:creationId xmlns:a16="http://schemas.microsoft.com/office/drawing/2014/main" id="{EBF852E1-DB45-FF72-4034-50BE902901D1}"/>
              </a:ext>
            </a:extLst>
          </p:cNvPr>
          <p:cNvSpPr/>
          <p:nvPr/>
        </p:nvSpPr>
        <p:spPr>
          <a:xfrm>
            <a:off x="6889649" y="2097273"/>
            <a:ext cx="4627880" cy="7518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lnSpc>
                <a:spcPct val="150000"/>
              </a:lnSpc>
            </a:pPr>
            <a:endParaRPr lang="ko-KR" altLang="en-US" sz="1600">
              <a:cs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894614" y="2143984"/>
            <a:ext cx="4624142" cy="66011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dirty="0" err="1">
                <a:solidFill>
                  <a:schemeClr val="tx2"/>
                </a:solidFill>
                <a:latin typeface="Malgun Gothic"/>
              </a:rPr>
              <a:t>부산을</a:t>
            </a:r>
            <a:r>
              <a:rPr sz="1400" dirty="0">
                <a:solidFill>
                  <a:schemeClr val="tx2"/>
                </a:solidFill>
                <a:latin typeface="Malgun Gothic"/>
              </a:rPr>
              <a:t> </a:t>
            </a:r>
            <a:r>
              <a:rPr sz="1400" dirty="0" err="1">
                <a:solidFill>
                  <a:schemeClr val="tx2"/>
                </a:solidFill>
                <a:latin typeface="Malgun Gothic"/>
              </a:rPr>
              <a:t>선택하면</a:t>
            </a:r>
            <a:r>
              <a:rPr sz="1400" dirty="0">
                <a:solidFill>
                  <a:schemeClr val="tx2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chemeClr val="tx2"/>
                </a:solidFill>
                <a:latin typeface="Malgun Gothic"/>
              </a:rPr>
              <a:t>자치구별</a:t>
            </a:r>
            <a:r>
              <a:rPr sz="1400" b="1" dirty="0">
                <a:solidFill>
                  <a:schemeClr val="tx2"/>
                </a:solidFill>
                <a:latin typeface="Malgun Gothic"/>
              </a:rPr>
              <a:t> </a:t>
            </a:r>
            <a:r>
              <a:rPr sz="1400" b="1" dirty="0" err="1">
                <a:solidFill>
                  <a:schemeClr val="tx2"/>
                </a:solidFill>
                <a:latin typeface="Malgun Gothic"/>
              </a:rPr>
              <a:t>수요</a:t>
            </a:r>
            <a:r>
              <a:rPr sz="1400" dirty="0" err="1">
                <a:solidFill>
                  <a:schemeClr val="tx2"/>
                </a:solidFill>
                <a:latin typeface="Malgun Gothic"/>
              </a:rPr>
              <a:t>가</a:t>
            </a:r>
            <a:r>
              <a:rPr sz="1400" dirty="0">
                <a:solidFill>
                  <a:schemeClr val="tx2"/>
                </a:solidFill>
                <a:latin typeface="Malgun Gothic"/>
              </a:rPr>
              <a:t> </a:t>
            </a:r>
            <a:r>
              <a:rPr sz="1400" dirty="0" err="1">
                <a:solidFill>
                  <a:schemeClr val="tx2"/>
                </a:solidFill>
                <a:latin typeface="Malgun Gothic"/>
              </a:rPr>
              <a:t>나뉘고</a:t>
            </a:r>
            <a:r>
              <a:rPr sz="1400" dirty="0">
                <a:solidFill>
                  <a:schemeClr val="tx2"/>
                </a:solidFill>
                <a:latin typeface="Malgun Gothic"/>
              </a:rPr>
              <a:t>, </a:t>
            </a:r>
            <a:endParaRPr lang="ko-KR" altLang="en-US" sz="1400">
              <a:solidFill>
                <a:schemeClr val="tx2"/>
              </a:solidFill>
              <a:latin typeface="Malgun Gothic"/>
              <a:ea typeface="맑은 고딕"/>
            </a:endParaRPr>
          </a:p>
          <a:p>
            <a:pPr algn="ctr">
              <a:lnSpc>
                <a:spcPct val="150000"/>
              </a:lnSpc>
            </a:pPr>
            <a:r>
              <a:rPr sz="1400" b="1">
                <a:solidFill>
                  <a:schemeClr val="tx2"/>
                </a:solidFill>
                <a:latin typeface="Malgun Gothic"/>
              </a:rPr>
              <a:t>특정</a:t>
            </a:r>
            <a:r>
              <a:rPr sz="1400" b="1" dirty="0">
                <a:solidFill>
                  <a:schemeClr val="tx2"/>
                </a:solidFill>
                <a:latin typeface="Malgun Gothic"/>
              </a:rPr>
              <a:t> </a:t>
            </a:r>
            <a:r>
              <a:rPr sz="1400" b="1" err="1">
                <a:solidFill>
                  <a:schemeClr val="tx2"/>
                </a:solidFill>
                <a:latin typeface="Malgun Gothic"/>
              </a:rPr>
              <a:t>구</a:t>
            </a:r>
            <a:r>
              <a:rPr sz="1400" err="1">
                <a:solidFill>
                  <a:schemeClr val="tx2"/>
                </a:solidFill>
                <a:latin typeface="Malgun Gothic"/>
              </a:rPr>
              <a:t>를</a:t>
            </a:r>
            <a:r>
              <a:rPr sz="1400" dirty="0">
                <a:solidFill>
                  <a:schemeClr val="tx2"/>
                </a:solidFill>
                <a:latin typeface="Malgun Gothic"/>
              </a:rPr>
              <a:t> </a:t>
            </a:r>
            <a:r>
              <a:rPr sz="1400" err="1">
                <a:solidFill>
                  <a:schemeClr val="tx2"/>
                </a:solidFill>
                <a:latin typeface="Malgun Gothic"/>
              </a:rPr>
              <a:t>선택하면</a:t>
            </a:r>
            <a:r>
              <a:rPr sz="1400" dirty="0">
                <a:solidFill>
                  <a:schemeClr val="tx2"/>
                </a:solidFill>
                <a:latin typeface="Malgun Gothic"/>
              </a:rPr>
              <a:t> </a:t>
            </a:r>
            <a:r>
              <a:rPr sz="1400" b="1" err="1">
                <a:solidFill>
                  <a:schemeClr val="tx2"/>
                </a:solidFill>
                <a:latin typeface="Malgun Gothic"/>
              </a:rPr>
              <a:t>상세</a:t>
            </a:r>
            <a:r>
              <a:rPr sz="1400" b="1" dirty="0">
                <a:solidFill>
                  <a:schemeClr val="tx2"/>
                </a:solidFill>
                <a:latin typeface="Malgun Gothic"/>
              </a:rPr>
              <a:t> </a:t>
            </a:r>
            <a:r>
              <a:rPr sz="1400" b="1" err="1">
                <a:solidFill>
                  <a:schemeClr val="tx2"/>
                </a:solidFill>
                <a:latin typeface="Malgun Gothic"/>
              </a:rPr>
              <a:t>지표</a:t>
            </a:r>
            <a:r>
              <a:rPr sz="1400" err="1">
                <a:solidFill>
                  <a:schemeClr val="tx2"/>
                </a:solidFill>
                <a:latin typeface="Malgun Gothic"/>
              </a:rPr>
              <a:t>로</a:t>
            </a:r>
            <a:r>
              <a:rPr sz="1400" dirty="0">
                <a:solidFill>
                  <a:schemeClr val="tx2"/>
                </a:solidFill>
                <a:latin typeface="Malgun Gothic"/>
              </a:rPr>
              <a:t> </a:t>
            </a:r>
            <a:r>
              <a:rPr sz="1400" err="1">
                <a:solidFill>
                  <a:schemeClr val="tx2"/>
                </a:solidFill>
                <a:latin typeface="Malgun Gothic"/>
              </a:rPr>
              <a:t>이어집니다</a:t>
            </a:r>
            <a:r>
              <a:rPr sz="1400" dirty="0">
                <a:solidFill>
                  <a:schemeClr val="tx2"/>
                </a:solidFill>
                <a:latin typeface="Malgun Gothic"/>
              </a:rPr>
              <a:t>.</a:t>
            </a:r>
            <a:endParaRPr lang="ko-KR" altLang="en-US" sz="1400">
              <a:solidFill>
                <a:schemeClr val="tx2"/>
              </a:solidFill>
              <a:latin typeface="Malgun Gothic"/>
              <a:ea typeface="Malgun Gothic"/>
            </a:endParaRPr>
          </a:p>
        </p:txBody>
      </p:sp>
      <p:pic>
        <p:nvPicPr>
          <p:cNvPr id="15" name="그림 14" descr="텍스트, 스크린샷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9F1D65B-907F-7E54-4DC6-D609D3EC1F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76" r="1449" b="21407"/>
          <a:stretch>
            <a:fillRect/>
          </a:stretch>
        </p:blipFill>
        <p:spPr>
          <a:xfrm>
            <a:off x="502057" y="1298825"/>
            <a:ext cx="2973424" cy="1891654"/>
          </a:xfrm>
          <a:prstGeom prst="rect">
            <a:avLst/>
          </a:prstGeom>
        </p:spPr>
      </p:pic>
      <p:pic>
        <p:nvPicPr>
          <p:cNvPr id="16" name="그림 15" descr="텍스트, 스크린샷, 도표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9C112CD-59BD-AEF3-14B8-DB1698E910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" t="86" r="46" b="21613"/>
          <a:stretch>
            <a:fillRect/>
          </a:stretch>
        </p:blipFill>
        <p:spPr>
          <a:xfrm>
            <a:off x="3479896" y="1388776"/>
            <a:ext cx="2980822" cy="1896623"/>
          </a:xfrm>
          <a:prstGeom prst="rect">
            <a:avLst/>
          </a:prstGeom>
        </p:spPr>
      </p:pic>
      <p:pic>
        <p:nvPicPr>
          <p:cNvPr id="18" name="그림 17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E75145B-9680-EE86-A9B5-7566DBD466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4493" r="-247" b="-1042"/>
          <a:stretch>
            <a:fillRect/>
          </a:stretch>
        </p:blipFill>
        <p:spPr>
          <a:xfrm>
            <a:off x="499110" y="3189726"/>
            <a:ext cx="2997153" cy="621550"/>
          </a:xfrm>
          <a:prstGeom prst="rect">
            <a:avLst/>
          </a:prstGeom>
        </p:spPr>
      </p:pic>
      <p:pic>
        <p:nvPicPr>
          <p:cNvPr id="19" name="그림 18" descr="텍스트, 스크린샷, 폰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125D62D-5E25-457E-072D-C5B95B91B3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6144" y="3193847"/>
            <a:ext cx="2613002" cy="614082"/>
          </a:xfrm>
          <a:prstGeom prst="rect">
            <a:avLst/>
          </a:prstGeom>
        </p:spPr>
      </p:pic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C524A42D-30A4-01F8-CF1D-F135649E7C79}"/>
              </a:ext>
            </a:extLst>
          </p:cNvPr>
          <p:cNvSpPr/>
          <p:nvPr/>
        </p:nvSpPr>
        <p:spPr>
          <a:xfrm>
            <a:off x="6455827" y="2269024"/>
            <a:ext cx="341012" cy="407762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Picture 6" descr="S11_자치구비교_해운대vs동래_AI해석.png">
            <a:extLst>
              <a:ext uri="{FF2B5EF4-FFF2-40B4-BE49-F238E27FC236}">
                <a16:creationId xmlns:a16="http://schemas.microsoft.com/office/drawing/2014/main" id="{74FB07D5-D51B-C8CC-08CB-8BB534A0D05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24" r="590" b="204"/>
          <a:stretch>
            <a:fillRect/>
          </a:stretch>
        </p:blipFill>
        <p:spPr>
          <a:xfrm>
            <a:off x="6095712" y="3726707"/>
            <a:ext cx="5358241" cy="2252371"/>
          </a:xfrm>
          <a:prstGeom prst="rect">
            <a:avLst/>
          </a:prstGeom>
        </p:spPr>
      </p:pic>
      <p:sp>
        <p:nvSpPr>
          <p:cNvPr id="13" name="Rounded Rectangle 10">
            <a:extLst>
              <a:ext uri="{FF2B5EF4-FFF2-40B4-BE49-F238E27FC236}">
                <a16:creationId xmlns:a16="http://schemas.microsoft.com/office/drawing/2014/main" id="{F04C5307-97EE-A5AF-0FB1-07713C48084B}"/>
              </a:ext>
            </a:extLst>
          </p:cNvPr>
          <p:cNvSpPr/>
          <p:nvPr/>
        </p:nvSpPr>
        <p:spPr>
          <a:xfrm>
            <a:off x="772371" y="4740215"/>
            <a:ext cx="4546600" cy="7010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765C39-D565-9EB8-31C6-192A7593EEE5}"/>
              </a:ext>
            </a:extLst>
          </p:cNvPr>
          <p:cNvSpPr txBox="1"/>
          <p:nvPr/>
        </p:nvSpPr>
        <p:spPr>
          <a:xfrm>
            <a:off x="775419" y="4740215"/>
            <a:ext cx="4551680" cy="70173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en-US" sz="1400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해운대구는</a:t>
            </a:r>
            <a:r>
              <a:rPr lang="en-US" sz="1400" b="1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1400" b="1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급식·서비스</a:t>
            </a:r>
            <a:r>
              <a:rPr lang="en-US" sz="1400" b="1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1400" b="1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중심</a:t>
            </a:r>
            <a:r>
              <a:rPr lang="en-US" sz="1400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, 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+mn-lt"/>
            </a:endParaRPr>
          </a:p>
          <a:p>
            <a:pPr algn="ctr"/>
            <a:r>
              <a:rPr lang="en-US" sz="1400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동래구는</a:t>
            </a:r>
            <a:r>
              <a:rPr lang="en-US" sz="1400" b="1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1400" b="1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시설유지·환경관리</a:t>
            </a:r>
            <a:r>
              <a:rPr lang="en-US" sz="1400" b="1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1400" b="1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중심</a:t>
            </a:r>
            <a:r>
              <a:rPr lang="en-US" sz="1400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 </a:t>
            </a:r>
            <a:endParaRPr lang="en-US">
              <a:solidFill>
                <a:srgbClr val="000000"/>
              </a:solidFill>
              <a:latin typeface="Calibri"/>
              <a:ea typeface="Calibri"/>
              <a:cs typeface="+mn-lt"/>
            </a:endParaRPr>
          </a:p>
          <a:p>
            <a:pPr algn="ctr"/>
            <a:r>
              <a:rPr lang="en-US" sz="1400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같은</a:t>
            </a:r>
            <a:r>
              <a:rPr lang="en-US" sz="1400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1400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부산이라도</a:t>
            </a:r>
            <a:r>
              <a:rPr lang="en-US" sz="1400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1400" b="1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진입</a:t>
            </a:r>
            <a:r>
              <a:rPr lang="en-US" sz="1400" b="1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1400" b="1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전략</a:t>
            </a:r>
            <a:r>
              <a:rPr lang="en-US" sz="1400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이</a:t>
            </a:r>
            <a:r>
              <a:rPr lang="en-US" sz="1400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1400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달라집니다</a:t>
            </a:r>
            <a:r>
              <a:rPr lang="en-US" sz="1400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.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22" name="화살표: 오른쪽 21">
            <a:extLst>
              <a:ext uri="{FF2B5EF4-FFF2-40B4-BE49-F238E27FC236}">
                <a16:creationId xmlns:a16="http://schemas.microsoft.com/office/drawing/2014/main" id="{0C8CCD55-8D09-4E8A-1CCD-07771015A2BB}"/>
              </a:ext>
            </a:extLst>
          </p:cNvPr>
          <p:cNvSpPr/>
          <p:nvPr/>
        </p:nvSpPr>
        <p:spPr>
          <a:xfrm rot="10800000">
            <a:off x="5562321" y="4885703"/>
            <a:ext cx="341012" cy="407762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247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ko-KR" sz="2400" b="1">
                <a:solidFill>
                  <a:srgbClr val="0F2340"/>
                </a:solidFill>
                <a:latin typeface="Malgun Gothic"/>
                <a:ea typeface="Malgun Gothic"/>
              </a:rPr>
              <a:t>물류 거점 </a:t>
            </a:r>
            <a:r>
              <a:rPr lang="ko-KR" altLang="en-US" sz="2400" b="1">
                <a:solidFill>
                  <a:srgbClr val="0F2340"/>
                </a:solidFill>
                <a:latin typeface="Malgun Gothic"/>
                <a:ea typeface="Malgun Gothic"/>
              </a:rPr>
              <a:t>분석 + AI해석</a:t>
            </a:r>
            <a:endParaRPr lang="ko-KR" sz="2400" b="1" dirty="0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4006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lang="en-US" sz="1200" b="1">
                <a:solidFill>
                  <a:srgbClr val="2563EB"/>
                </a:solidFill>
                <a:latin typeface="Malgun Gothic"/>
              </a:rPr>
              <a:t>06</a:t>
            </a:r>
            <a:endParaRPr lang="ko-KR" altLang="en-US"/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10">
            <a:extLst>
              <a:ext uri="{FF2B5EF4-FFF2-40B4-BE49-F238E27FC236}">
                <a16:creationId xmlns:a16="http://schemas.microsoft.com/office/drawing/2014/main" id="{8EFA2991-BA3A-E1C6-78C6-FD98D7221949}"/>
              </a:ext>
            </a:extLst>
          </p:cNvPr>
          <p:cNvSpPr/>
          <p:nvPr/>
        </p:nvSpPr>
        <p:spPr>
          <a:xfrm>
            <a:off x="6611112" y="1894840"/>
            <a:ext cx="5196840" cy="75184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FBD4C0-C519-FBF4-FF9D-70D923FB8F47}"/>
              </a:ext>
            </a:extLst>
          </p:cNvPr>
          <p:cNvSpPr txBox="1"/>
          <p:nvPr/>
        </p:nvSpPr>
        <p:spPr>
          <a:xfrm>
            <a:off x="6614160" y="1949358"/>
            <a:ext cx="5191760" cy="66659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400" b="1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부산</a:t>
            </a:r>
            <a:r>
              <a:rPr lang="en-US" sz="1400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 1티어, </a:t>
            </a:r>
            <a:r>
              <a:rPr lang="en-US" sz="1400" b="1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대전·세종</a:t>
            </a:r>
            <a:r>
              <a:rPr lang="en-US" sz="1400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 2티어, </a:t>
            </a:r>
            <a:r>
              <a:rPr lang="en-US" sz="1400" b="1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수도권·광주</a:t>
            </a:r>
            <a:r>
              <a:rPr lang="en-US" sz="1400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 3티어</a:t>
            </a:r>
            <a:endParaRPr lang="en-US" sz="1600" dirty="0">
              <a:solidFill>
                <a:srgbClr val="000000"/>
              </a:solidFill>
              <a:latin typeface="Calibri"/>
              <a:ea typeface="Calibri"/>
              <a:cs typeface="+mn-lt"/>
            </a:endParaRPr>
          </a:p>
          <a:p>
            <a:pPr algn="ctr">
              <a:lnSpc>
                <a:spcPct val="150000"/>
              </a:lnSpc>
            </a:pPr>
            <a:r>
              <a:rPr lang="en-US" sz="1400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급식·식자재</a:t>
            </a:r>
            <a:r>
              <a:rPr lang="en-US" sz="1400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1400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물류</a:t>
            </a:r>
            <a:r>
              <a:rPr lang="en-US" sz="1400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1400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거점</a:t>
            </a:r>
            <a:r>
              <a:rPr lang="en-US" sz="1400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1400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구조를</a:t>
            </a:r>
            <a:r>
              <a:rPr lang="en-US" sz="1400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1400" b="1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자동</a:t>
            </a:r>
            <a:r>
              <a:rPr lang="en-US" sz="1400" b="1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en-US" sz="1400" b="1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제안</a:t>
            </a:r>
            <a:r>
              <a:rPr lang="en-US" sz="1400" dirty="0" err="1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합니다</a:t>
            </a:r>
            <a:r>
              <a:rPr lang="en-US" sz="1400" dirty="0">
                <a:solidFill>
                  <a:srgbClr val="1F497D"/>
                </a:solidFill>
                <a:latin typeface="Malgun Gothic"/>
                <a:ea typeface="Malgun Gothic"/>
                <a:cs typeface="+mn-lt"/>
              </a:rPr>
              <a:t>.</a:t>
            </a:r>
            <a:endParaRPr lang="en-US" sz="1600" dirty="0">
              <a:ea typeface="Calibri"/>
              <a:cs typeface="Calibri"/>
            </a:endParaRPr>
          </a:p>
        </p:txBody>
      </p:sp>
      <p:pic>
        <p:nvPicPr>
          <p:cNvPr id="3" name="그림 2" descr="텍스트, 스크린샷, 디스플레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941DA31-585A-65D5-113F-E0E62458A6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" r="382" b="25100"/>
          <a:stretch>
            <a:fillRect/>
          </a:stretch>
        </p:blipFill>
        <p:spPr>
          <a:xfrm>
            <a:off x="506705" y="1216887"/>
            <a:ext cx="5317514" cy="1618959"/>
          </a:xfrm>
          <a:prstGeom prst="rect">
            <a:avLst/>
          </a:prstGeom>
        </p:spPr>
      </p:pic>
      <p:pic>
        <p:nvPicPr>
          <p:cNvPr id="6" name="그림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91119A5-9006-2B59-0703-8DACA4A2A3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735" y="2832859"/>
            <a:ext cx="5310212" cy="927874"/>
          </a:xfrm>
          <a:prstGeom prst="rect">
            <a:avLst/>
          </a:prstGeom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A625945D-0A23-7882-2FEE-5C099BEC6351}"/>
              </a:ext>
            </a:extLst>
          </p:cNvPr>
          <p:cNvSpPr/>
          <p:nvPr/>
        </p:nvSpPr>
        <p:spPr>
          <a:xfrm>
            <a:off x="506513" y="2828693"/>
            <a:ext cx="1342730" cy="346802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EC1131FE-33F2-8E65-B516-1A362FF07291}"/>
              </a:ext>
            </a:extLst>
          </p:cNvPr>
          <p:cNvSpPr/>
          <p:nvPr/>
        </p:nvSpPr>
        <p:spPr>
          <a:xfrm>
            <a:off x="6100227" y="2075984"/>
            <a:ext cx="341012" cy="407762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Picture 6" descr="S10c_AI경쟁구조해석_진입검토.png">
            <a:extLst>
              <a:ext uri="{FF2B5EF4-FFF2-40B4-BE49-F238E27FC236}">
                <a16:creationId xmlns:a16="http://schemas.microsoft.com/office/drawing/2014/main" id="{E5C88DE5-F94E-527B-39D9-4077E7A7E4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0" t="1168" r="541"/>
          <a:stretch>
            <a:fillRect/>
          </a:stretch>
        </p:blipFill>
        <p:spPr>
          <a:xfrm>
            <a:off x="5034280" y="3650510"/>
            <a:ext cx="6771684" cy="2620232"/>
          </a:xfrm>
          <a:prstGeom prst="rect">
            <a:avLst/>
          </a:prstGeom>
        </p:spPr>
      </p:pic>
      <p:sp>
        <p:nvSpPr>
          <p:cNvPr id="15" name="Rounded Rectangle 10">
            <a:extLst>
              <a:ext uri="{FF2B5EF4-FFF2-40B4-BE49-F238E27FC236}">
                <a16:creationId xmlns:a16="http://schemas.microsoft.com/office/drawing/2014/main" id="{9005583D-ADEA-D5FE-5AD8-633F21623876}"/>
              </a:ext>
            </a:extLst>
          </p:cNvPr>
          <p:cNvSpPr/>
          <p:nvPr/>
        </p:nvSpPr>
        <p:spPr>
          <a:xfrm>
            <a:off x="352552" y="4617720"/>
            <a:ext cx="4292600" cy="6604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CB0121-B4F5-040A-665A-FF669EF10162}"/>
              </a:ext>
            </a:extLst>
          </p:cNvPr>
          <p:cNvSpPr txBox="1"/>
          <p:nvPr/>
        </p:nvSpPr>
        <p:spPr>
          <a:xfrm>
            <a:off x="355600" y="4617720"/>
            <a:ext cx="4287520" cy="66659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400" b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AI 해석</a:t>
            </a:r>
            <a:r>
              <a:rPr lang="en-US" sz="140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은 최종 판단이 아니라 수치 지표를</a:t>
            </a:r>
            <a:endParaRPr lang="ko-KR" sz="1400" dirty="0">
              <a:solidFill>
                <a:schemeClr val="tx2"/>
              </a:solidFill>
              <a:latin typeface="Calibri"/>
              <a:ea typeface="맑은 고딕"/>
              <a:cs typeface="+mn-lt"/>
            </a:endParaRPr>
          </a:p>
          <a:p>
            <a:pPr algn="ctr">
              <a:lnSpc>
                <a:spcPct val="150000"/>
              </a:lnSpc>
            </a:pPr>
            <a:r>
              <a:rPr lang="en-US" sz="140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읽기 쉬운 문장으로 바꾸는 </a:t>
            </a:r>
            <a:r>
              <a:rPr lang="en-US" sz="1400" b="1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보조 기능</a:t>
            </a:r>
            <a:r>
              <a:rPr lang="en-US" sz="1400">
                <a:solidFill>
                  <a:schemeClr val="tx2"/>
                </a:solidFill>
                <a:latin typeface="Malgun Gothic"/>
                <a:ea typeface="Malgun Gothic"/>
                <a:cs typeface="+mn-lt"/>
              </a:rPr>
              <a:t>입니다.</a:t>
            </a:r>
            <a:endParaRPr lang="ko-KR" sz="1400">
              <a:solidFill>
                <a:schemeClr val="tx2"/>
              </a:solidFill>
              <a:ea typeface="맑은 고딕"/>
              <a:cs typeface="Calibri"/>
            </a:endParaRPr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444FA264-2E00-60BC-2879-2FBDC0963A1F}"/>
              </a:ext>
            </a:extLst>
          </p:cNvPr>
          <p:cNvSpPr/>
          <p:nvPr/>
        </p:nvSpPr>
        <p:spPr>
          <a:xfrm rot="10800000">
            <a:off x="4759106" y="4758223"/>
            <a:ext cx="341012" cy="407762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18973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비즈니스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4006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lang="en-US" sz="1200" b="1">
                <a:solidFill>
                  <a:srgbClr val="2563EB"/>
                </a:solidFill>
                <a:latin typeface="Malgun Gothic"/>
                <a:ea typeface="Malgun Gothic"/>
              </a:rPr>
              <a:t>07</a:t>
            </a:r>
            <a:endParaRPr lang="en-US" sz="1200" b="1" dirty="0">
              <a:solidFill>
                <a:srgbClr val="2563EB"/>
              </a:solidFill>
              <a:latin typeface="Malgun Gothic"/>
              <a:ea typeface="Malgun Gothic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143000"/>
            <a:ext cx="10698480" cy="4401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500" b="1" dirty="0" err="1">
                <a:solidFill>
                  <a:srgbClr val="0F2340"/>
                </a:solidFill>
                <a:latin typeface="Malgun Gothic"/>
              </a:rPr>
              <a:t>현재는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무료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데모로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공개한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POC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단계입니다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.</a:t>
            </a:r>
            <a:endParaRPr lang="ko-KR" altLang="en-US" sz="2500" b="1" dirty="0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3246120" cy="27178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103120"/>
            <a:ext cx="73152" cy="27178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2267712"/>
            <a:ext cx="2926079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b="1">
                <a:solidFill>
                  <a:srgbClr val="0F2340"/>
                </a:solidFill>
                <a:latin typeface="Malgun Gothic"/>
              </a:rPr>
              <a:t>현재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08258"/>
            <a:ext cx="2926079" cy="116339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B2C 무료 데모</a:t>
            </a:r>
            <a:br>
              <a:rPr sz="2400"/>
            </a:br>
            <a:br>
              <a:rPr sz="2400"/>
            </a:br>
            <a:r>
              <a:rPr sz="1600" b="0">
                <a:solidFill>
                  <a:srgbClr val="0F172A"/>
                </a:solidFill>
                <a:latin typeface="Malgun Gothic"/>
              </a:rPr>
              <a:t>예비창업자가 직접 지역·품목 탐색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2103120"/>
            <a:ext cx="3246120" cy="27178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26280" y="2103120"/>
            <a:ext cx="73152" cy="2717800"/>
          </a:xfrm>
          <a:prstGeom prst="rect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27448" y="2267712"/>
            <a:ext cx="2926079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b="1">
                <a:solidFill>
                  <a:srgbClr val="0F2340"/>
                </a:solidFill>
                <a:latin typeface="Malgun Gothic"/>
              </a:rPr>
              <a:t>다음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2708258"/>
            <a:ext cx="2926079" cy="190205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600" b="0" dirty="0">
                <a:solidFill>
                  <a:srgbClr val="0F172A"/>
                </a:solidFill>
                <a:latin typeface="Malgun Gothic"/>
              </a:rPr>
              <a:t>B2B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상담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>
                <a:solidFill>
                  <a:srgbClr val="0F172A"/>
                </a:solidFill>
                <a:latin typeface="Malgun Gothic"/>
              </a:rPr>
              <a:t>도구</a:t>
            </a:r>
            <a:endParaRPr lang="ko-KR" altLang="en-US">
              <a:solidFill>
                <a:srgbClr val="000000"/>
              </a:solidFill>
              <a:latin typeface="Calibri"/>
              <a:ea typeface="맑은 고딕" panose="020B0503020000020004" pitchFamily="34" charset="-127"/>
              <a:cs typeface="Calibri"/>
            </a:endParaRPr>
          </a:p>
          <a:p>
            <a:pPr algn="l"/>
            <a:br>
              <a:rPr sz="2400" dirty="0"/>
            </a:br>
            <a:r>
              <a:rPr sz="1600" b="0">
                <a:solidFill>
                  <a:srgbClr val="0F172A"/>
                </a:solidFill>
                <a:latin typeface="Malgun Gothic"/>
              </a:rPr>
              <a:t>창업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지원기관·상담사가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지역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수요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리포트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err="1">
                <a:solidFill>
                  <a:srgbClr val="0F172A"/>
                </a:solidFill>
                <a:latin typeface="Malgun Gothic"/>
              </a:rPr>
              <a:t>활용</a:t>
            </a:r>
            <a:endParaRPr lang="ko-KR" altLang="en-US">
              <a:ea typeface="맑은 고딕"/>
              <a:cs typeface="Calibri"/>
            </a:endParaRPr>
          </a:p>
          <a:p>
            <a:endParaRPr lang="ko-KR" sz="1600" dirty="0">
              <a:solidFill>
                <a:srgbClr val="0F172A"/>
              </a:solidFill>
              <a:latin typeface="Malgun Gothic"/>
              <a:ea typeface="Malgun Gothic"/>
            </a:endParaRPr>
          </a:p>
          <a:p>
            <a:r>
              <a:rPr lang="ko-KR" sz="1600">
                <a:solidFill>
                  <a:srgbClr val="0F172A"/>
                </a:solidFill>
                <a:latin typeface="Malgun Gothic"/>
                <a:ea typeface="Malgun Gothic"/>
                <a:cs typeface="+mn-lt"/>
              </a:rPr>
              <a:t>→ 상담 자료 준비 시간</a:t>
            </a:r>
            <a:endParaRPr lang="ko-KR">
              <a:solidFill>
                <a:srgbClr val="000000"/>
              </a:solidFill>
              <a:latin typeface="Calibri"/>
              <a:ea typeface="맑은 고딕" panose="020B0503020000020004" pitchFamily="34" charset="-127"/>
              <a:cs typeface="+mn-lt"/>
            </a:endParaRPr>
          </a:p>
          <a:p>
            <a:r>
              <a:rPr lang="ko-KR" altLang="en-US" sz="1600">
                <a:solidFill>
                  <a:srgbClr val="0F172A"/>
                </a:solidFill>
                <a:latin typeface="Malgun Gothic"/>
                <a:ea typeface="Malgun Gothic"/>
                <a:cs typeface="+mn-lt"/>
              </a:rPr>
              <a:t> </a:t>
            </a:r>
            <a:r>
              <a:rPr lang="ko-KR" sz="1600">
                <a:solidFill>
                  <a:srgbClr val="0F172A"/>
                </a:solidFill>
                <a:latin typeface="Malgun Gothic"/>
                <a:ea typeface="Malgun Gothic"/>
                <a:cs typeface="+mn-lt"/>
              </a:rPr>
              <a:t>단축 · 후보 지역 압축</a:t>
            </a:r>
            <a:endParaRPr lang="ko-KR">
              <a:ea typeface="맑은 고딕"/>
              <a:cs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229600" y="2103120"/>
            <a:ext cx="3246120" cy="27178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0" y="2103120"/>
            <a:ext cx="73152" cy="2717800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30768" y="2267712"/>
            <a:ext cx="2926079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b="1">
                <a:solidFill>
                  <a:srgbClr val="0F2340"/>
                </a:solidFill>
                <a:latin typeface="Malgun Gothic"/>
              </a:rPr>
              <a:t>확장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708258"/>
            <a:ext cx="2926079" cy="116339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플랫폼 연계</a:t>
            </a:r>
            <a:br>
              <a:rPr sz="2400"/>
            </a:br>
            <a:br>
              <a:rPr sz="2400"/>
            </a:br>
            <a:r>
              <a:rPr sz="1600" b="0">
                <a:solidFill>
                  <a:srgbClr val="0F172A"/>
                </a:solidFill>
                <a:latin typeface="Malgun Gothic"/>
              </a:rPr>
              <a:t>납품업체 영업 거점·지자체 정책 자료로 확대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8C402D46-D6BB-53A0-D47A-5EA3A6C9BA77}"/>
              </a:ext>
            </a:extLst>
          </p:cNvPr>
          <p:cNvSpPr/>
          <p:nvPr/>
        </p:nvSpPr>
        <p:spPr>
          <a:xfrm>
            <a:off x="1967230" y="5249545"/>
            <a:ext cx="8290560" cy="9144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4479F2-30E5-31D5-A0BB-212067B255F1}"/>
              </a:ext>
            </a:extLst>
          </p:cNvPr>
          <p:cNvSpPr txBox="1"/>
          <p:nvPr/>
        </p:nvSpPr>
        <p:spPr>
          <a:xfrm>
            <a:off x="1971675" y="5356245"/>
            <a:ext cx="825817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200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핵심 수익화 방향은 </a:t>
            </a:r>
            <a:r>
              <a:rPr lang="ko-KR" altLang="en-US" sz="2000" b="1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창업 상담기관</a:t>
            </a:r>
            <a:r>
              <a:rPr lang="ko-KR" altLang="en-US" sz="200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 및 </a:t>
            </a:r>
            <a:r>
              <a:rPr lang="ko-KR" altLang="en-US" sz="2000" b="1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소상공인 지원센터</a:t>
            </a:r>
            <a:r>
              <a:rPr lang="ko-KR" altLang="en-US" sz="200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 대상의</a:t>
            </a:r>
            <a:endParaRPr lang="ko-KR">
              <a:solidFill>
                <a:schemeClr val="bg1"/>
              </a:solidFill>
            </a:endParaRPr>
          </a:p>
          <a:p>
            <a:pPr algn="ctr"/>
            <a:r>
              <a:rPr lang="ko-KR" altLang="en-US" sz="2000" dirty="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 상담 </a:t>
            </a:r>
            <a:r>
              <a:rPr lang="ko-KR" altLang="en-US" sz="200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보조 리포트/도구입니다.</a:t>
            </a:r>
            <a:endParaRPr lang="ko-KR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969264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기대 효과와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320040"/>
            <a:ext cx="548640" cy="24006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lang="en-US" sz="1200" b="1">
                <a:solidFill>
                  <a:srgbClr val="2563EB"/>
                </a:solidFill>
                <a:latin typeface="Malgun Gothic"/>
              </a:rPr>
              <a:t>08</a:t>
            </a:r>
            <a:endParaRPr sz="1200" b="1">
              <a:solidFill>
                <a:srgbClr val="2563EB"/>
              </a:solidFill>
              <a:latin typeface="Malgun Gothic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96926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143000"/>
            <a:ext cx="10698480" cy="82484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500" b="1" dirty="0">
                <a:solidFill>
                  <a:srgbClr val="0F2340"/>
                </a:solidFill>
                <a:latin typeface="Malgun Gothic"/>
              </a:rPr>
              <a:t>이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서비스는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공공수요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관점의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참고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dirty="0" err="1">
                <a:solidFill>
                  <a:srgbClr val="0F2340"/>
                </a:solidFill>
                <a:latin typeface="Malgun Gothic"/>
              </a:rPr>
              <a:t>자료이며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, </a:t>
            </a:r>
            <a:endParaRPr lang="ko-KR" altLang="en-US" sz="2500" b="1" dirty="0">
              <a:solidFill>
                <a:srgbClr val="0F2340"/>
              </a:solidFill>
              <a:latin typeface="Malgun Gothic"/>
            </a:endParaRPr>
          </a:p>
          <a:p>
            <a:pPr algn="l"/>
            <a:r>
              <a:rPr sz="2500" b="1">
                <a:solidFill>
                  <a:srgbClr val="0F2340"/>
                </a:solidFill>
                <a:latin typeface="Malgun Gothic"/>
              </a:rPr>
              <a:t>창업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성공을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예측하지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500" b="1" err="1">
                <a:solidFill>
                  <a:srgbClr val="0F2340"/>
                </a:solidFill>
                <a:latin typeface="Malgun Gothic"/>
              </a:rPr>
              <a:t>않습니다</a:t>
            </a:r>
            <a:r>
              <a:rPr sz="2500" b="1" dirty="0">
                <a:solidFill>
                  <a:srgbClr val="0F2340"/>
                </a:solidFill>
                <a:latin typeface="Malgun Gothic"/>
              </a:rPr>
              <a:t>.</a:t>
            </a:r>
            <a:endParaRPr lang="ko-KR" altLang="en-US" sz="2500" b="1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22960" y="2176780"/>
            <a:ext cx="5166360" cy="27432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176780"/>
            <a:ext cx="73152" cy="27432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24128" y="2341372"/>
            <a:ext cx="484632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b="1">
                <a:solidFill>
                  <a:srgbClr val="0F2340"/>
                </a:solidFill>
                <a:latin typeface="Malgun Gothic"/>
              </a:rPr>
              <a:t>기대 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860675"/>
            <a:ext cx="4846320" cy="153272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0">
                <a:solidFill>
                  <a:srgbClr val="0F172A"/>
                </a:solidFill>
                <a:latin typeface="Malgun Gothic"/>
              </a:rPr>
              <a:t>공공조달 시장 진입 전 지역·품목 수요를 사전 검토</a:t>
            </a:r>
            <a:br>
              <a:rPr sz="2400"/>
            </a:br>
            <a:br>
              <a:rPr sz="2400"/>
            </a:br>
            <a:r>
              <a:rPr sz="1600" b="0">
                <a:solidFill>
                  <a:srgbClr val="0F172A"/>
                </a:solidFill>
                <a:latin typeface="Malgun Gothic"/>
              </a:rPr>
              <a:t>4개 공공데이터 결합으로 다각도 분석 제공</a:t>
            </a:r>
            <a:br>
              <a:rPr sz="2400"/>
            </a:br>
            <a:br>
              <a:rPr sz="2400"/>
            </a:br>
            <a:r>
              <a:rPr sz="1600" b="0">
                <a:solidFill>
                  <a:srgbClr val="0F172A"/>
                </a:solidFill>
                <a:latin typeface="Malgun Gothic"/>
              </a:rPr>
              <a:t>상담 현장에서 지역별 수요 리포트로 활용 가능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76780"/>
            <a:ext cx="5166360" cy="2743200"/>
          </a:xfrm>
          <a:prstGeom prst="roundRect">
            <a:avLst/>
          </a:prstGeom>
          <a:solidFill>
            <a:srgbClr val="EFF6FF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55080" y="2176780"/>
            <a:ext cx="73152" cy="2743200"/>
          </a:xfrm>
          <a:prstGeom prst="rect">
            <a:avLst/>
          </a:prstGeom>
          <a:solidFill>
            <a:srgbClr val="64748B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56248" y="2341372"/>
            <a:ext cx="484632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b="1" dirty="0" err="1">
                <a:solidFill>
                  <a:srgbClr val="0F2340"/>
                </a:solidFill>
                <a:latin typeface="Malgun Gothic"/>
              </a:rPr>
              <a:t>현재</a:t>
            </a:r>
            <a:r>
              <a:rPr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b="1" dirty="0" err="1">
                <a:solidFill>
                  <a:srgbClr val="0F2340"/>
                </a:solidFill>
                <a:latin typeface="Malgun Gothic"/>
              </a:rPr>
              <a:t>한계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2860675"/>
            <a:ext cx="4846320" cy="153272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0" dirty="0" err="1">
                <a:solidFill>
                  <a:srgbClr val="0F172A"/>
                </a:solidFill>
                <a:latin typeface="Malgun Gothic"/>
              </a:rPr>
              <a:t>공공조달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B2G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관점만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반영</a:t>
            </a:r>
            <a:br>
              <a:rPr sz="2400"/>
            </a:br>
            <a:br>
              <a:rPr sz="2400"/>
            </a:br>
            <a:r>
              <a:rPr sz="1600" b="0" dirty="0" err="1">
                <a:solidFill>
                  <a:srgbClr val="0F172A"/>
                </a:solidFill>
                <a:latin typeface="Malgun Gothic"/>
              </a:rPr>
              <a:t>민간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수요와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실사용자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피드백은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추가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필요</a:t>
            </a:r>
            <a:br>
              <a:rPr sz="2400"/>
            </a:br>
            <a:br>
              <a:rPr sz="2400"/>
            </a:br>
            <a:r>
              <a:rPr sz="1600" b="0" dirty="0" err="1">
                <a:solidFill>
                  <a:srgbClr val="0F172A"/>
                </a:solidFill>
                <a:latin typeface="Malgun Gothic"/>
              </a:rPr>
              <a:t>서비스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내에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한계를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명시해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과해석</a:t>
            </a:r>
            <a:r>
              <a:rPr sz="1600" b="0" dirty="0">
                <a:solidFill>
                  <a:srgbClr val="0F172A"/>
                </a:solidFill>
                <a:latin typeface="Malgun Gothic"/>
              </a:rPr>
              <a:t> </a:t>
            </a:r>
            <a:r>
              <a:rPr sz="1600" b="0" dirty="0" err="1">
                <a:solidFill>
                  <a:srgbClr val="0F172A"/>
                </a:solidFill>
                <a:latin typeface="Malgun Gothic"/>
              </a:rPr>
              <a:t>방지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D5561496-4D27-73E0-945D-812B74467CC7}"/>
              </a:ext>
            </a:extLst>
          </p:cNvPr>
          <p:cNvSpPr/>
          <p:nvPr/>
        </p:nvSpPr>
        <p:spPr>
          <a:xfrm>
            <a:off x="1967230" y="5249545"/>
            <a:ext cx="8290560" cy="91440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567F20-CDC0-DC15-4240-1BB30D782D21}"/>
              </a:ext>
            </a:extLst>
          </p:cNvPr>
          <p:cNvSpPr txBox="1"/>
          <p:nvPr/>
        </p:nvSpPr>
        <p:spPr>
          <a:xfrm>
            <a:off x="1971675" y="5356245"/>
            <a:ext cx="8258175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200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감에 의존한 </a:t>
            </a:r>
            <a:r>
              <a:rPr lang="ko-KR" altLang="en-US" sz="2000" b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입지 선택</a:t>
            </a:r>
            <a:r>
              <a:rPr lang="ko-KR" altLang="en-US" sz="200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을 </a:t>
            </a:r>
            <a:r>
              <a:rPr lang="ko-KR" altLang="en-US" sz="2000" b="1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데이터 기반 사전 검토</a:t>
            </a:r>
            <a:r>
              <a:rPr lang="ko-KR" altLang="en-US" sz="200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로 바꾸는</a:t>
            </a:r>
            <a:endParaRPr lang="ko-KR" altLang="en-US" sz="2000" dirty="0">
              <a:solidFill>
                <a:schemeClr val="bg1"/>
              </a:solidFill>
              <a:latin typeface="Malgun Gothic"/>
              <a:ea typeface="Malgun Gothic"/>
              <a:cs typeface="Courier New"/>
            </a:endParaRPr>
          </a:p>
          <a:p>
            <a:pPr algn="ctr"/>
            <a:r>
              <a:rPr lang="ko-KR" altLang="en-US" sz="2000">
                <a:solidFill>
                  <a:schemeClr val="bg1"/>
                </a:solidFill>
                <a:latin typeface="Malgun Gothic"/>
                <a:ea typeface="Malgun Gothic"/>
                <a:cs typeface="Courier New"/>
              </a:rPr>
              <a:t> 첫 걸음입니다.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30A576-B446-C8E0-3153-9454BEC7A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9AA654-8156-D110-CAA4-540B2A2492E1}"/>
              </a:ext>
            </a:extLst>
          </p:cNvPr>
          <p:cNvSpPr txBox="1"/>
          <p:nvPr/>
        </p:nvSpPr>
        <p:spPr>
          <a:xfrm>
            <a:off x="502920" y="256032"/>
            <a:ext cx="9692640" cy="4247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ko-KR" sz="2400" b="1">
                <a:solidFill>
                  <a:srgbClr val="0F2340"/>
                </a:solidFill>
                <a:latin typeface="Malgun Gothic"/>
                <a:ea typeface="Malgun Gothic"/>
                <a:cs typeface="+mn-lt"/>
              </a:rPr>
              <a:t>활용</a:t>
            </a:r>
            <a:r>
              <a:rPr lang="en-US" sz="2400" b="1" dirty="0">
                <a:solidFill>
                  <a:srgbClr val="0F2340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ko-KR" sz="2400" b="1" err="1">
                <a:solidFill>
                  <a:srgbClr val="0F2340"/>
                </a:solidFill>
                <a:latin typeface="Malgun Gothic"/>
                <a:ea typeface="Malgun Gothic"/>
                <a:cs typeface="+mn-lt"/>
              </a:rPr>
              <a:t>공공데이터</a:t>
            </a:r>
            <a:r>
              <a:rPr lang="en-US" sz="2400" b="1" dirty="0">
                <a:solidFill>
                  <a:srgbClr val="0F2340"/>
                </a:solidFill>
                <a:latin typeface="Malgun Gothic"/>
                <a:ea typeface="Malgun Gothic"/>
                <a:cs typeface="+mn-lt"/>
              </a:rPr>
              <a:t> </a:t>
            </a:r>
            <a:r>
              <a:rPr lang="ko-KR" sz="2400" b="1" err="1">
                <a:solidFill>
                  <a:srgbClr val="0F2340"/>
                </a:solidFill>
                <a:latin typeface="Malgun Gothic"/>
                <a:ea typeface="Malgun Gothic"/>
                <a:cs typeface="+mn-lt"/>
              </a:rPr>
              <a:t>목록</a:t>
            </a:r>
            <a:endParaRPr sz="2400" b="1" err="1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F0E65A-8445-B08A-C7DE-2B4725B79888}"/>
              </a:ext>
            </a:extLst>
          </p:cNvPr>
          <p:cNvSpPr txBox="1"/>
          <p:nvPr/>
        </p:nvSpPr>
        <p:spPr>
          <a:xfrm>
            <a:off x="11201400" y="320040"/>
            <a:ext cx="548640" cy="24006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lang="en-US" sz="1200" b="1">
                <a:solidFill>
                  <a:srgbClr val="2563EB"/>
                </a:solidFill>
                <a:latin typeface="Malgun Gothic"/>
              </a:rPr>
              <a:t>08</a:t>
            </a:r>
            <a:endParaRPr sz="1200" b="1">
              <a:solidFill>
                <a:srgbClr val="2563EB"/>
              </a:solidFill>
              <a:latin typeface="Malgun Gothic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1A9881-0019-39CC-40E0-8F21504144B6}"/>
              </a:ext>
            </a:extLst>
          </p:cNvPr>
          <p:cNvSpPr/>
          <p:nvPr/>
        </p:nvSpPr>
        <p:spPr>
          <a:xfrm>
            <a:off x="493527" y="5955524"/>
            <a:ext cx="11201400" cy="22860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61660E28-F7FA-4C95-B423-0DB50F364E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819796"/>
              </p:ext>
            </p:extLst>
          </p:nvPr>
        </p:nvGraphicFramePr>
        <p:xfrm>
          <a:off x="482504" y="968651"/>
          <a:ext cx="11221953" cy="48807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5512">
                  <a:extLst>
                    <a:ext uri="{9D8B030D-6E8A-4147-A177-3AD203B41FA5}">
                      <a16:colId xmlns:a16="http://schemas.microsoft.com/office/drawing/2014/main" val="4200310474"/>
                    </a:ext>
                  </a:extLst>
                </a:gridCol>
                <a:gridCol w="1877121">
                  <a:extLst>
                    <a:ext uri="{9D8B030D-6E8A-4147-A177-3AD203B41FA5}">
                      <a16:colId xmlns:a16="http://schemas.microsoft.com/office/drawing/2014/main" val="1043703782"/>
                    </a:ext>
                  </a:extLst>
                </a:gridCol>
                <a:gridCol w="4869366">
                  <a:extLst>
                    <a:ext uri="{9D8B030D-6E8A-4147-A177-3AD203B41FA5}">
                      <a16:colId xmlns:a16="http://schemas.microsoft.com/office/drawing/2014/main" val="2461640162"/>
                    </a:ext>
                  </a:extLst>
                </a:gridCol>
                <a:gridCol w="2839954">
                  <a:extLst>
                    <a:ext uri="{9D8B030D-6E8A-4147-A177-3AD203B41FA5}">
                      <a16:colId xmlns:a16="http://schemas.microsoft.com/office/drawing/2014/main" val="3101195848"/>
                    </a:ext>
                  </a:extLst>
                </a:gridCol>
              </a:tblGrid>
              <a:tr h="5990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/>
                        <a:t>기관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/>
                        <a:t>데이터/API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/>
                        <a:t>URL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/>
                        <a:t>활용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4018602"/>
                  </a:ext>
                </a:extLst>
              </a:tr>
              <a:tr h="599011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/>
                        <a:t>조달청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/>
                        <a:t>나라장터 입찰공고정보 API</a:t>
                      </a:r>
                      <a:endParaRPr lang="ko-KR" altLang="en-US" sz="1600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1600" b="0" i="0" u="none" strike="noStrike" baseline="0" noProof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apis.data.go.kr/1230000/ad/BidPublicInfoService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1600" b="0" i="0" u="none" strike="noStrike" baseline="0" noProof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지역·품목별 공고 수, 발주금액, 공공수요 산출</a:t>
                      </a:r>
                      <a:endParaRPr lang="ko-KR" sz="16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51360650"/>
                  </a:ext>
                </a:extLst>
              </a:tr>
              <a:tr h="599011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/>
                        <a:t>낙찰결과 API</a:t>
                      </a:r>
                      <a:endParaRPr lang="ko-KR" altLang="en-US" sz="1600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1600" b="0" i="0" u="none" strike="noStrike" baseline="0" noProof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향후 계약 성사율 보정용 고도화 데이터</a:t>
                      </a:r>
                      <a:endParaRPr lang="ko-KR" sz="16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46294"/>
                  </a:ext>
                </a:extLst>
              </a:tr>
              <a:tr h="687658">
                <a:tc rowSpan="3">
                  <a:txBody>
                    <a:bodyPr/>
                    <a:lstStyle/>
                    <a:p>
                      <a:pPr algn="ctr" latinLnBrk="1"/>
                      <a:endParaRPr lang="ko-KR" altLang="en-US" sz="1600" dirty="0"/>
                    </a:p>
                    <a:p>
                      <a:pPr lvl="0" algn="ctr">
                        <a:buNone/>
                      </a:pPr>
                      <a:r>
                        <a:rPr lang="ko-KR" altLang="en-US" sz="1600"/>
                        <a:t>행정안전부</a:t>
                      </a:r>
                      <a:endParaRPr lang="ko-KR" altLang="en-US" sz="1600" dirty="0"/>
                    </a:p>
                    <a:p>
                      <a:pPr lvl="0" algn="ctr">
                        <a:buNone/>
                      </a:pP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/>
                        <a:t>주민등록 인구통계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1600" b="0" i="0" u="none" strike="noStrike" baseline="0" noProof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apis.data.go.kr/1741000/stdgPpltnHhStus</a:t>
                      </a:r>
                      <a:endParaRPr lang="ko-KR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1600" b="0" i="0" u="none" strike="noStrike" baseline="0" noProof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지역 인구 규모 반영</a:t>
                      </a:r>
                      <a:endParaRPr lang="ko-KR" sz="16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8745742"/>
                  </a:ext>
                </a:extLst>
              </a:tr>
              <a:tr h="599011">
                <a:tc vMerge="1">
                  <a:txBody>
                    <a:bodyPr/>
                    <a:lstStyle/>
                    <a:p>
                      <a:endParaRPr lang="ko-KR" alt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/>
                        <a:t>연령별 인구현황</a:t>
                      </a:r>
                      <a:endParaRPr lang="ko-KR" altLang="en-US" sz="1600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1600" b="0" i="0" u="none" strike="noStrike" baseline="0" noProof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apis.data.go.kr/1741000/admmSexdAgePpltn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1600" b="0" i="0" u="none" strike="noStrike" baseline="0" noProof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소비층 구조 분석</a:t>
                      </a:r>
                      <a:endParaRPr lang="ko-KR" sz="16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2196779"/>
                  </a:ext>
                </a:extLst>
              </a:tr>
              <a:tr h="599011">
                <a:tc vMerge="1">
                  <a:txBody>
                    <a:bodyPr/>
                    <a:lstStyle/>
                    <a:p>
                      <a:endParaRPr lang="ko-KR" altLang="en-US" sz="18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/>
                        <a:t>성별·연령별 인구</a:t>
                      </a:r>
                      <a:endParaRPr lang="ko-KR" altLang="en-US" sz="1600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1600" b="0" i="0" u="none" strike="noStrike" baseline="0" noProof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품목별 소비층 적합도 산출</a:t>
                      </a:r>
                      <a:endParaRPr lang="ko-KR" sz="16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0936403"/>
                  </a:ext>
                </a:extLst>
              </a:tr>
              <a:tr h="5990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/>
                        <a:t>통계청 KOSIS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/>
                        <a:t>신생기업 생존율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1600" b="0" i="0" u="none" strike="noStrike" baseline="0" noProof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kosis.kr/openapi/Param/statisticsParameterData.do</a:t>
                      </a:r>
                      <a:endParaRPr lang="ko-KR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1600" b="0" i="0" u="none" strike="noStrike" baseline="0" noProof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진입 리스크 및 보정점수 반영</a:t>
                      </a:r>
                      <a:endParaRPr lang="ko-KR" sz="16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1409832"/>
                  </a:ext>
                </a:extLst>
              </a:tr>
              <a:tr h="59901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/>
                        <a:t>소상공인</a:t>
                      </a:r>
                      <a:endParaRPr lang="ko-KR" altLang="en-US" sz="1600" dirty="0"/>
                    </a:p>
                    <a:p>
                      <a:pPr lvl="0" algn="ctr">
                        <a:buNone/>
                      </a:pPr>
                      <a:r>
                        <a:rPr lang="ko-KR" altLang="en-US" sz="1600"/>
                        <a:t>진흥공단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1600" b="0" i="0" u="none" strike="noStrike" noProof="0">
                          <a:solidFill>
                            <a:srgbClr val="000000"/>
                          </a:solidFill>
                          <a:latin typeface="Malgun Gothic"/>
                          <a:ea typeface="Malgun Gothic"/>
                        </a:rPr>
                        <a:t>상가업소 정보 API</a:t>
                      </a:r>
                      <a:endParaRPr lang="ko-KR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1600" b="0" i="0" u="none" strike="noStrike" baseline="0" noProof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apis.data.go.kr/B553077/api/open/sdsc2</a:t>
                      </a:r>
                      <a:endParaRPr lang="ko-KR" sz="1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ko-KR" sz="1600" b="0" i="0" u="none" strike="noStrike" baseline="0" noProof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업종별 점포 수, 경쟁 포화도 산출</a:t>
                      </a:r>
                      <a:endParaRPr lang="ko-KR" sz="16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221004"/>
                  </a:ext>
                </a:extLst>
              </a:tr>
            </a:tbl>
          </a:graphicData>
        </a:graphic>
      </p:graphicFrame>
      <p:sp>
        <p:nvSpPr>
          <p:cNvPr id="54" name="TextBox 53">
            <a:extLst>
              <a:ext uri="{FF2B5EF4-FFF2-40B4-BE49-F238E27FC236}">
                <a16:creationId xmlns:a16="http://schemas.microsoft.com/office/drawing/2014/main" id="{383F97E4-7BEF-A813-685D-66ADB8B47920}"/>
              </a:ext>
            </a:extLst>
          </p:cNvPr>
          <p:cNvSpPr txBox="1"/>
          <p:nvPr/>
        </p:nvSpPr>
        <p:spPr>
          <a:xfrm>
            <a:off x="505026" y="682702"/>
            <a:ext cx="1102112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sz="1200">
                <a:solidFill>
                  <a:srgbClr val="000000"/>
                </a:solidFill>
                <a:latin typeface="맑은 고딕"/>
                <a:ea typeface="맑은 고딕"/>
                <a:cs typeface="+mn-lt"/>
              </a:rPr>
              <a:t>4개 기관 · 7개 API를 결합해 공공수요·인구·경쟁·생존율을 분석했습니다.</a:t>
            </a:r>
            <a:endParaRPr lang="ko-KR" sz="1200">
              <a:ea typeface="맑은 고딕"/>
              <a:cs typeface="Calibri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D970111-8484-F408-6FE9-CB4AA5FD1392}"/>
              </a:ext>
            </a:extLst>
          </p:cNvPr>
          <p:cNvSpPr txBox="1"/>
          <p:nvPr/>
        </p:nvSpPr>
        <p:spPr>
          <a:xfrm>
            <a:off x="1329380" y="6057779"/>
            <a:ext cx="9530434" cy="6607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>
                <a:solidFill>
                  <a:srgbClr val="000000"/>
                </a:solidFill>
                <a:latin typeface="맑은 고딕"/>
                <a:ea typeface="맑은 고딕"/>
                <a:cs typeface="+mn-lt"/>
              </a:rPr>
              <a:t>※ 주요 출처: 공공데이터포털(data.go.kr) · 조달데이터허브(data.g2b.go.kr) · KOSIS(kosis.kr)</a:t>
            </a:r>
            <a:endParaRPr lang="ko-KR" altLang="en-US">
              <a:solidFill>
                <a:srgbClr val="000000"/>
              </a:solidFill>
              <a:latin typeface="Calibri"/>
              <a:ea typeface="맑은 고딕" panose="020B0503020000020004" pitchFamily="34" charset="-127"/>
              <a:cs typeface="+mn-lt"/>
            </a:endParaRPr>
          </a:p>
          <a:p>
            <a:r>
              <a:rPr lang="ko-KR">
                <a:solidFill>
                  <a:srgbClr val="000000"/>
                </a:solidFill>
                <a:latin typeface="맑은 고딕"/>
                <a:ea typeface="맑은 고딕"/>
                <a:cs typeface="+mn-lt"/>
              </a:rPr>
              <a:t>※ 실제 API 엔드포인트는 수집 코드 기준으로 관리</a:t>
            </a:r>
            <a:endParaRPr lang="ko-KR">
              <a:ea typeface="맑은 고딕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942805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5005B3-7596-656F-994D-5DACC9D6B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27E4C0-C08A-ED69-90DB-79B2489FDC57}"/>
              </a:ext>
            </a:extLst>
          </p:cNvPr>
          <p:cNvSpPr/>
          <p:nvPr/>
        </p:nvSpPr>
        <p:spPr>
          <a:xfrm>
            <a:off x="9293" y="0"/>
            <a:ext cx="12191695" cy="6858000"/>
          </a:xfrm>
          <a:prstGeom prst="rect">
            <a:avLst/>
          </a:prstGeom>
          <a:solidFill>
            <a:srgbClr val="F0F7FF"/>
          </a:solidFill>
          <a:ln>
            <a:solidFill>
              <a:srgbClr val="F0F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42D851A-2471-F8FB-98E9-7628690E8439}"/>
              </a:ext>
            </a:extLst>
          </p:cNvPr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C45B8D-BC32-5C58-0D90-7774ADBB2BE1}"/>
              </a:ext>
            </a:extLst>
          </p:cNvPr>
          <p:cNvSpPr txBox="1"/>
          <p:nvPr/>
        </p:nvSpPr>
        <p:spPr>
          <a:xfrm>
            <a:off x="685800" y="713232"/>
            <a:ext cx="10789920" cy="38404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1">
                <a:solidFill>
                  <a:srgbClr val="1D4ED8"/>
                </a:solidFill>
                <a:latin typeface="Malgun Gothic"/>
              </a:rPr>
              <a:t>2026 공공조달데이터·AI 활용 창업경진대회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8BC9DE-A93D-4101-2E78-8A1004CE460E}"/>
              </a:ext>
            </a:extLst>
          </p:cNvPr>
          <p:cNvSpPr txBox="1"/>
          <p:nvPr/>
        </p:nvSpPr>
        <p:spPr>
          <a:xfrm>
            <a:off x="1447799" y="3424540"/>
            <a:ext cx="3809630" cy="7940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400" b="1">
                <a:solidFill>
                  <a:srgbClr val="0F2340"/>
                </a:solidFill>
                <a:latin typeface="Malgun Gothic"/>
              </a:rPr>
              <a:t>공공조달</a:t>
            </a:r>
            <a:r>
              <a:rPr sz="24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400" b="1">
                <a:solidFill>
                  <a:srgbClr val="0F2340"/>
                </a:solidFill>
                <a:latin typeface="Malgun Gothic"/>
              </a:rPr>
              <a:t>수요</a:t>
            </a:r>
            <a:r>
              <a:rPr sz="24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400" b="1">
                <a:solidFill>
                  <a:srgbClr val="0F2340"/>
                </a:solidFill>
                <a:latin typeface="Malgun Gothic"/>
              </a:rPr>
              <a:t>기반</a:t>
            </a:r>
            <a:br>
              <a:rPr sz="1100" dirty="0"/>
            </a:br>
            <a:r>
              <a:rPr sz="2400" b="1">
                <a:solidFill>
                  <a:srgbClr val="0F2340"/>
                </a:solidFill>
                <a:latin typeface="Malgun Gothic"/>
              </a:rPr>
              <a:t>창업</a:t>
            </a:r>
            <a:r>
              <a:rPr sz="24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400" b="1">
                <a:solidFill>
                  <a:srgbClr val="0F2340"/>
                </a:solidFill>
                <a:latin typeface="Malgun Gothic"/>
              </a:rPr>
              <a:t>입지·물류</a:t>
            </a:r>
            <a:r>
              <a:rPr sz="24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400" b="1">
                <a:solidFill>
                  <a:srgbClr val="0F2340"/>
                </a:solidFill>
                <a:latin typeface="Malgun Gothic"/>
              </a:rPr>
              <a:t>거점</a:t>
            </a:r>
            <a:r>
              <a:rPr sz="2400" b="1" dirty="0">
                <a:solidFill>
                  <a:srgbClr val="0F2340"/>
                </a:solidFill>
                <a:latin typeface="Malgun Gothic"/>
              </a:rPr>
              <a:t> </a:t>
            </a:r>
            <a:r>
              <a:rPr sz="2400" b="1">
                <a:solidFill>
                  <a:srgbClr val="0F2340"/>
                </a:solidFill>
                <a:latin typeface="Malgun Gothic"/>
              </a:rPr>
              <a:t>분석</a:t>
            </a:r>
            <a:endParaRPr lang="ko-KR" altLang="en-US" sz="2800" b="1">
              <a:solidFill>
                <a:srgbClr val="0F2340"/>
              </a:solidFill>
              <a:latin typeface="Malgun Gothic"/>
              <a:ea typeface="Malgun 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CCEEDE-5EFB-9489-F756-12D336763018}"/>
              </a:ext>
            </a:extLst>
          </p:cNvPr>
          <p:cNvSpPr txBox="1"/>
          <p:nvPr/>
        </p:nvSpPr>
        <p:spPr>
          <a:xfrm>
            <a:off x="1159281" y="1636627"/>
            <a:ext cx="9875520" cy="107106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ko-KR" altLang="en-US" sz="6600" b="1">
                <a:solidFill>
                  <a:srgbClr val="0F172A"/>
                </a:solidFill>
                <a:latin typeface="Malgun Gothic"/>
                <a:ea typeface="Malgun Gothic"/>
              </a:rPr>
              <a:t>감사합니다.</a:t>
            </a:r>
            <a:endParaRPr lang="ko-KR" sz="6600">
              <a:ea typeface="맑은 고딕"/>
              <a:cs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22964C-D164-0E77-CBC9-99EAC5BE7BA1}"/>
              </a:ext>
            </a:extLst>
          </p:cNvPr>
          <p:cNvSpPr txBox="1"/>
          <p:nvPr/>
        </p:nvSpPr>
        <p:spPr>
          <a:xfrm>
            <a:off x="685800" y="5989320"/>
            <a:ext cx="45720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300" b="1">
                <a:solidFill>
                  <a:srgbClr val="0F2340"/>
                </a:solidFill>
                <a:latin typeface="Malgun Gothic"/>
              </a:rPr>
              <a:t>발표자  모세종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0CA912-CAB4-8F79-3149-5D161F90F48E}"/>
              </a:ext>
            </a:extLst>
          </p:cNvPr>
          <p:cNvSpPr txBox="1"/>
          <p:nvPr/>
        </p:nvSpPr>
        <p:spPr>
          <a:xfrm>
            <a:off x="8229600" y="5989320"/>
            <a:ext cx="3291840" cy="24006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0" dirty="0" err="1">
                <a:solidFill>
                  <a:srgbClr val="64748B"/>
                </a:solidFill>
                <a:latin typeface="Malgun Gothic"/>
              </a:rPr>
              <a:t>발표</a:t>
            </a:r>
            <a:r>
              <a:rPr sz="1200" b="0" dirty="0">
                <a:solidFill>
                  <a:srgbClr val="64748B"/>
                </a:solidFill>
                <a:latin typeface="Malgun Gothic"/>
              </a:rPr>
              <a:t> </a:t>
            </a:r>
            <a:r>
              <a:rPr lang="en-US" sz="1200" dirty="0">
                <a:solidFill>
                  <a:srgbClr val="64748B"/>
                </a:solidFill>
                <a:latin typeface="Malgun Gothic"/>
              </a:rPr>
              <a:t>5</a:t>
            </a:r>
            <a:r>
              <a:rPr sz="1200" b="0" dirty="0">
                <a:solidFill>
                  <a:srgbClr val="64748B"/>
                </a:solidFill>
                <a:latin typeface="Malgun Gothic"/>
              </a:rPr>
              <a:t>분 + Q&amp;A 5분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54BD7E-15CD-F065-236B-1F39F6311B20}"/>
              </a:ext>
            </a:extLst>
          </p:cNvPr>
          <p:cNvSpPr txBox="1"/>
          <p:nvPr/>
        </p:nvSpPr>
        <p:spPr>
          <a:xfrm>
            <a:off x="1273561" y="6344113"/>
            <a:ext cx="5322848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ko-KR" sz="1400" dirty="0">
                <a:ea typeface="+mn-lt"/>
                <a:cs typeface="+mn-lt"/>
              </a:rPr>
              <a:t>https://github.com/mosejong/procurement-logistics-ai</a:t>
            </a:r>
            <a:endParaRPr lang="ko-KR" sz="1400">
              <a:ea typeface="맑은 고딕"/>
              <a:cs typeface="Calibri"/>
            </a:endParaRPr>
          </a:p>
        </p:txBody>
      </p:sp>
      <p:pic>
        <p:nvPicPr>
          <p:cNvPr id="19" name="그림 18" descr="패턴, 사각형, 그래픽, 픽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DCB6D27-99B8-5A8D-34C1-E993C7F87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4317" y="3317488"/>
            <a:ext cx="2518318" cy="2518318"/>
          </a:xfrm>
          <a:prstGeom prst="rect">
            <a:avLst/>
          </a:prstGeom>
        </p:spPr>
      </p:pic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C4BCFE37-F8B1-7C7C-7855-A4C80A8B65B3}"/>
              </a:ext>
            </a:extLst>
          </p:cNvPr>
          <p:cNvSpPr/>
          <p:nvPr/>
        </p:nvSpPr>
        <p:spPr>
          <a:xfrm>
            <a:off x="5829820" y="3818587"/>
            <a:ext cx="2725433" cy="1664802"/>
          </a:xfrm>
          <a:prstGeom prst="rightArrow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3C3164-68E5-CDA8-B186-EB7CAB3AD792}"/>
              </a:ext>
            </a:extLst>
          </p:cNvPr>
          <p:cNvSpPr txBox="1"/>
          <p:nvPr/>
        </p:nvSpPr>
        <p:spPr>
          <a:xfrm>
            <a:off x="6099948" y="4233513"/>
            <a:ext cx="2157064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400" b="1">
                <a:ea typeface="맑은 고딕"/>
                <a:cs typeface="Calibri"/>
              </a:rPr>
              <a:t>라이브 데모</a:t>
            </a:r>
            <a:endParaRPr lang="ko-KR" sz="2400" b="1">
              <a:ea typeface="맑은 고딕"/>
              <a:cs typeface="Calibri"/>
            </a:endParaRPr>
          </a:p>
          <a:p>
            <a:r>
              <a:rPr lang="ko-KR" altLang="en-US" sz="2400" b="1">
                <a:ea typeface="맑은 고딕"/>
                <a:cs typeface="Calibri"/>
              </a:rPr>
              <a:t>바로가기</a:t>
            </a:r>
            <a:endParaRPr lang="ko-KR" altLang="en-US" b="1" dirty="0">
              <a:ea typeface="맑은 고딕"/>
              <a:cs typeface="Calibri"/>
            </a:endParaRPr>
          </a:p>
        </p:txBody>
      </p:sp>
      <p:pic>
        <p:nvPicPr>
          <p:cNvPr id="22" name="그림 21" descr="로고, 텍스트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D014788-0B9D-E926-C005-363147A0AD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545" t="17087" r="26515" b="16667"/>
          <a:stretch>
            <a:fillRect/>
          </a:stretch>
        </p:blipFill>
        <p:spPr>
          <a:xfrm>
            <a:off x="688202" y="6257021"/>
            <a:ext cx="542584" cy="480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065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983D2A0-913A-443A-9CF6-9609FB9E9D1D}">
  <we:reference id="wa200005669" version="2.0.0.0" store="en-US" storeType="omex"/>
  <we:alternateReferences>
    <we:reference id="wa200005669" version="2.0.0.0" store="omex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와이드스크린</PresentationFormat>
  <Paragraphs>0</Paragraphs>
  <Slides>12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3" baseType="lpstr"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1062</cp:revision>
  <dcterms:created xsi:type="dcterms:W3CDTF">2013-01-27T09:14:16Z</dcterms:created>
  <dcterms:modified xsi:type="dcterms:W3CDTF">2026-05-19T06:42:12Z</dcterms:modified>
  <cp:category/>
</cp:coreProperties>
</file>